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3f86351-ab4e-c487-e12a-5d13356f8c1c}">
          <p14:sldIdLst>
            <p14:sldId id="256"/>
            <p14:sldId id="257"/>
          </p14:sldIdLst>
        </p14:section>
        <p14:section name="Representing the data" id="{3b596634-4298-df27-75b5-9a350ca20408}">
          <p14:sldIdLst>
            <p14:sldId id="258"/>
            <p14:sldId id="259"/>
          </p14:sldIdLst>
        </p14:section>
        <p14:section name="Structure of the data" id="{b560c62b-b688-d344-31cc-ca09b3e3c88f}">
          <p14:sldIdLst>
            <p14:sldId id="260"/>
            <p14:sldId id="261"/>
          </p14:sldIdLst>
        </p14:section>
        <p14:section name="Finding patterns" id="{30ccbbae-eaa7-6a21-8139-5f5364a0c16c}">
          <p14:sldIdLst>
            <p14:sldId id="262"/>
            <p14:sldId id="263"/>
            <p14:sldId id="264"/>
          </p14:sldIdLst>
        </p14:section>
        <p14:section name="Compression and recognition" id="{2dd058c1-ff23-2ae9-3651-2e7d02543978}">
          <p14:sldIdLst>
            <p14:sldId id="265"/>
            <p14:sldId id="266"/>
            <p14:sldId id="267"/>
          </p14:sldIdLst>
        </p14:section>
        <p14:section name="Comparison and summary" id="{f4ddb981-7cbb-197d-947f-6c99ce5e16f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every math idea used in our eigenfaces project, in simple words, in the same order as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whole project in one line: we turn face photos into a matrix, find the main face patterns with eigenvectors, compress every face by projection, and recognise people by finding the closest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data matrix. Purpose: once faces are vectors, we can use linear algebra on them. Outcome: a 320 × 4096 training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mean and centering. Purpose: we care about how faces differ, not what they share. Outcome: the average face and the centered matrix Xc.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rank. Purpose: check how much real information is in the data. Outcome: rank is far below 4096, so the data is redundant and can be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covariance. Purpose: capture how pixels vary together across all faces. Outcome: a 4096 × 4096 symmetric matrix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eigenvectors. Purpose: find the directions where faces differ the most. Outcome: sorted eigenvalues and eigenvectors of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diagonalization. Purpose: rewrite C in its simplest form using orthogonal eigenvectors. Outcome: C = PDP-transpose verified, with P orthogonal.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PCA. Purpose: keep only the important patterns. Outcome: the top 50 eigenfaces.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projection. Purpose: compress each face onto the eigenface subspace. Outcome: 50 numbers per face and rebuilt faces that still look like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norm and distance. Purpose: compare faces in the compressed space. Outcome: the nearest training face gives the predicted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least squares. Purpose: a second, model-based way to recognise faces. Outcome: a best-fit linear classifier and its test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CNN: filters are dot products, ReLU adds non-linearity, and it learns its own filters during training. Then steer back to the linear algebra.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D23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The Math Behind Our Project</a:t>
            </a: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lIns="0" tIns="0" rIns="0" bIns="0" rtlCol="0" anchor="t"/>
          <a:lstStyle/>
          <a:p>
            <a:pPr indent="0" marL="0">
              <a:buNone/>
            </a:pPr>
            <a:r>
              <a:rPr lang="en-US" sz="1800" dirty="0">
                <a:solidFill>
                  <a:schemeClr val="accent4"/>
                </a:solidFill>
              </a:rPr>
              <a:t>Face Recognition using Projections, Eigenvectors and PCA (Eigenfaces)</a:t>
            </a:r>
            <a:endParaRPr lang="en-US" sz="1800" dirty="0"/>
          </a:p>
          <a:p>
            <a:pPr indent="0" marL="0">
              <a:buNone/>
            </a:pPr>
            <a:r>
              <a:rPr lang="en-US" sz="1300" dirty="0">
                <a:solidFill>
                  <a:schemeClr val="accent1"/>
                </a:solidFill>
              </a:rPr>
              <a:t>Problem Statement 11  ·  UE25MA242A Mathematical Foundation for AI &amp; Data Science</a:t>
            </a:r>
            <a:endParaRPr lang="en-US" sz="1800" dirty="0"/>
          </a:p>
        </p:txBody>
      </p:sp>
      <p:sp>
        <p:nvSpPr>
          <p:cNvPr id="4" name="Shape 2"/>
          <p:cNvSpPr/>
          <p:nvPr/>
        </p:nvSpPr>
        <p:spPr>
          <a:xfrm flipV="1">
            <a:off x="6949440" y="411480"/>
            <a:ext cx="1371600" cy="731520"/>
          </a:xfrm>
          <a:prstGeom prst="line">
            <a:avLst/>
          </a:prstGeom>
          <a:noFill/>
          <a:ln w="38100">
            <a:solidFill>
              <a:srgbClr val="E8833A"/>
            </a:solidFill>
            <a:prstDash val="solid"/>
            <a:tailEnd type="triangle"/>
          </a:ln>
        </p:spPr>
      </p:sp>
      <p:sp>
        <p:nvSpPr>
          <p:cNvPr id="5" name="Shape 3"/>
          <p:cNvSpPr/>
          <p:nvPr/>
        </p:nvSpPr>
        <p:spPr>
          <a:xfrm flipV="1">
            <a:off x="6949440" y="365760"/>
            <a:ext cx="365760" cy="777240"/>
          </a:xfrm>
          <a:prstGeom prst="line">
            <a:avLst/>
          </a:prstGeom>
          <a:noFill/>
          <a:ln w="38100">
            <a:solidFill>
              <a:srgbClr val="2F7F86"/>
            </a:solidFill>
            <a:prstDash val="solid"/>
            <a:tailEnd type="triangle"/>
          </a:ln>
        </p:spPr>
      </p:sp>
      <p:sp>
        <p:nvSpPr>
          <p:cNvPr id="6" name="Shape 4"/>
          <p:cNvSpPr/>
          <p:nvPr/>
        </p:nvSpPr>
        <p:spPr>
          <a:xfrm>
            <a:off x="6876288" y="1069848"/>
            <a:ext cx="146304" cy="146304"/>
          </a:xfrm>
          <a:prstGeom prst="ellipse">
            <a:avLst/>
          </a:prstGeom>
          <a:solidFill>
            <a:schemeClr val="bg1"/>
          </a:solidFill>
          <a:ln w="12700">
            <a:solidFill>
              <a:schemeClr val="bg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big picture: 10 ideas, one pipeline</a:t>
            </a:r>
            <a:endParaRPr lang="en-US" sz="2600" dirty="0"/>
          </a:p>
        </p:txBody>
      </p:sp>
      <p:sp>
        <p:nvSpPr>
          <p:cNvPr id="3" name="Text 1"/>
          <p:cNvSpPr txBox="1"/>
          <p:nvPr/>
        </p:nvSpPr>
        <p:spPr>
          <a:xfrm>
            <a:off x="1097280" y="868680"/>
            <a:ext cx="7589520" cy="274320"/>
          </a:xfrm>
          <a:prstGeom prst="rect">
            <a:avLst/>
          </a:prstGeom>
          <a:noFill/>
          <a:ln/>
        </p:spPr>
        <p:txBody>
          <a:bodyPr wrap="square" lIns="0" tIns="0" rIns="0" bIns="0" rtlCol="0" anchor="ctr"/>
          <a:lstStyle/>
          <a:p>
            <a:pPr indent="0" marL="0">
              <a:buNone/>
            </a:pPr>
            <a:r>
              <a:rPr lang="en-US" sz="1200" i="1" dirty="0">
                <a:solidFill>
                  <a:srgbClr val="5A6075"/>
                </a:solidFill>
              </a:rPr>
              <a:t>Every step prepares the data for the next one. Each idea gets its own slide.</a:t>
            </a:r>
            <a:endParaRPr lang="en-US" sz="1200" dirty="0"/>
          </a:p>
        </p:txBody>
      </p:sp>
      <p:sp>
        <p:nvSpPr>
          <p:cNvPr id="4" name="step-1"/>
          <p:cNvSpPr/>
          <p:nvPr/>
        </p:nvSpPr>
        <p:spPr>
          <a:xfrm>
            <a:off x="457200" y="1417320"/>
            <a:ext cx="1463040" cy="1325880"/>
          </a:xfrm>
          <a:prstGeom prst="roundRect">
            <a:avLst>
              <a:gd name="adj" fmla="val 6897"/>
            </a:avLst>
          </a:prstGeom>
          <a:solidFill>
            <a:schemeClr val="bg2"/>
          </a:solidFill>
          <a:ln w="12700">
            <a:solidFill>
              <a:schemeClr val="bg2"/>
            </a:solidFill>
            <a:prstDash val="solid"/>
          </a:ln>
          <a:effectLst>
            <a:outerShdw sx="100000" sy="100000" kx="0" ky="0" algn="bl" rotWithShape="0" blurRad="76200" dist="25400" dir="5400000">
              <a:srgbClr val="8A90A6">
                <a:alpha val="25000"/>
              </a:srgbClr>
            </a:outerShdw>
          </a:effectLst>
        </p:spPr>
      </p:sp>
      <p:sp>
        <p:nvSpPr>
          <p:cNvPr id="5" name="Shape 3"/>
          <p:cNvSpPr/>
          <p:nvPr/>
        </p:nvSpPr>
        <p:spPr>
          <a:xfrm>
            <a:off x="594360" y="15544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59436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594360" y="201168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Data matrix</a:t>
            </a:r>
            <a:endParaRPr lang="en-US" sz="1300" dirty="0"/>
          </a:p>
        </p:txBody>
      </p:sp>
      <p:sp>
        <p:nvSpPr>
          <p:cNvPr id="8" name="Text 6"/>
          <p:cNvSpPr txBox="1"/>
          <p:nvPr/>
        </p:nvSpPr>
        <p:spPr>
          <a:xfrm>
            <a:off x="594360" y="2304288"/>
            <a:ext cx="1188720" cy="365760"/>
          </a:xfrm>
          <a:prstGeom prst="rect">
            <a:avLst/>
          </a:prstGeom>
          <a:noFill/>
          <a:ln/>
        </p:spPr>
        <p:txBody>
          <a:bodyPr wrap="square" lIns="0" tIns="0" rIns="0" bIns="0" rtlCol="0" anchor="t"/>
          <a:lstStyle/>
          <a:p>
            <a:pPr indent="0" marL="0">
              <a:buNone/>
            </a:pPr>
            <a:r>
              <a:rPr lang="en-US" sz="1050" dirty="0">
                <a:solidFill>
                  <a:srgbClr val="5A6075"/>
                </a:solidFill>
              </a:rPr>
              <a:t>photos become numbers</a:t>
            </a:r>
            <a:endParaRPr lang="en-US" sz="1050" dirty="0"/>
          </a:p>
        </p:txBody>
      </p:sp>
      <p:sp>
        <p:nvSpPr>
          <p:cNvPr id="9" name="Shape 7"/>
          <p:cNvSpPr/>
          <p:nvPr/>
        </p:nvSpPr>
        <p:spPr>
          <a:xfrm>
            <a:off x="1938528" y="2075688"/>
            <a:ext cx="146304" cy="914"/>
          </a:xfrm>
          <a:prstGeom prst="line">
            <a:avLst/>
          </a:prstGeom>
          <a:noFill/>
          <a:ln w="19050">
            <a:solidFill>
              <a:srgbClr val="C9D1E3"/>
            </a:solidFill>
            <a:prstDash val="solid"/>
            <a:tailEnd type="triangle"/>
          </a:ln>
        </p:spPr>
      </p:sp>
      <p:sp>
        <p:nvSpPr>
          <p:cNvPr id="10" name="step-2"/>
          <p:cNvSpPr/>
          <p:nvPr/>
        </p:nvSpPr>
        <p:spPr>
          <a:xfrm>
            <a:off x="2103120" y="1417320"/>
            <a:ext cx="1463040" cy="1325880"/>
          </a:xfrm>
          <a:prstGeom prst="roundRect">
            <a:avLst>
              <a:gd name="adj" fmla="val 6897"/>
            </a:avLst>
          </a:prstGeom>
          <a:solidFill>
            <a:schemeClr val="bg2"/>
          </a:solidFill>
          <a:ln w="12700">
            <a:solidFill>
              <a:schemeClr val="bg2"/>
            </a:solidFill>
            <a:prstDash val="solid"/>
          </a:ln>
          <a:effectLst>
            <a:outerShdw sx="100000" sy="100000" kx="0" ky="0" algn="bl" rotWithShape="0" blurRad="76200" dist="25400" dir="5400000">
              <a:srgbClr val="8A90A6">
                <a:alpha val="25000"/>
              </a:srgbClr>
            </a:outerShdw>
          </a:effectLst>
        </p:spPr>
      </p:sp>
      <p:sp>
        <p:nvSpPr>
          <p:cNvPr id="11" name="Shape 9"/>
          <p:cNvSpPr/>
          <p:nvPr/>
        </p:nvSpPr>
        <p:spPr>
          <a:xfrm>
            <a:off x="2240280" y="1554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224028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2240280" y="201168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Centering</a:t>
            </a:r>
            <a:endParaRPr lang="en-US" sz="1300" dirty="0"/>
          </a:p>
        </p:txBody>
      </p:sp>
      <p:sp>
        <p:nvSpPr>
          <p:cNvPr id="14" name="Text 12"/>
          <p:cNvSpPr txBox="1"/>
          <p:nvPr/>
        </p:nvSpPr>
        <p:spPr>
          <a:xfrm>
            <a:off x="2240280" y="2304288"/>
            <a:ext cx="1188720" cy="365760"/>
          </a:xfrm>
          <a:prstGeom prst="rect">
            <a:avLst/>
          </a:prstGeom>
          <a:noFill/>
          <a:ln/>
        </p:spPr>
        <p:txBody>
          <a:bodyPr wrap="square" lIns="0" tIns="0" rIns="0" bIns="0" rtlCol="0" anchor="t"/>
          <a:lstStyle/>
          <a:p>
            <a:pPr indent="0" marL="0">
              <a:buNone/>
            </a:pPr>
            <a:r>
              <a:rPr lang="en-US" sz="1050" dirty="0">
                <a:solidFill>
                  <a:srgbClr val="5A6075"/>
                </a:solidFill>
              </a:rPr>
              <a:t>find the average face</a:t>
            </a:r>
            <a:endParaRPr lang="en-US" sz="1050" dirty="0"/>
          </a:p>
        </p:txBody>
      </p:sp>
      <p:sp>
        <p:nvSpPr>
          <p:cNvPr id="15" name="Shape 13"/>
          <p:cNvSpPr/>
          <p:nvPr/>
        </p:nvSpPr>
        <p:spPr>
          <a:xfrm>
            <a:off x="3584448" y="2075688"/>
            <a:ext cx="146304" cy="914"/>
          </a:xfrm>
          <a:prstGeom prst="line">
            <a:avLst/>
          </a:prstGeom>
          <a:noFill/>
          <a:ln w="19050">
            <a:solidFill>
              <a:srgbClr val="C9D1E3"/>
            </a:solidFill>
            <a:prstDash val="solid"/>
            <a:tailEnd type="triangle"/>
          </a:ln>
        </p:spPr>
      </p:sp>
      <p:sp>
        <p:nvSpPr>
          <p:cNvPr id="16" name="step-3"/>
          <p:cNvSpPr/>
          <p:nvPr/>
        </p:nvSpPr>
        <p:spPr>
          <a:xfrm>
            <a:off x="3749040" y="1417320"/>
            <a:ext cx="1463040" cy="1325880"/>
          </a:xfrm>
          <a:prstGeom prst="roundRect">
            <a:avLst>
              <a:gd name="adj" fmla="val 6897"/>
            </a:avLst>
          </a:prstGeom>
          <a:solidFill>
            <a:schemeClr val="bg2"/>
          </a:solidFill>
          <a:ln w="12700">
            <a:solidFill>
              <a:schemeClr val="bg2"/>
            </a:solidFill>
            <a:prstDash val="solid"/>
          </a:ln>
          <a:effectLst>
            <a:outerShdw sx="100000" sy="100000" kx="0" ky="0" algn="bl" rotWithShape="0" blurRad="76200" dist="25400" dir="5400000">
              <a:srgbClr val="8A90A6">
                <a:alpha val="25000"/>
              </a:srgbClr>
            </a:outerShdw>
          </a:effectLst>
        </p:spPr>
      </p:sp>
      <p:sp>
        <p:nvSpPr>
          <p:cNvPr id="17" name="Shape 15"/>
          <p:cNvSpPr/>
          <p:nvPr/>
        </p:nvSpPr>
        <p:spPr>
          <a:xfrm>
            <a:off x="3886200" y="155448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388620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3886200" y="201168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Rank</a:t>
            </a:r>
            <a:endParaRPr lang="en-US" sz="1300" dirty="0"/>
          </a:p>
        </p:txBody>
      </p:sp>
      <p:sp>
        <p:nvSpPr>
          <p:cNvPr id="20" name="Text 18"/>
          <p:cNvSpPr txBox="1"/>
          <p:nvPr/>
        </p:nvSpPr>
        <p:spPr>
          <a:xfrm>
            <a:off x="3886200" y="2304288"/>
            <a:ext cx="1188720" cy="365760"/>
          </a:xfrm>
          <a:prstGeom prst="rect">
            <a:avLst/>
          </a:prstGeom>
          <a:noFill/>
          <a:ln/>
        </p:spPr>
        <p:txBody>
          <a:bodyPr wrap="square" lIns="0" tIns="0" rIns="0" bIns="0" rtlCol="0" anchor="t"/>
          <a:lstStyle/>
          <a:p>
            <a:pPr indent="0" marL="0">
              <a:buNone/>
            </a:pPr>
            <a:r>
              <a:rPr lang="en-US" sz="1050" dirty="0">
                <a:solidFill>
                  <a:srgbClr val="5A6075"/>
                </a:solidFill>
              </a:rPr>
              <a:t>spot repeated information</a:t>
            </a:r>
            <a:endParaRPr lang="en-US" sz="1050" dirty="0"/>
          </a:p>
        </p:txBody>
      </p:sp>
      <p:sp>
        <p:nvSpPr>
          <p:cNvPr id="21" name="Shape 19"/>
          <p:cNvSpPr/>
          <p:nvPr/>
        </p:nvSpPr>
        <p:spPr>
          <a:xfrm>
            <a:off x="5230368" y="2075688"/>
            <a:ext cx="146304" cy="914"/>
          </a:xfrm>
          <a:prstGeom prst="line">
            <a:avLst/>
          </a:prstGeom>
          <a:noFill/>
          <a:ln w="19050">
            <a:solidFill>
              <a:srgbClr val="C9D1E3"/>
            </a:solidFill>
            <a:prstDash val="solid"/>
            <a:tailEnd type="triangle"/>
          </a:ln>
        </p:spPr>
      </p:sp>
      <p:sp>
        <p:nvSpPr>
          <p:cNvPr id="22" name="step-4"/>
          <p:cNvSpPr/>
          <p:nvPr/>
        </p:nvSpPr>
        <p:spPr>
          <a:xfrm>
            <a:off x="5394960" y="1417320"/>
            <a:ext cx="1463040" cy="1325880"/>
          </a:xfrm>
          <a:prstGeom prst="roundRect">
            <a:avLst>
              <a:gd name="adj" fmla="val 6897"/>
            </a:avLst>
          </a:prstGeom>
          <a:solidFill>
            <a:schemeClr val="bg2"/>
          </a:solidFill>
          <a:ln w="12700">
            <a:solidFill>
              <a:schemeClr val="bg2"/>
            </a:solidFill>
            <a:prstDash val="solid"/>
          </a:ln>
          <a:effectLst>
            <a:outerShdw sx="100000" sy="100000" kx="0" ky="0" algn="bl" rotWithShape="0" blurRad="76200" dist="25400" dir="5400000">
              <a:srgbClr val="8A90A6">
                <a:alpha val="25000"/>
              </a:srgbClr>
            </a:outerShdw>
          </a:effectLst>
        </p:spPr>
      </p:sp>
      <p:sp>
        <p:nvSpPr>
          <p:cNvPr id="23" name="Shape 21"/>
          <p:cNvSpPr/>
          <p:nvPr/>
        </p:nvSpPr>
        <p:spPr>
          <a:xfrm>
            <a:off x="5532120" y="1554480"/>
            <a:ext cx="384048" cy="384048"/>
          </a:xfrm>
          <a:prstGeom prst="ellipse">
            <a:avLst/>
          </a:prstGeom>
          <a:solidFill>
            <a:schemeClr val="accent1"/>
          </a:solidFill>
          <a:ln w="12700">
            <a:solidFill>
              <a:schemeClr val="accent1"/>
            </a:solidFill>
            <a:prstDash val="solid"/>
          </a:ln>
        </p:spPr>
      </p:sp>
      <p:sp>
        <p:nvSpPr>
          <p:cNvPr id="24" name="Text 22"/>
          <p:cNvSpPr txBox="1"/>
          <p:nvPr/>
        </p:nvSpPr>
        <p:spPr>
          <a:xfrm>
            <a:off x="553212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4</a:t>
            </a:r>
            <a:endParaRPr lang="en-US" sz="1400" dirty="0"/>
          </a:p>
        </p:txBody>
      </p:sp>
      <p:sp>
        <p:nvSpPr>
          <p:cNvPr id="25" name="Text 23"/>
          <p:cNvSpPr txBox="1"/>
          <p:nvPr/>
        </p:nvSpPr>
        <p:spPr>
          <a:xfrm>
            <a:off x="5532120" y="201168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Covariance</a:t>
            </a:r>
            <a:endParaRPr lang="en-US" sz="1300" dirty="0"/>
          </a:p>
        </p:txBody>
      </p:sp>
      <p:sp>
        <p:nvSpPr>
          <p:cNvPr id="26" name="Text 24"/>
          <p:cNvSpPr txBox="1"/>
          <p:nvPr/>
        </p:nvSpPr>
        <p:spPr>
          <a:xfrm>
            <a:off x="5532120" y="2304288"/>
            <a:ext cx="1188720" cy="365760"/>
          </a:xfrm>
          <a:prstGeom prst="rect">
            <a:avLst/>
          </a:prstGeom>
          <a:noFill/>
          <a:ln/>
        </p:spPr>
        <p:txBody>
          <a:bodyPr wrap="square" lIns="0" tIns="0" rIns="0" bIns="0" rtlCol="0" anchor="t"/>
          <a:lstStyle/>
          <a:p>
            <a:pPr indent="0" marL="0">
              <a:buNone/>
            </a:pPr>
            <a:r>
              <a:rPr lang="en-US" sz="1050" dirty="0">
                <a:solidFill>
                  <a:srgbClr val="5A6075"/>
                </a:solidFill>
              </a:rPr>
              <a:t>which pixels change together</a:t>
            </a:r>
            <a:endParaRPr lang="en-US" sz="1050" dirty="0"/>
          </a:p>
        </p:txBody>
      </p:sp>
      <p:sp>
        <p:nvSpPr>
          <p:cNvPr id="27" name="Shape 25"/>
          <p:cNvSpPr/>
          <p:nvPr/>
        </p:nvSpPr>
        <p:spPr>
          <a:xfrm>
            <a:off x="6876288" y="2075688"/>
            <a:ext cx="146304" cy="914"/>
          </a:xfrm>
          <a:prstGeom prst="line">
            <a:avLst/>
          </a:prstGeom>
          <a:noFill/>
          <a:ln w="19050">
            <a:solidFill>
              <a:srgbClr val="C9D1E3"/>
            </a:solidFill>
            <a:prstDash val="solid"/>
            <a:tailEnd type="triangle"/>
          </a:ln>
        </p:spPr>
      </p:sp>
      <p:sp>
        <p:nvSpPr>
          <p:cNvPr id="28" name="step-5"/>
          <p:cNvSpPr/>
          <p:nvPr/>
        </p:nvSpPr>
        <p:spPr>
          <a:xfrm>
            <a:off x="7040880" y="1417320"/>
            <a:ext cx="1463040" cy="1325880"/>
          </a:xfrm>
          <a:prstGeom prst="roundRect">
            <a:avLst>
              <a:gd name="adj" fmla="val 6897"/>
            </a:avLst>
          </a:prstGeom>
          <a:solidFill>
            <a:schemeClr val="bg2"/>
          </a:solidFill>
          <a:ln w="12700">
            <a:solidFill>
              <a:schemeClr val="bg2"/>
            </a:solidFill>
            <a:prstDash val="solid"/>
          </a:ln>
          <a:effectLst>
            <a:outerShdw sx="100000" sy="100000" kx="0" ky="0" algn="bl" rotWithShape="0" blurRad="76200" dist="25400" dir="5400000">
              <a:srgbClr val="8A90A6">
                <a:alpha val="25000"/>
              </a:srgbClr>
            </a:outerShdw>
          </a:effectLst>
        </p:spPr>
      </p:sp>
      <p:sp>
        <p:nvSpPr>
          <p:cNvPr id="29" name="Shape 27"/>
          <p:cNvSpPr/>
          <p:nvPr/>
        </p:nvSpPr>
        <p:spPr>
          <a:xfrm>
            <a:off x="7178040" y="1554480"/>
            <a:ext cx="384048" cy="384048"/>
          </a:xfrm>
          <a:prstGeom prst="ellipse">
            <a:avLst/>
          </a:prstGeom>
          <a:solidFill>
            <a:schemeClr val="accent1"/>
          </a:solidFill>
          <a:ln w="12700">
            <a:solidFill>
              <a:schemeClr val="accent1"/>
            </a:solidFill>
            <a:prstDash val="solid"/>
          </a:ln>
        </p:spPr>
      </p:sp>
      <p:sp>
        <p:nvSpPr>
          <p:cNvPr id="30" name="Text 28"/>
          <p:cNvSpPr txBox="1"/>
          <p:nvPr/>
        </p:nvSpPr>
        <p:spPr>
          <a:xfrm>
            <a:off x="717804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5</a:t>
            </a:r>
            <a:endParaRPr lang="en-US" sz="1400" dirty="0"/>
          </a:p>
        </p:txBody>
      </p:sp>
      <p:sp>
        <p:nvSpPr>
          <p:cNvPr id="31" name="Text 29"/>
          <p:cNvSpPr txBox="1"/>
          <p:nvPr/>
        </p:nvSpPr>
        <p:spPr>
          <a:xfrm>
            <a:off x="7178040" y="201168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Eigenvectors</a:t>
            </a:r>
            <a:endParaRPr lang="en-US" sz="1300" dirty="0"/>
          </a:p>
        </p:txBody>
      </p:sp>
      <p:sp>
        <p:nvSpPr>
          <p:cNvPr id="32" name="Text 30"/>
          <p:cNvSpPr txBox="1"/>
          <p:nvPr/>
        </p:nvSpPr>
        <p:spPr>
          <a:xfrm>
            <a:off x="7178040" y="2304288"/>
            <a:ext cx="1188720" cy="365760"/>
          </a:xfrm>
          <a:prstGeom prst="rect">
            <a:avLst/>
          </a:prstGeom>
          <a:noFill/>
          <a:ln/>
        </p:spPr>
        <p:txBody>
          <a:bodyPr wrap="square" lIns="0" tIns="0" rIns="0" bIns="0" rtlCol="0" anchor="t"/>
          <a:lstStyle/>
          <a:p>
            <a:pPr indent="0" marL="0">
              <a:buNone/>
            </a:pPr>
            <a:r>
              <a:rPr lang="en-US" sz="1050" dirty="0">
                <a:solidFill>
                  <a:srgbClr val="5A6075"/>
                </a:solidFill>
              </a:rPr>
              <a:t>the main face patterns</a:t>
            </a:r>
            <a:endParaRPr lang="en-US" sz="1050" dirty="0"/>
          </a:p>
        </p:txBody>
      </p:sp>
      <p:sp>
        <p:nvSpPr>
          <p:cNvPr id="33" name="step-6"/>
          <p:cNvSpPr/>
          <p:nvPr/>
        </p:nvSpPr>
        <p:spPr>
          <a:xfrm>
            <a:off x="457200" y="3108960"/>
            <a:ext cx="1463040" cy="1325880"/>
          </a:xfrm>
          <a:prstGeom prst="roundRect">
            <a:avLst>
              <a:gd name="adj" fmla="val 6897"/>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34" name="Shape 32"/>
          <p:cNvSpPr/>
          <p:nvPr/>
        </p:nvSpPr>
        <p:spPr>
          <a:xfrm>
            <a:off x="594360" y="3246120"/>
            <a:ext cx="384048" cy="384048"/>
          </a:xfrm>
          <a:prstGeom prst="ellipse">
            <a:avLst/>
          </a:prstGeom>
          <a:solidFill>
            <a:schemeClr val="accent1"/>
          </a:solidFill>
          <a:ln w="12700">
            <a:solidFill>
              <a:schemeClr val="accent1"/>
            </a:solidFill>
            <a:prstDash val="solid"/>
          </a:ln>
        </p:spPr>
      </p:sp>
      <p:sp>
        <p:nvSpPr>
          <p:cNvPr id="35" name="Text 33"/>
          <p:cNvSpPr txBox="1"/>
          <p:nvPr/>
        </p:nvSpPr>
        <p:spPr>
          <a:xfrm>
            <a:off x="594360" y="3246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6</a:t>
            </a:r>
            <a:endParaRPr lang="en-US" sz="1400" dirty="0"/>
          </a:p>
        </p:txBody>
      </p:sp>
      <p:sp>
        <p:nvSpPr>
          <p:cNvPr id="36" name="Text 34"/>
          <p:cNvSpPr txBox="1"/>
          <p:nvPr/>
        </p:nvSpPr>
        <p:spPr>
          <a:xfrm>
            <a:off x="594360" y="370332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Diagonalization</a:t>
            </a:r>
            <a:endParaRPr lang="en-US" sz="1300" dirty="0"/>
          </a:p>
        </p:txBody>
      </p:sp>
      <p:sp>
        <p:nvSpPr>
          <p:cNvPr id="37" name="Text 35"/>
          <p:cNvSpPr txBox="1"/>
          <p:nvPr/>
        </p:nvSpPr>
        <p:spPr>
          <a:xfrm>
            <a:off x="594360" y="3995928"/>
            <a:ext cx="1188720" cy="365760"/>
          </a:xfrm>
          <a:prstGeom prst="rect">
            <a:avLst/>
          </a:prstGeom>
          <a:noFill/>
          <a:ln/>
        </p:spPr>
        <p:txBody>
          <a:bodyPr wrap="square" lIns="0" tIns="0" rIns="0" bIns="0" rtlCol="0" anchor="t"/>
          <a:lstStyle/>
          <a:p>
            <a:pPr indent="0" marL="0">
              <a:buNone/>
            </a:pPr>
            <a:r>
              <a:rPr lang="en-US" sz="1050" dirty="0">
                <a:solidFill>
                  <a:srgbClr val="5A6075"/>
                </a:solidFill>
              </a:rPr>
              <a:t>untangle the patterns</a:t>
            </a:r>
            <a:endParaRPr lang="en-US" sz="1050" dirty="0"/>
          </a:p>
        </p:txBody>
      </p:sp>
      <p:sp>
        <p:nvSpPr>
          <p:cNvPr id="38" name="Shape 36"/>
          <p:cNvSpPr/>
          <p:nvPr/>
        </p:nvSpPr>
        <p:spPr>
          <a:xfrm>
            <a:off x="1938528" y="3767328"/>
            <a:ext cx="146304" cy="914"/>
          </a:xfrm>
          <a:prstGeom prst="line">
            <a:avLst/>
          </a:prstGeom>
          <a:noFill/>
          <a:ln w="19050">
            <a:solidFill>
              <a:srgbClr val="C9D1E3"/>
            </a:solidFill>
            <a:prstDash val="solid"/>
            <a:tailEnd type="triangle"/>
          </a:ln>
        </p:spPr>
      </p:sp>
      <p:sp>
        <p:nvSpPr>
          <p:cNvPr id="39" name="step-7"/>
          <p:cNvSpPr/>
          <p:nvPr/>
        </p:nvSpPr>
        <p:spPr>
          <a:xfrm>
            <a:off x="2103120" y="3108960"/>
            <a:ext cx="1463040" cy="1325880"/>
          </a:xfrm>
          <a:prstGeom prst="roundRect">
            <a:avLst>
              <a:gd name="adj" fmla="val 6897"/>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40" name="Shape 38"/>
          <p:cNvSpPr/>
          <p:nvPr/>
        </p:nvSpPr>
        <p:spPr>
          <a:xfrm>
            <a:off x="2240280" y="3246120"/>
            <a:ext cx="384048" cy="384048"/>
          </a:xfrm>
          <a:prstGeom prst="ellipse">
            <a:avLst/>
          </a:prstGeom>
          <a:solidFill>
            <a:schemeClr val="accent1"/>
          </a:solidFill>
          <a:ln w="12700">
            <a:solidFill>
              <a:schemeClr val="accent1"/>
            </a:solidFill>
            <a:prstDash val="solid"/>
          </a:ln>
        </p:spPr>
      </p:sp>
      <p:sp>
        <p:nvSpPr>
          <p:cNvPr id="41" name="Text 39"/>
          <p:cNvSpPr txBox="1"/>
          <p:nvPr/>
        </p:nvSpPr>
        <p:spPr>
          <a:xfrm>
            <a:off x="2240280" y="3246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7</a:t>
            </a:r>
            <a:endParaRPr lang="en-US" sz="1400" dirty="0"/>
          </a:p>
        </p:txBody>
      </p:sp>
      <p:sp>
        <p:nvSpPr>
          <p:cNvPr id="42" name="Text 40"/>
          <p:cNvSpPr txBox="1"/>
          <p:nvPr/>
        </p:nvSpPr>
        <p:spPr>
          <a:xfrm>
            <a:off x="2240280" y="370332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PCA / Eigenfaces</a:t>
            </a:r>
            <a:endParaRPr lang="en-US" sz="1300" dirty="0"/>
          </a:p>
        </p:txBody>
      </p:sp>
      <p:sp>
        <p:nvSpPr>
          <p:cNvPr id="43" name="Text 41"/>
          <p:cNvSpPr txBox="1"/>
          <p:nvPr/>
        </p:nvSpPr>
        <p:spPr>
          <a:xfrm>
            <a:off x="2240280" y="3995928"/>
            <a:ext cx="1188720" cy="365760"/>
          </a:xfrm>
          <a:prstGeom prst="rect">
            <a:avLst/>
          </a:prstGeom>
          <a:noFill/>
          <a:ln/>
        </p:spPr>
        <p:txBody>
          <a:bodyPr wrap="square" lIns="0" tIns="0" rIns="0" bIns="0" rtlCol="0" anchor="t"/>
          <a:lstStyle/>
          <a:p>
            <a:pPr indent="0" marL="0">
              <a:buNone/>
            </a:pPr>
            <a:r>
              <a:rPr lang="en-US" sz="1050" dirty="0">
                <a:solidFill>
                  <a:srgbClr val="5A6075"/>
                </a:solidFill>
              </a:rPr>
              <a:t>keep only the top patterns</a:t>
            </a:r>
            <a:endParaRPr lang="en-US" sz="1050" dirty="0"/>
          </a:p>
        </p:txBody>
      </p:sp>
      <p:sp>
        <p:nvSpPr>
          <p:cNvPr id="44" name="Shape 42"/>
          <p:cNvSpPr/>
          <p:nvPr/>
        </p:nvSpPr>
        <p:spPr>
          <a:xfrm>
            <a:off x="3584448" y="3767328"/>
            <a:ext cx="146304" cy="914"/>
          </a:xfrm>
          <a:prstGeom prst="line">
            <a:avLst/>
          </a:prstGeom>
          <a:noFill/>
          <a:ln w="19050">
            <a:solidFill>
              <a:srgbClr val="C9D1E3"/>
            </a:solidFill>
            <a:prstDash val="solid"/>
            <a:tailEnd type="triangle"/>
          </a:ln>
        </p:spPr>
      </p:sp>
      <p:sp>
        <p:nvSpPr>
          <p:cNvPr id="45" name="step-8"/>
          <p:cNvSpPr/>
          <p:nvPr/>
        </p:nvSpPr>
        <p:spPr>
          <a:xfrm>
            <a:off x="3749040" y="3108960"/>
            <a:ext cx="1463040" cy="1325880"/>
          </a:xfrm>
          <a:prstGeom prst="roundRect">
            <a:avLst>
              <a:gd name="adj" fmla="val 6897"/>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46" name="Shape 44"/>
          <p:cNvSpPr/>
          <p:nvPr/>
        </p:nvSpPr>
        <p:spPr>
          <a:xfrm>
            <a:off x="3886200" y="3246120"/>
            <a:ext cx="384048" cy="384048"/>
          </a:xfrm>
          <a:prstGeom prst="ellipse">
            <a:avLst/>
          </a:prstGeom>
          <a:solidFill>
            <a:schemeClr val="accent1"/>
          </a:solidFill>
          <a:ln w="12700">
            <a:solidFill>
              <a:schemeClr val="accent1"/>
            </a:solidFill>
            <a:prstDash val="solid"/>
          </a:ln>
        </p:spPr>
      </p:sp>
      <p:sp>
        <p:nvSpPr>
          <p:cNvPr id="47" name="Text 45"/>
          <p:cNvSpPr txBox="1"/>
          <p:nvPr/>
        </p:nvSpPr>
        <p:spPr>
          <a:xfrm>
            <a:off x="3886200" y="3246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8</a:t>
            </a:r>
            <a:endParaRPr lang="en-US" sz="1400" dirty="0"/>
          </a:p>
        </p:txBody>
      </p:sp>
      <p:sp>
        <p:nvSpPr>
          <p:cNvPr id="48" name="Text 46"/>
          <p:cNvSpPr txBox="1"/>
          <p:nvPr/>
        </p:nvSpPr>
        <p:spPr>
          <a:xfrm>
            <a:off x="3886200" y="370332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Projection</a:t>
            </a:r>
            <a:endParaRPr lang="en-US" sz="1300" dirty="0"/>
          </a:p>
        </p:txBody>
      </p:sp>
      <p:sp>
        <p:nvSpPr>
          <p:cNvPr id="49" name="Text 47"/>
          <p:cNvSpPr txBox="1"/>
          <p:nvPr/>
        </p:nvSpPr>
        <p:spPr>
          <a:xfrm>
            <a:off x="3886200" y="3995928"/>
            <a:ext cx="1188720" cy="365760"/>
          </a:xfrm>
          <a:prstGeom prst="rect">
            <a:avLst/>
          </a:prstGeom>
          <a:noFill/>
          <a:ln/>
        </p:spPr>
        <p:txBody>
          <a:bodyPr wrap="square" lIns="0" tIns="0" rIns="0" bIns="0" rtlCol="0" anchor="t"/>
          <a:lstStyle/>
          <a:p>
            <a:pPr indent="0" marL="0">
              <a:buNone/>
            </a:pPr>
            <a:r>
              <a:rPr lang="en-US" sz="1050" dirty="0">
                <a:solidFill>
                  <a:srgbClr val="5A6075"/>
                </a:solidFill>
              </a:rPr>
              <a:t>4096 → 50 numbers</a:t>
            </a:r>
            <a:endParaRPr lang="en-US" sz="1050" dirty="0"/>
          </a:p>
        </p:txBody>
      </p:sp>
      <p:sp>
        <p:nvSpPr>
          <p:cNvPr id="50" name="Shape 48"/>
          <p:cNvSpPr/>
          <p:nvPr/>
        </p:nvSpPr>
        <p:spPr>
          <a:xfrm>
            <a:off x="5230368" y="3767328"/>
            <a:ext cx="146304" cy="914"/>
          </a:xfrm>
          <a:prstGeom prst="line">
            <a:avLst/>
          </a:prstGeom>
          <a:noFill/>
          <a:ln w="19050">
            <a:solidFill>
              <a:srgbClr val="C9D1E3"/>
            </a:solidFill>
            <a:prstDash val="solid"/>
            <a:tailEnd type="triangle"/>
          </a:ln>
        </p:spPr>
      </p:sp>
      <p:sp>
        <p:nvSpPr>
          <p:cNvPr id="51" name="step-9"/>
          <p:cNvSpPr/>
          <p:nvPr/>
        </p:nvSpPr>
        <p:spPr>
          <a:xfrm>
            <a:off x="5394960" y="3108960"/>
            <a:ext cx="1463040" cy="1325880"/>
          </a:xfrm>
          <a:prstGeom prst="roundRect">
            <a:avLst>
              <a:gd name="adj" fmla="val 6897"/>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52" name="Shape 50"/>
          <p:cNvSpPr/>
          <p:nvPr/>
        </p:nvSpPr>
        <p:spPr>
          <a:xfrm>
            <a:off x="5532120" y="3246120"/>
            <a:ext cx="384048" cy="384048"/>
          </a:xfrm>
          <a:prstGeom prst="ellipse">
            <a:avLst/>
          </a:prstGeom>
          <a:solidFill>
            <a:schemeClr val="accent1"/>
          </a:solidFill>
          <a:ln w="12700">
            <a:solidFill>
              <a:schemeClr val="accent1"/>
            </a:solidFill>
            <a:prstDash val="solid"/>
          </a:ln>
        </p:spPr>
      </p:sp>
      <p:sp>
        <p:nvSpPr>
          <p:cNvPr id="53" name="Text 51"/>
          <p:cNvSpPr txBox="1"/>
          <p:nvPr/>
        </p:nvSpPr>
        <p:spPr>
          <a:xfrm>
            <a:off x="5532120" y="3246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9</a:t>
            </a:r>
            <a:endParaRPr lang="en-US" sz="1400" dirty="0"/>
          </a:p>
        </p:txBody>
      </p:sp>
      <p:sp>
        <p:nvSpPr>
          <p:cNvPr id="54" name="Text 52"/>
          <p:cNvSpPr txBox="1"/>
          <p:nvPr/>
        </p:nvSpPr>
        <p:spPr>
          <a:xfrm>
            <a:off x="5532120" y="370332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Distance (norm)</a:t>
            </a:r>
            <a:endParaRPr lang="en-US" sz="1300" dirty="0"/>
          </a:p>
        </p:txBody>
      </p:sp>
      <p:sp>
        <p:nvSpPr>
          <p:cNvPr id="55" name="Text 53"/>
          <p:cNvSpPr txBox="1"/>
          <p:nvPr/>
        </p:nvSpPr>
        <p:spPr>
          <a:xfrm>
            <a:off x="5532120" y="3995928"/>
            <a:ext cx="1188720" cy="365760"/>
          </a:xfrm>
          <a:prstGeom prst="rect">
            <a:avLst/>
          </a:prstGeom>
          <a:noFill/>
          <a:ln/>
        </p:spPr>
        <p:txBody>
          <a:bodyPr wrap="square" lIns="0" tIns="0" rIns="0" bIns="0" rtlCol="0" anchor="t"/>
          <a:lstStyle/>
          <a:p>
            <a:pPr indent="0" marL="0">
              <a:buNone/>
            </a:pPr>
            <a:r>
              <a:rPr lang="en-US" sz="1050" dirty="0">
                <a:solidFill>
                  <a:srgbClr val="5A6075"/>
                </a:solidFill>
              </a:rPr>
              <a:t>who is the closest match?</a:t>
            </a:r>
            <a:endParaRPr lang="en-US" sz="1050" dirty="0"/>
          </a:p>
        </p:txBody>
      </p:sp>
      <p:sp>
        <p:nvSpPr>
          <p:cNvPr id="56" name="Shape 54"/>
          <p:cNvSpPr/>
          <p:nvPr/>
        </p:nvSpPr>
        <p:spPr>
          <a:xfrm>
            <a:off x="6876288" y="3767328"/>
            <a:ext cx="146304" cy="914"/>
          </a:xfrm>
          <a:prstGeom prst="line">
            <a:avLst/>
          </a:prstGeom>
          <a:noFill/>
          <a:ln w="19050">
            <a:solidFill>
              <a:srgbClr val="C9D1E3"/>
            </a:solidFill>
            <a:prstDash val="solid"/>
            <a:tailEnd type="triangle"/>
          </a:ln>
        </p:spPr>
      </p:sp>
      <p:sp>
        <p:nvSpPr>
          <p:cNvPr id="57" name="step-10"/>
          <p:cNvSpPr/>
          <p:nvPr/>
        </p:nvSpPr>
        <p:spPr>
          <a:xfrm>
            <a:off x="7040880" y="3108960"/>
            <a:ext cx="1463040" cy="1325880"/>
          </a:xfrm>
          <a:prstGeom prst="roundRect">
            <a:avLst>
              <a:gd name="adj" fmla="val 6897"/>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58" name="Shape 56"/>
          <p:cNvSpPr/>
          <p:nvPr/>
        </p:nvSpPr>
        <p:spPr>
          <a:xfrm>
            <a:off x="7178040" y="3246120"/>
            <a:ext cx="384048" cy="384048"/>
          </a:xfrm>
          <a:prstGeom prst="ellipse">
            <a:avLst/>
          </a:prstGeom>
          <a:solidFill>
            <a:schemeClr val="accent1"/>
          </a:solidFill>
          <a:ln w="12700">
            <a:solidFill>
              <a:schemeClr val="accent1"/>
            </a:solidFill>
            <a:prstDash val="solid"/>
          </a:ln>
        </p:spPr>
      </p:sp>
      <p:sp>
        <p:nvSpPr>
          <p:cNvPr id="59" name="Text 57"/>
          <p:cNvSpPr txBox="1"/>
          <p:nvPr/>
        </p:nvSpPr>
        <p:spPr>
          <a:xfrm>
            <a:off x="7178040" y="3246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10</a:t>
            </a:r>
            <a:endParaRPr lang="en-US" sz="1400" dirty="0"/>
          </a:p>
        </p:txBody>
      </p:sp>
      <p:sp>
        <p:nvSpPr>
          <p:cNvPr id="60" name="Text 58"/>
          <p:cNvSpPr txBox="1"/>
          <p:nvPr/>
        </p:nvSpPr>
        <p:spPr>
          <a:xfrm>
            <a:off x="7178040" y="3703320"/>
            <a:ext cx="1188720" cy="292608"/>
          </a:xfrm>
          <a:prstGeom prst="rect">
            <a:avLst/>
          </a:prstGeom>
          <a:noFill/>
          <a:ln/>
        </p:spPr>
        <p:txBody>
          <a:bodyPr wrap="square" lIns="0" tIns="0" rIns="0" bIns="0" rtlCol="0" anchor="ctr"/>
          <a:lstStyle/>
          <a:p>
            <a:pPr indent="0" marL="0">
              <a:buNone/>
            </a:pPr>
            <a:r>
              <a:rPr lang="en-US" sz="1300" b="1" dirty="0">
                <a:solidFill>
                  <a:schemeClr val="tx2"/>
                </a:solidFill>
              </a:rPr>
              <a:t>Least squares</a:t>
            </a:r>
            <a:endParaRPr lang="en-US" sz="1300" dirty="0"/>
          </a:p>
        </p:txBody>
      </p:sp>
      <p:sp>
        <p:nvSpPr>
          <p:cNvPr id="61" name="Text 59"/>
          <p:cNvSpPr txBox="1"/>
          <p:nvPr/>
        </p:nvSpPr>
        <p:spPr>
          <a:xfrm>
            <a:off x="7178040" y="3995928"/>
            <a:ext cx="1188720" cy="365760"/>
          </a:xfrm>
          <a:prstGeom prst="rect">
            <a:avLst/>
          </a:prstGeom>
          <a:noFill/>
          <a:ln/>
        </p:spPr>
        <p:txBody>
          <a:bodyPr wrap="square" lIns="0" tIns="0" rIns="0" bIns="0" rtlCol="0" anchor="t"/>
          <a:lstStyle/>
          <a:p>
            <a:pPr indent="0" marL="0">
              <a:buNone/>
            </a:pPr>
            <a:r>
              <a:rPr lang="en-US" sz="1050" dirty="0">
                <a:solidFill>
                  <a:srgbClr val="5A6075"/>
                </a:solidFill>
              </a:rPr>
              <a:t>a second way to recognise</a:t>
            </a:r>
            <a:endParaRPr lang="en-US" sz="1050" dirty="0"/>
          </a:p>
        </p:txBody>
      </p:sp>
      <p:sp>
        <p:nvSpPr>
          <p:cNvPr id="62" name="Text 60"/>
          <p:cNvSpPr txBox="1"/>
          <p:nvPr/>
        </p:nvSpPr>
        <p:spPr>
          <a:xfrm>
            <a:off x="457200" y="4572000"/>
            <a:ext cx="7863840" cy="274320"/>
          </a:xfrm>
          <a:prstGeom prst="rect">
            <a:avLst/>
          </a:prstGeom>
          <a:noFill/>
          <a:ln/>
        </p:spPr>
        <p:txBody>
          <a:bodyPr wrap="square" lIns="0" tIns="0" rIns="0" bIns="0" rtlCol="0" anchor="ctr"/>
          <a:lstStyle/>
          <a:p>
            <a:pPr indent="0" marL="0">
              <a:buNone/>
            </a:pPr>
            <a:r>
              <a:rPr lang="en-US" sz="1150" b="1" dirty="0">
                <a:solidFill>
                  <a:schemeClr val="accent2"/>
                </a:solidFill>
              </a:rPr>
              <a:t>Final output: recognise WHO is in a new photo  →  eigenfaces (nearest match), least squares, and a CNN for comparison.</a:t>
            </a:r>
            <a:endParaRPr lang="en-US" sz="11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Vectors and the data matrix</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457200" y="1143000"/>
            <a:ext cx="4297680" cy="201168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A grayscale photo is just a grid of numbers: 0 = black, 1 = white.</a:t>
            </a:r>
            <a:endParaRPr lang="en-US" sz="1350" dirty="0"/>
          </a:p>
          <a:p>
            <a:pPr indent="0" marL="0">
              <a:spcAft>
                <a:spcPts val="800"/>
              </a:spcAft>
              <a:buNone/>
            </a:pPr>
            <a:r>
              <a:rPr lang="en-US" sz="1350" dirty="0">
                <a:solidFill>
                  <a:schemeClr val="tx1"/>
                </a:solidFill>
              </a:rPr>
              <a:t>If we write all the numbers of one photo in a single row, the photo becomes a vector, a list of numbers we can add, compare and multiply. One row per photo gives the data matrix.</a:t>
            </a:r>
            <a:endParaRPr lang="en-US" sz="1350" dirty="0"/>
          </a:p>
          <a:p>
            <a:pPr indent="0" marL="0">
              <a:buNone/>
            </a:pPr>
            <a:r>
              <a:rPr lang="en-US" sz="1350" i="1" dirty="0">
                <a:solidFill>
                  <a:schemeClr val="accent2"/>
                </a:solidFill>
              </a:rPr>
              <a:t>Think of unrolling the photo row by row, like unrolling a carpet into one long strip.</a:t>
            </a:r>
            <a:endParaRPr lang="en-US" sz="1350" dirty="0"/>
          </a:p>
        </p:txBody>
      </p:sp>
      <p:sp>
        <p:nvSpPr>
          <p:cNvPr id="6" name="img-0-0"/>
          <p:cNvSpPr/>
          <p:nvPr/>
        </p:nvSpPr>
        <p:spPr>
          <a:xfrm>
            <a:off x="548640" y="3429000"/>
            <a:ext cx="201168" cy="201168"/>
          </a:xfrm>
          <a:prstGeom prst="rect">
            <a:avLst/>
          </a:prstGeom>
          <a:solidFill>
            <a:srgbClr val="2B2F3F"/>
          </a:solidFill>
          <a:ln w="6350">
            <a:solidFill>
              <a:srgbClr val="FFFFFF"/>
            </a:solidFill>
            <a:prstDash val="solid"/>
          </a:ln>
        </p:spPr>
      </p:sp>
      <p:sp>
        <p:nvSpPr>
          <p:cNvPr id="7" name="img-0-1"/>
          <p:cNvSpPr/>
          <p:nvPr/>
        </p:nvSpPr>
        <p:spPr>
          <a:xfrm>
            <a:off x="749808" y="3429000"/>
            <a:ext cx="201168" cy="201168"/>
          </a:xfrm>
          <a:prstGeom prst="rect">
            <a:avLst/>
          </a:prstGeom>
          <a:solidFill>
            <a:srgbClr val="9AA0B8"/>
          </a:solidFill>
          <a:ln w="6350">
            <a:solidFill>
              <a:srgbClr val="FFFFFF"/>
            </a:solidFill>
            <a:prstDash val="solid"/>
          </a:ln>
        </p:spPr>
      </p:sp>
      <p:sp>
        <p:nvSpPr>
          <p:cNvPr id="8" name="img-0-2"/>
          <p:cNvSpPr/>
          <p:nvPr/>
        </p:nvSpPr>
        <p:spPr>
          <a:xfrm>
            <a:off x="950976" y="3429000"/>
            <a:ext cx="201168" cy="201168"/>
          </a:xfrm>
          <a:prstGeom prst="rect">
            <a:avLst/>
          </a:prstGeom>
          <a:solidFill>
            <a:srgbClr val="2B2F3F"/>
          </a:solidFill>
          <a:ln w="6350">
            <a:solidFill>
              <a:srgbClr val="FFFFFF"/>
            </a:solidFill>
            <a:prstDash val="solid"/>
          </a:ln>
        </p:spPr>
      </p:sp>
      <p:sp>
        <p:nvSpPr>
          <p:cNvPr id="9" name="img-0-3"/>
          <p:cNvSpPr/>
          <p:nvPr/>
        </p:nvSpPr>
        <p:spPr>
          <a:xfrm>
            <a:off x="1152144" y="3429000"/>
            <a:ext cx="201168" cy="201168"/>
          </a:xfrm>
          <a:prstGeom prst="rect">
            <a:avLst/>
          </a:prstGeom>
          <a:solidFill>
            <a:srgbClr val="9AA0B8"/>
          </a:solidFill>
          <a:ln w="6350">
            <a:solidFill>
              <a:srgbClr val="FFFFFF"/>
            </a:solidFill>
            <a:prstDash val="solid"/>
          </a:ln>
        </p:spPr>
      </p:sp>
      <p:sp>
        <p:nvSpPr>
          <p:cNvPr id="10" name="img-0-4"/>
          <p:cNvSpPr/>
          <p:nvPr/>
        </p:nvSpPr>
        <p:spPr>
          <a:xfrm>
            <a:off x="1353312" y="3429000"/>
            <a:ext cx="201168" cy="201168"/>
          </a:xfrm>
          <a:prstGeom prst="rect">
            <a:avLst/>
          </a:prstGeom>
          <a:solidFill>
            <a:srgbClr val="2B2F3F"/>
          </a:solidFill>
          <a:ln w="6350">
            <a:solidFill>
              <a:srgbClr val="FFFFFF"/>
            </a:solidFill>
            <a:prstDash val="solid"/>
          </a:ln>
        </p:spPr>
      </p:sp>
      <p:sp>
        <p:nvSpPr>
          <p:cNvPr id="11" name="img-1-0"/>
          <p:cNvSpPr/>
          <p:nvPr/>
        </p:nvSpPr>
        <p:spPr>
          <a:xfrm>
            <a:off x="548640" y="3630168"/>
            <a:ext cx="201168" cy="201168"/>
          </a:xfrm>
          <a:prstGeom prst="rect">
            <a:avLst/>
          </a:prstGeom>
          <a:solidFill>
            <a:srgbClr val="6E7590"/>
          </a:solidFill>
          <a:ln w="6350">
            <a:solidFill>
              <a:srgbClr val="FFFFFF"/>
            </a:solidFill>
            <a:prstDash val="solid"/>
          </a:ln>
        </p:spPr>
      </p:sp>
      <p:sp>
        <p:nvSpPr>
          <p:cNvPr id="12" name="img-1-1"/>
          <p:cNvSpPr/>
          <p:nvPr/>
        </p:nvSpPr>
        <p:spPr>
          <a:xfrm>
            <a:off x="749808" y="3630168"/>
            <a:ext cx="201168" cy="201168"/>
          </a:xfrm>
          <a:prstGeom prst="rect">
            <a:avLst/>
          </a:prstGeom>
          <a:solidFill>
            <a:srgbClr val="E4E7F0"/>
          </a:solidFill>
          <a:ln w="6350">
            <a:solidFill>
              <a:srgbClr val="FFFFFF"/>
            </a:solidFill>
            <a:prstDash val="solid"/>
          </a:ln>
        </p:spPr>
      </p:sp>
      <p:sp>
        <p:nvSpPr>
          <p:cNvPr id="13" name="img-1-2"/>
          <p:cNvSpPr/>
          <p:nvPr/>
        </p:nvSpPr>
        <p:spPr>
          <a:xfrm>
            <a:off x="950976" y="3630168"/>
            <a:ext cx="201168" cy="201168"/>
          </a:xfrm>
          <a:prstGeom prst="rect">
            <a:avLst/>
          </a:prstGeom>
          <a:solidFill>
            <a:srgbClr val="6E7590"/>
          </a:solidFill>
          <a:ln w="6350">
            <a:solidFill>
              <a:srgbClr val="FFFFFF"/>
            </a:solidFill>
            <a:prstDash val="solid"/>
          </a:ln>
        </p:spPr>
      </p:sp>
      <p:sp>
        <p:nvSpPr>
          <p:cNvPr id="14" name="img-1-3"/>
          <p:cNvSpPr/>
          <p:nvPr/>
        </p:nvSpPr>
        <p:spPr>
          <a:xfrm>
            <a:off x="1152144" y="3630168"/>
            <a:ext cx="201168" cy="201168"/>
          </a:xfrm>
          <a:prstGeom prst="rect">
            <a:avLst/>
          </a:prstGeom>
          <a:solidFill>
            <a:srgbClr val="E4E7F0"/>
          </a:solidFill>
          <a:ln w="6350">
            <a:solidFill>
              <a:srgbClr val="FFFFFF"/>
            </a:solidFill>
            <a:prstDash val="solid"/>
          </a:ln>
        </p:spPr>
      </p:sp>
      <p:sp>
        <p:nvSpPr>
          <p:cNvPr id="15" name="img-1-4"/>
          <p:cNvSpPr/>
          <p:nvPr/>
        </p:nvSpPr>
        <p:spPr>
          <a:xfrm>
            <a:off x="1353312" y="3630168"/>
            <a:ext cx="201168" cy="201168"/>
          </a:xfrm>
          <a:prstGeom prst="rect">
            <a:avLst/>
          </a:prstGeom>
          <a:solidFill>
            <a:srgbClr val="6E7590"/>
          </a:solidFill>
          <a:ln w="6350">
            <a:solidFill>
              <a:srgbClr val="FFFFFF"/>
            </a:solidFill>
            <a:prstDash val="solid"/>
          </a:ln>
        </p:spPr>
      </p:sp>
      <p:sp>
        <p:nvSpPr>
          <p:cNvPr id="16" name="img-2-0"/>
          <p:cNvSpPr/>
          <p:nvPr/>
        </p:nvSpPr>
        <p:spPr>
          <a:xfrm>
            <a:off x="548640" y="3831336"/>
            <a:ext cx="201168" cy="201168"/>
          </a:xfrm>
          <a:prstGeom prst="rect">
            <a:avLst/>
          </a:prstGeom>
          <a:solidFill>
            <a:srgbClr val="C4C9D9"/>
          </a:solidFill>
          <a:ln w="6350">
            <a:solidFill>
              <a:srgbClr val="FFFFFF"/>
            </a:solidFill>
            <a:prstDash val="solid"/>
          </a:ln>
        </p:spPr>
      </p:sp>
      <p:sp>
        <p:nvSpPr>
          <p:cNvPr id="17" name="img-2-1"/>
          <p:cNvSpPr/>
          <p:nvPr/>
        </p:nvSpPr>
        <p:spPr>
          <a:xfrm>
            <a:off x="749808" y="3831336"/>
            <a:ext cx="201168" cy="201168"/>
          </a:xfrm>
          <a:prstGeom prst="rect">
            <a:avLst/>
          </a:prstGeom>
          <a:solidFill>
            <a:srgbClr val="4A5068"/>
          </a:solidFill>
          <a:ln w="6350">
            <a:solidFill>
              <a:srgbClr val="FFFFFF"/>
            </a:solidFill>
            <a:prstDash val="solid"/>
          </a:ln>
        </p:spPr>
      </p:sp>
      <p:sp>
        <p:nvSpPr>
          <p:cNvPr id="18" name="img-2-2"/>
          <p:cNvSpPr/>
          <p:nvPr/>
        </p:nvSpPr>
        <p:spPr>
          <a:xfrm>
            <a:off x="950976" y="3831336"/>
            <a:ext cx="201168" cy="201168"/>
          </a:xfrm>
          <a:prstGeom prst="rect">
            <a:avLst/>
          </a:prstGeom>
          <a:solidFill>
            <a:srgbClr val="C4C9D9"/>
          </a:solidFill>
          <a:ln w="6350">
            <a:solidFill>
              <a:srgbClr val="FFFFFF"/>
            </a:solidFill>
            <a:prstDash val="solid"/>
          </a:ln>
        </p:spPr>
      </p:sp>
      <p:sp>
        <p:nvSpPr>
          <p:cNvPr id="19" name="img-2-3"/>
          <p:cNvSpPr/>
          <p:nvPr/>
        </p:nvSpPr>
        <p:spPr>
          <a:xfrm>
            <a:off x="1152144" y="3831336"/>
            <a:ext cx="201168" cy="201168"/>
          </a:xfrm>
          <a:prstGeom prst="rect">
            <a:avLst/>
          </a:prstGeom>
          <a:solidFill>
            <a:srgbClr val="4A5068"/>
          </a:solidFill>
          <a:ln w="6350">
            <a:solidFill>
              <a:srgbClr val="FFFFFF"/>
            </a:solidFill>
            <a:prstDash val="solid"/>
          </a:ln>
        </p:spPr>
      </p:sp>
      <p:sp>
        <p:nvSpPr>
          <p:cNvPr id="20" name="img-2-4"/>
          <p:cNvSpPr/>
          <p:nvPr/>
        </p:nvSpPr>
        <p:spPr>
          <a:xfrm>
            <a:off x="1353312" y="3831336"/>
            <a:ext cx="201168" cy="201168"/>
          </a:xfrm>
          <a:prstGeom prst="rect">
            <a:avLst/>
          </a:prstGeom>
          <a:solidFill>
            <a:srgbClr val="C4C9D9"/>
          </a:solidFill>
          <a:ln w="6350">
            <a:solidFill>
              <a:srgbClr val="FFFFFF"/>
            </a:solidFill>
            <a:prstDash val="solid"/>
          </a:ln>
        </p:spPr>
      </p:sp>
      <p:sp>
        <p:nvSpPr>
          <p:cNvPr id="21" name="img-3-0"/>
          <p:cNvSpPr/>
          <p:nvPr/>
        </p:nvSpPr>
        <p:spPr>
          <a:xfrm>
            <a:off x="548640" y="4032504"/>
            <a:ext cx="201168" cy="201168"/>
          </a:xfrm>
          <a:prstGeom prst="rect">
            <a:avLst/>
          </a:prstGeom>
          <a:solidFill>
            <a:srgbClr val="2B2F3F"/>
          </a:solidFill>
          <a:ln w="6350">
            <a:solidFill>
              <a:srgbClr val="FFFFFF"/>
            </a:solidFill>
            <a:prstDash val="solid"/>
          </a:ln>
        </p:spPr>
      </p:sp>
      <p:sp>
        <p:nvSpPr>
          <p:cNvPr id="22" name="img-3-1"/>
          <p:cNvSpPr/>
          <p:nvPr/>
        </p:nvSpPr>
        <p:spPr>
          <a:xfrm>
            <a:off x="749808" y="4032504"/>
            <a:ext cx="201168" cy="201168"/>
          </a:xfrm>
          <a:prstGeom prst="rect">
            <a:avLst/>
          </a:prstGeom>
          <a:solidFill>
            <a:srgbClr val="9AA0B8"/>
          </a:solidFill>
          <a:ln w="6350">
            <a:solidFill>
              <a:srgbClr val="FFFFFF"/>
            </a:solidFill>
            <a:prstDash val="solid"/>
          </a:ln>
        </p:spPr>
      </p:sp>
      <p:sp>
        <p:nvSpPr>
          <p:cNvPr id="23" name="img-3-2"/>
          <p:cNvSpPr/>
          <p:nvPr/>
        </p:nvSpPr>
        <p:spPr>
          <a:xfrm>
            <a:off x="950976" y="4032504"/>
            <a:ext cx="201168" cy="201168"/>
          </a:xfrm>
          <a:prstGeom prst="rect">
            <a:avLst/>
          </a:prstGeom>
          <a:solidFill>
            <a:srgbClr val="2B2F3F"/>
          </a:solidFill>
          <a:ln w="6350">
            <a:solidFill>
              <a:srgbClr val="FFFFFF"/>
            </a:solidFill>
            <a:prstDash val="solid"/>
          </a:ln>
        </p:spPr>
      </p:sp>
      <p:sp>
        <p:nvSpPr>
          <p:cNvPr id="24" name="img-3-3"/>
          <p:cNvSpPr/>
          <p:nvPr/>
        </p:nvSpPr>
        <p:spPr>
          <a:xfrm>
            <a:off x="1152144" y="4032504"/>
            <a:ext cx="201168" cy="201168"/>
          </a:xfrm>
          <a:prstGeom prst="rect">
            <a:avLst/>
          </a:prstGeom>
          <a:solidFill>
            <a:srgbClr val="9AA0B8"/>
          </a:solidFill>
          <a:ln w="6350">
            <a:solidFill>
              <a:srgbClr val="FFFFFF"/>
            </a:solidFill>
            <a:prstDash val="solid"/>
          </a:ln>
        </p:spPr>
      </p:sp>
      <p:sp>
        <p:nvSpPr>
          <p:cNvPr id="25" name="img-3-4"/>
          <p:cNvSpPr/>
          <p:nvPr/>
        </p:nvSpPr>
        <p:spPr>
          <a:xfrm>
            <a:off x="1353312" y="4032504"/>
            <a:ext cx="201168" cy="201168"/>
          </a:xfrm>
          <a:prstGeom prst="rect">
            <a:avLst/>
          </a:prstGeom>
          <a:solidFill>
            <a:srgbClr val="2B2F3F"/>
          </a:solidFill>
          <a:ln w="6350">
            <a:solidFill>
              <a:srgbClr val="FFFFFF"/>
            </a:solidFill>
            <a:prstDash val="solid"/>
          </a:ln>
        </p:spPr>
      </p:sp>
      <p:sp>
        <p:nvSpPr>
          <p:cNvPr id="26" name="img-4-0"/>
          <p:cNvSpPr/>
          <p:nvPr/>
        </p:nvSpPr>
        <p:spPr>
          <a:xfrm>
            <a:off x="548640" y="4233672"/>
            <a:ext cx="201168" cy="201168"/>
          </a:xfrm>
          <a:prstGeom prst="rect">
            <a:avLst/>
          </a:prstGeom>
          <a:solidFill>
            <a:srgbClr val="6E7590"/>
          </a:solidFill>
          <a:ln w="6350">
            <a:solidFill>
              <a:srgbClr val="FFFFFF"/>
            </a:solidFill>
            <a:prstDash val="solid"/>
          </a:ln>
        </p:spPr>
      </p:sp>
      <p:sp>
        <p:nvSpPr>
          <p:cNvPr id="27" name="img-4-1"/>
          <p:cNvSpPr/>
          <p:nvPr/>
        </p:nvSpPr>
        <p:spPr>
          <a:xfrm>
            <a:off x="749808" y="4233672"/>
            <a:ext cx="201168" cy="201168"/>
          </a:xfrm>
          <a:prstGeom prst="rect">
            <a:avLst/>
          </a:prstGeom>
          <a:solidFill>
            <a:srgbClr val="E4E7F0"/>
          </a:solidFill>
          <a:ln w="6350">
            <a:solidFill>
              <a:srgbClr val="FFFFFF"/>
            </a:solidFill>
            <a:prstDash val="solid"/>
          </a:ln>
        </p:spPr>
      </p:sp>
      <p:sp>
        <p:nvSpPr>
          <p:cNvPr id="28" name="img-4-2"/>
          <p:cNvSpPr/>
          <p:nvPr/>
        </p:nvSpPr>
        <p:spPr>
          <a:xfrm>
            <a:off x="950976" y="4233672"/>
            <a:ext cx="201168" cy="201168"/>
          </a:xfrm>
          <a:prstGeom prst="rect">
            <a:avLst/>
          </a:prstGeom>
          <a:solidFill>
            <a:srgbClr val="6E7590"/>
          </a:solidFill>
          <a:ln w="6350">
            <a:solidFill>
              <a:srgbClr val="FFFFFF"/>
            </a:solidFill>
            <a:prstDash val="solid"/>
          </a:ln>
        </p:spPr>
      </p:sp>
      <p:sp>
        <p:nvSpPr>
          <p:cNvPr id="29" name="img-4-3"/>
          <p:cNvSpPr/>
          <p:nvPr/>
        </p:nvSpPr>
        <p:spPr>
          <a:xfrm>
            <a:off x="1152144" y="4233672"/>
            <a:ext cx="201168" cy="201168"/>
          </a:xfrm>
          <a:prstGeom prst="rect">
            <a:avLst/>
          </a:prstGeom>
          <a:solidFill>
            <a:srgbClr val="E4E7F0"/>
          </a:solidFill>
          <a:ln w="6350">
            <a:solidFill>
              <a:srgbClr val="FFFFFF"/>
            </a:solidFill>
            <a:prstDash val="solid"/>
          </a:ln>
        </p:spPr>
      </p:sp>
      <p:sp>
        <p:nvSpPr>
          <p:cNvPr id="30" name="img-4-4"/>
          <p:cNvSpPr/>
          <p:nvPr/>
        </p:nvSpPr>
        <p:spPr>
          <a:xfrm>
            <a:off x="1353312" y="4233672"/>
            <a:ext cx="201168" cy="201168"/>
          </a:xfrm>
          <a:prstGeom prst="rect">
            <a:avLst/>
          </a:prstGeom>
          <a:solidFill>
            <a:srgbClr val="6E7590"/>
          </a:solidFill>
          <a:ln w="6350">
            <a:solidFill>
              <a:srgbClr val="FFFFFF"/>
            </a:solidFill>
            <a:prstDash val="solid"/>
          </a:ln>
        </p:spPr>
      </p:sp>
      <p:sp>
        <p:nvSpPr>
          <p:cNvPr id="31" name="Text 29"/>
          <p:cNvSpPr txBox="1"/>
          <p:nvPr/>
        </p:nvSpPr>
        <p:spPr>
          <a:xfrm>
            <a:off x="411480" y="4480560"/>
            <a:ext cx="1280160" cy="228600"/>
          </a:xfrm>
          <a:prstGeom prst="rect">
            <a:avLst/>
          </a:prstGeom>
          <a:noFill/>
          <a:ln/>
        </p:spPr>
        <p:txBody>
          <a:bodyPr wrap="square" lIns="0" tIns="0" rIns="0" bIns="0" rtlCol="0" anchor="ctr"/>
          <a:lstStyle/>
          <a:p>
            <a:pPr algn="ctr" indent="0" marL="0">
              <a:buNone/>
            </a:pPr>
            <a:r>
              <a:rPr lang="en-US" sz="1000" dirty="0">
                <a:solidFill>
                  <a:srgbClr val="5A6075"/>
                </a:solidFill>
              </a:rPr>
              <a:t>64 × 64 photo</a:t>
            </a:r>
            <a:endParaRPr lang="en-US" sz="1000" dirty="0"/>
          </a:p>
        </p:txBody>
      </p:sp>
      <p:sp>
        <p:nvSpPr>
          <p:cNvPr id="32" name="Shape 30"/>
          <p:cNvSpPr/>
          <p:nvPr/>
        </p:nvSpPr>
        <p:spPr>
          <a:xfrm>
            <a:off x="1645920" y="3931920"/>
            <a:ext cx="365760" cy="914"/>
          </a:xfrm>
          <a:prstGeom prst="line">
            <a:avLst/>
          </a:prstGeom>
          <a:noFill/>
          <a:ln w="25400">
            <a:solidFill>
              <a:srgbClr val="E8833A"/>
            </a:solidFill>
            <a:prstDash val="solid"/>
            <a:tailEnd type="triangle"/>
          </a:ln>
        </p:spPr>
      </p:sp>
      <p:sp>
        <p:nvSpPr>
          <p:cNvPr id="33" name="Shape 31"/>
          <p:cNvSpPr/>
          <p:nvPr/>
        </p:nvSpPr>
        <p:spPr>
          <a:xfrm>
            <a:off x="2103120" y="3858768"/>
            <a:ext cx="118872" cy="146304"/>
          </a:xfrm>
          <a:prstGeom prst="rect">
            <a:avLst/>
          </a:prstGeom>
          <a:solidFill>
            <a:srgbClr val="2B2F3F"/>
          </a:solidFill>
          <a:ln w="6350">
            <a:solidFill>
              <a:srgbClr val="FFFFFF"/>
            </a:solidFill>
            <a:prstDash val="solid"/>
          </a:ln>
        </p:spPr>
      </p:sp>
      <p:sp>
        <p:nvSpPr>
          <p:cNvPr id="34" name="Shape 32"/>
          <p:cNvSpPr/>
          <p:nvPr/>
        </p:nvSpPr>
        <p:spPr>
          <a:xfrm>
            <a:off x="2221992" y="3858768"/>
            <a:ext cx="118872" cy="146304"/>
          </a:xfrm>
          <a:prstGeom prst="rect">
            <a:avLst/>
          </a:prstGeom>
          <a:solidFill>
            <a:srgbClr val="9AA0B8"/>
          </a:solidFill>
          <a:ln w="6350">
            <a:solidFill>
              <a:srgbClr val="FFFFFF"/>
            </a:solidFill>
            <a:prstDash val="solid"/>
          </a:ln>
        </p:spPr>
      </p:sp>
      <p:sp>
        <p:nvSpPr>
          <p:cNvPr id="35" name="Shape 33"/>
          <p:cNvSpPr/>
          <p:nvPr/>
        </p:nvSpPr>
        <p:spPr>
          <a:xfrm>
            <a:off x="2340864" y="3858768"/>
            <a:ext cx="118872" cy="146304"/>
          </a:xfrm>
          <a:prstGeom prst="rect">
            <a:avLst/>
          </a:prstGeom>
          <a:solidFill>
            <a:srgbClr val="2B2F3F"/>
          </a:solidFill>
          <a:ln w="6350">
            <a:solidFill>
              <a:srgbClr val="FFFFFF"/>
            </a:solidFill>
            <a:prstDash val="solid"/>
          </a:ln>
        </p:spPr>
      </p:sp>
      <p:sp>
        <p:nvSpPr>
          <p:cNvPr id="36" name="Shape 34"/>
          <p:cNvSpPr/>
          <p:nvPr/>
        </p:nvSpPr>
        <p:spPr>
          <a:xfrm>
            <a:off x="2459736" y="3858768"/>
            <a:ext cx="118872" cy="146304"/>
          </a:xfrm>
          <a:prstGeom prst="rect">
            <a:avLst/>
          </a:prstGeom>
          <a:solidFill>
            <a:srgbClr val="9AA0B8"/>
          </a:solidFill>
          <a:ln w="6350">
            <a:solidFill>
              <a:srgbClr val="FFFFFF"/>
            </a:solidFill>
            <a:prstDash val="solid"/>
          </a:ln>
        </p:spPr>
      </p:sp>
      <p:sp>
        <p:nvSpPr>
          <p:cNvPr id="37" name="Shape 35"/>
          <p:cNvSpPr/>
          <p:nvPr/>
        </p:nvSpPr>
        <p:spPr>
          <a:xfrm>
            <a:off x="2578608" y="3858768"/>
            <a:ext cx="118872" cy="146304"/>
          </a:xfrm>
          <a:prstGeom prst="rect">
            <a:avLst/>
          </a:prstGeom>
          <a:solidFill>
            <a:srgbClr val="2B2F3F"/>
          </a:solidFill>
          <a:ln w="6350">
            <a:solidFill>
              <a:srgbClr val="FFFFFF"/>
            </a:solidFill>
            <a:prstDash val="solid"/>
          </a:ln>
        </p:spPr>
      </p:sp>
      <p:sp>
        <p:nvSpPr>
          <p:cNvPr id="38" name="Shape 36"/>
          <p:cNvSpPr/>
          <p:nvPr/>
        </p:nvSpPr>
        <p:spPr>
          <a:xfrm>
            <a:off x="2697480" y="3858768"/>
            <a:ext cx="118872" cy="146304"/>
          </a:xfrm>
          <a:prstGeom prst="rect">
            <a:avLst/>
          </a:prstGeom>
          <a:solidFill>
            <a:srgbClr val="9AA0B8"/>
          </a:solidFill>
          <a:ln w="6350">
            <a:solidFill>
              <a:srgbClr val="FFFFFF"/>
            </a:solidFill>
            <a:prstDash val="solid"/>
          </a:ln>
        </p:spPr>
      </p:sp>
      <p:sp>
        <p:nvSpPr>
          <p:cNvPr id="39" name="Shape 37"/>
          <p:cNvSpPr/>
          <p:nvPr/>
        </p:nvSpPr>
        <p:spPr>
          <a:xfrm>
            <a:off x="2816352" y="3858768"/>
            <a:ext cx="118872" cy="146304"/>
          </a:xfrm>
          <a:prstGeom prst="rect">
            <a:avLst/>
          </a:prstGeom>
          <a:solidFill>
            <a:srgbClr val="2B2F3F"/>
          </a:solidFill>
          <a:ln w="6350">
            <a:solidFill>
              <a:srgbClr val="FFFFFF"/>
            </a:solidFill>
            <a:prstDash val="solid"/>
          </a:ln>
        </p:spPr>
      </p:sp>
      <p:sp>
        <p:nvSpPr>
          <p:cNvPr id="40" name="Shape 38"/>
          <p:cNvSpPr/>
          <p:nvPr/>
        </p:nvSpPr>
        <p:spPr>
          <a:xfrm>
            <a:off x="2935224" y="3858768"/>
            <a:ext cx="118872" cy="146304"/>
          </a:xfrm>
          <a:prstGeom prst="rect">
            <a:avLst/>
          </a:prstGeom>
          <a:solidFill>
            <a:srgbClr val="9AA0B8"/>
          </a:solidFill>
          <a:ln w="6350">
            <a:solidFill>
              <a:srgbClr val="FFFFFF"/>
            </a:solidFill>
            <a:prstDash val="solid"/>
          </a:ln>
        </p:spPr>
      </p:sp>
      <p:sp>
        <p:nvSpPr>
          <p:cNvPr id="41" name="Shape 39"/>
          <p:cNvSpPr/>
          <p:nvPr/>
        </p:nvSpPr>
        <p:spPr>
          <a:xfrm>
            <a:off x="3054096" y="3858768"/>
            <a:ext cx="118872" cy="146304"/>
          </a:xfrm>
          <a:prstGeom prst="rect">
            <a:avLst/>
          </a:prstGeom>
          <a:solidFill>
            <a:srgbClr val="2B2F3F"/>
          </a:solidFill>
          <a:ln w="6350">
            <a:solidFill>
              <a:srgbClr val="FFFFFF"/>
            </a:solidFill>
            <a:prstDash val="solid"/>
          </a:ln>
        </p:spPr>
      </p:sp>
      <p:sp>
        <p:nvSpPr>
          <p:cNvPr id="42" name="Text 40"/>
          <p:cNvSpPr txBox="1"/>
          <p:nvPr/>
        </p:nvSpPr>
        <p:spPr>
          <a:xfrm>
            <a:off x="2011680" y="4480560"/>
            <a:ext cx="1280160" cy="228600"/>
          </a:xfrm>
          <a:prstGeom prst="rect">
            <a:avLst/>
          </a:prstGeom>
          <a:noFill/>
          <a:ln/>
        </p:spPr>
        <p:txBody>
          <a:bodyPr wrap="square" lIns="0" tIns="0" rIns="0" bIns="0" rtlCol="0" anchor="ctr"/>
          <a:lstStyle/>
          <a:p>
            <a:pPr algn="ctr" indent="0" marL="0">
              <a:buNone/>
            </a:pPr>
            <a:r>
              <a:rPr lang="en-US" sz="1000" dirty="0">
                <a:solidFill>
                  <a:srgbClr val="5A6075"/>
                </a:solidFill>
              </a:rPr>
              <a:t>1 row of 4096</a:t>
            </a:r>
            <a:endParaRPr lang="en-US" sz="1000" dirty="0"/>
          </a:p>
        </p:txBody>
      </p:sp>
      <p:sp>
        <p:nvSpPr>
          <p:cNvPr id="43" name="Shape 41"/>
          <p:cNvSpPr/>
          <p:nvPr/>
        </p:nvSpPr>
        <p:spPr>
          <a:xfrm>
            <a:off x="3246120" y="3931920"/>
            <a:ext cx="365760" cy="914"/>
          </a:xfrm>
          <a:prstGeom prst="line">
            <a:avLst/>
          </a:prstGeom>
          <a:noFill/>
          <a:ln w="25400">
            <a:solidFill>
              <a:srgbClr val="E8833A"/>
            </a:solidFill>
            <a:prstDash val="solid"/>
            <a:tailEnd type="triangle"/>
          </a:ln>
        </p:spPr>
      </p:sp>
      <p:sp>
        <p:nvSpPr>
          <p:cNvPr id="44" name="X-0-0"/>
          <p:cNvSpPr/>
          <p:nvPr/>
        </p:nvSpPr>
        <p:spPr>
          <a:xfrm>
            <a:off x="3703320" y="3474720"/>
            <a:ext cx="118872" cy="118872"/>
          </a:xfrm>
          <a:prstGeom prst="rect">
            <a:avLst/>
          </a:prstGeom>
          <a:solidFill>
            <a:srgbClr val="2B2F3F"/>
          </a:solidFill>
          <a:ln w="6350">
            <a:solidFill>
              <a:srgbClr val="FFFFFF"/>
            </a:solidFill>
            <a:prstDash val="solid"/>
          </a:ln>
        </p:spPr>
      </p:sp>
      <p:sp>
        <p:nvSpPr>
          <p:cNvPr id="45" name="X-0-1"/>
          <p:cNvSpPr/>
          <p:nvPr/>
        </p:nvSpPr>
        <p:spPr>
          <a:xfrm>
            <a:off x="3822192" y="3474720"/>
            <a:ext cx="118872" cy="118872"/>
          </a:xfrm>
          <a:prstGeom prst="rect">
            <a:avLst/>
          </a:prstGeom>
          <a:solidFill>
            <a:srgbClr val="9AA0B8"/>
          </a:solidFill>
          <a:ln w="6350">
            <a:solidFill>
              <a:srgbClr val="FFFFFF"/>
            </a:solidFill>
            <a:prstDash val="solid"/>
          </a:ln>
        </p:spPr>
      </p:sp>
      <p:sp>
        <p:nvSpPr>
          <p:cNvPr id="46" name="X-0-2"/>
          <p:cNvSpPr/>
          <p:nvPr/>
        </p:nvSpPr>
        <p:spPr>
          <a:xfrm>
            <a:off x="3941064" y="3474720"/>
            <a:ext cx="118872" cy="118872"/>
          </a:xfrm>
          <a:prstGeom prst="rect">
            <a:avLst/>
          </a:prstGeom>
          <a:solidFill>
            <a:srgbClr val="2B2F3F"/>
          </a:solidFill>
          <a:ln w="6350">
            <a:solidFill>
              <a:srgbClr val="FFFFFF"/>
            </a:solidFill>
            <a:prstDash val="solid"/>
          </a:ln>
        </p:spPr>
      </p:sp>
      <p:sp>
        <p:nvSpPr>
          <p:cNvPr id="47" name="X-0-3"/>
          <p:cNvSpPr/>
          <p:nvPr/>
        </p:nvSpPr>
        <p:spPr>
          <a:xfrm>
            <a:off x="4059936" y="3474720"/>
            <a:ext cx="118872" cy="118872"/>
          </a:xfrm>
          <a:prstGeom prst="rect">
            <a:avLst/>
          </a:prstGeom>
          <a:solidFill>
            <a:srgbClr val="9AA0B8"/>
          </a:solidFill>
          <a:ln w="6350">
            <a:solidFill>
              <a:srgbClr val="FFFFFF"/>
            </a:solidFill>
            <a:prstDash val="solid"/>
          </a:ln>
        </p:spPr>
      </p:sp>
      <p:sp>
        <p:nvSpPr>
          <p:cNvPr id="48" name="X-0-4"/>
          <p:cNvSpPr/>
          <p:nvPr/>
        </p:nvSpPr>
        <p:spPr>
          <a:xfrm>
            <a:off x="4178808" y="3474720"/>
            <a:ext cx="118872" cy="118872"/>
          </a:xfrm>
          <a:prstGeom prst="rect">
            <a:avLst/>
          </a:prstGeom>
          <a:solidFill>
            <a:srgbClr val="2B2F3F"/>
          </a:solidFill>
          <a:ln w="6350">
            <a:solidFill>
              <a:srgbClr val="FFFFFF"/>
            </a:solidFill>
            <a:prstDash val="solid"/>
          </a:ln>
        </p:spPr>
      </p:sp>
      <p:sp>
        <p:nvSpPr>
          <p:cNvPr id="49" name="X-0-5"/>
          <p:cNvSpPr/>
          <p:nvPr/>
        </p:nvSpPr>
        <p:spPr>
          <a:xfrm>
            <a:off x="4297680" y="3474720"/>
            <a:ext cx="118872" cy="118872"/>
          </a:xfrm>
          <a:prstGeom prst="rect">
            <a:avLst/>
          </a:prstGeom>
          <a:solidFill>
            <a:srgbClr val="9AA0B8"/>
          </a:solidFill>
          <a:ln w="6350">
            <a:solidFill>
              <a:srgbClr val="FFFFFF"/>
            </a:solidFill>
            <a:prstDash val="solid"/>
          </a:ln>
        </p:spPr>
      </p:sp>
      <p:sp>
        <p:nvSpPr>
          <p:cNvPr id="50" name="X-0-6"/>
          <p:cNvSpPr/>
          <p:nvPr/>
        </p:nvSpPr>
        <p:spPr>
          <a:xfrm>
            <a:off x="4416552" y="3474720"/>
            <a:ext cx="118872" cy="118872"/>
          </a:xfrm>
          <a:prstGeom prst="rect">
            <a:avLst/>
          </a:prstGeom>
          <a:solidFill>
            <a:srgbClr val="2B2F3F"/>
          </a:solidFill>
          <a:ln w="6350">
            <a:solidFill>
              <a:srgbClr val="FFFFFF"/>
            </a:solidFill>
            <a:prstDash val="solid"/>
          </a:ln>
        </p:spPr>
      </p:sp>
      <p:sp>
        <p:nvSpPr>
          <p:cNvPr id="51" name="X-0-7"/>
          <p:cNvSpPr/>
          <p:nvPr/>
        </p:nvSpPr>
        <p:spPr>
          <a:xfrm>
            <a:off x="4535424" y="3474720"/>
            <a:ext cx="118872" cy="118872"/>
          </a:xfrm>
          <a:prstGeom prst="rect">
            <a:avLst/>
          </a:prstGeom>
          <a:solidFill>
            <a:srgbClr val="9AA0B8"/>
          </a:solidFill>
          <a:ln w="6350">
            <a:solidFill>
              <a:srgbClr val="FFFFFF"/>
            </a:solidFill>
            <a:prstDash val="solid"/>
          </a:ln>
        </p:spPr>
      </p:sp>
      <p:sp>
        <p:nvSpPr>
          <p:cNvPr id="52" name="X-0-8"/>
          <p:cNvSpPr/>
          <p:nvPr/>
        </p:nvSpPr>
        <p:spPr>
          <a:xfrm>
            <a:off x="4654296" y="3474720"/>
            <a:ext cx="118872" cy="118872"/>
          </a:xfrm>
          <a:prstGeom prst="rect">
            <a:avLst/>
          </a:prstGeom>
          <a:solidFill>
            <a:srgbClr val="2B2F3F"/>
          </a:solidFill>
          <a:ln w="6350">
            <a:solidFill>
              <a:srgbClr val="FFFFFF"/>
            </a:solidFill>
            <a:prstDash val="solid"/>
          </a:ln>
        </p:spPr>
      </p:sp>
      <p:sp>
        <p:nvSpPr>
          <p:cNvPr id="53" name="X-1-0"/>
          <p:cNvSpPr/>
          <p:nvPr/>
        </p:nvSpPr>
        <p:spPr>
          <a:xfrm>
            <a:off x="3703320" y="3593592"/>
            <a:ext cx="118872" cy="118872"/>
          </a:xfrm>
          <a:prstGeom prst="rect">
            <a:avLst/>
          </a:prstGeom>
          <a:solidFill>
            <a:srgbClr val="4A5068"/>
          </a:solidFill>
          <a:ln w="6350">
            <a:solidFill>
              <a:srgbClr val="FFFFFF"/>
            </a:solidFill>
            <a:prstDash val="solid"/>
          </a:ln>
        </p:spPr>
      </p:sp>
      <p:sp>
        <p:nvSpPr>
          <p:cNvPr id="54" name="X-1-1"/>
          <p:cNvSpPr/>
          <p:nvPr/>
        </p:nvSpPr>
        <p:spPr>
          <a:xfrm>
            <a:off x="3822192" y="3593592"/>
            <a:ext cx="118872" cy="118872"/>
          </a:xfrm>
          <a:prstGeom prst="rect">
            <a:avLst/>
          </a:prstGeom>
          <a:solidFill>
            <a:srgbClr val="C4C9D9"/>
          </a:solidFill>
          <a:ln w="6350">
            <a:solidFill>
              <a:srgbClr val="FFFFFF"/>
            </a:solidFill>
            <a:prstDash val="solid"/>
          </a:ln>
        </p:spPr>
      </p:sp>
      <p:sp>
        <p:nvSpPr>
          <p:cNvPr id="55" name="X-1-2"/>
          <p:cNvSpPr/>
          <p:nvPr/>
        </p:nvSpPr>
        <p:spPr>
          <a:xfrm>
            <a:off x="3941064" y="3593592"/>
            <a:ext cx="118872" cy="118872"/>
          </a:xfrm>
          <a:prstGeom prst="rect">
            <a:avLst/>
          </a:prstGeom>
          <a:solidFill>
            <a:srgbClr val="4A5068"/>
          </a:solidFill>
          <a:ln w="6350">
            <a:solidFill>
              <a:srgbClr val="FFFFFF"/>
            </a:solidFill>
            <a:prstDash val="solid"/>
          </a:ln>
        </p:spPr>
      </p:sp>
      <p:sp>
        <p:nvSpPr>
          <p:cNvPr id="56" name="X-1-3"/>
          <p:cNvSpPr/>
          <p:nvPr/>
        </p:nvSpPr>
        <p:spPr>
          <a:xfrm>
            <a:off x="4059936" y="3593592"/>
            <a:ext cx="118872" cy="118872"/>
          </a:xfrm>
          <a:prstGeom prst="rect">
            <a:avLst/>
          </a:prstGeom>
          <a:solidFill>
            <a:srgbClr val="C4C9D9"/>
          </a:solidFill>
          <a:ln w="6350">
            <a:solidFill>
              <a:srgbClr val="FFFFFF"/>
            </a:solidFill>
            <a:prstDash val="solid"/>
          </a:ln>
        </p:spPr>
      </p:sp>
      <p:sp>
        <p:nvSpPr>
          <p:cNvPr id="57" name="X-1-4"/>
          <p:cNvSpPr/>
          <p:nvPr/>
        </p:nvSpPr>
        <p:spPr>
          <a:xfrm>
            <a:off x="4178808" y="3593592"/>
            <a:ext cx="118872" cy="118872"/>
          </a:xfrm>
          <a:prstGeom prst="rect">
            <a:avLst/>
          </a:prstGeom>
          <a:solidFill>
            <a:srgbClr val="4A5068"/>
          </a:solidFill>
          <a:ln w="6350">
            <a:solidFill>
              <a:srgbClr val="FFFFFF"/>
            </a:solidFill>
            <a:prstDash val="solid"/>
          </a:ln>
        </p:spPr>
      </p:sp>
      <p:sp>
        <p:nvSpPr>
          <p:cNvPr id="58" name="X-1-5"/>
          <p:cNvSpPr/>
          <p:nvPr/>
        </p:nvSpPr>
        <p:spPr>
          <a:xfrm>
            <a:off x="4297680" y="3593592"/>
            <a:ext cx="118872" cy="118872"/>
          </a:xfrm>
          <a:prstGeom prst="rect">
            <a:avLst/>
          </a:prstGeom>
          <a:solidFill>
            <a:srgbClr val="C4C9D9"/>
          </a:solidFill>
          <a:ln w="6350">
            <a:solidFill>
              <a:srgbClr val="FFFFFF"/>
            </a:solidFill>
            <a:prstDash val="solid"/>
          </a:ln>
        </p:spPr>
      </p:sp>
      <p:sp>
        <p:nvSpPr>
          <p:cNvPr id="59" name="X-1-6"/>
          <p:cNvSpPr/>
          <p:nvPr/>
        </p:nvSpPr>
        <p:spPr>
          <a:xfrm>
            <a:off x="4416552" y="3593592"/>
            <a:ext cx="118872" cy="118872"/>
          </a:xfrm>
          <a:prstGeom prst="rect">
            <a:avLst/>
          </a:prstGeom>
          <a:solidFill>
            <a:srgbClr val="4A5068"/>
          </a:solidFill>
          <a:ln w="6350">
            <a:solidFill>
              <a:srgbClr val="FFFFFF"/>
            </a:solidFill>
            <a:prstDash val="solid"/>
          </a:ln>
        </p:spPr>
      </p:sp>
      <p:sp>
        <p:nvSpPr>
          <p:cNvPr id="60" name="X-1-7"/>
          <p:cNvSpPr/>
          <p:nvPr/>
        </p:nvSpPr>
        <p:spPr>
          <a:xfrm>
            <a:off x="4535424" y="3593592"/>
            <a:ext cx="118872" cy="118872"/>
          </a:xfrm>
          <a:prstGeom prst="rect">
            <a:avLst/>
          </a:prstGeom>
          <a:solidFill>
            <a:srgbClr val="C4C9D9"/>
          </a:solidFill>
          <a:ln w="6350">
            <a:solidFill>
              <a:srgbClr val="FFFFFF"/>
            </a:solidFill>
            <a:prstDash val="solid"/>
          </a:ln>
        </p:spPr>
      </p:sp>
      <p:sp>
        <p:nvSpPr>
          <p:cNvPr id="61" name="X-1-8"/>
          <p:cNvSpPr/>
          <p:nvPr/>
        </p:nvSpPr>
        <p:spPr>
          <a:xfrm>
            <a:off x="4654296" y="3593592"/>
            <a:ext cx="118872" cy="118872"/>
          </a:xfrm>
          <a:prstGeom prst="rect">
            <a:avLst/>
          </a:prstGeom>
          <a:solidFill>
            <a:srgbClr val="4A5068"/>
          </a:solidFill>
          <a:ln w="6350">
            <a:solidFill>
              <a:srgbClr val="FFFFFF"/>
            </a:solidFill>
            <a:prstDash val="solid"/>
          </a:ln>
        </p:spPr>
      </p:sp>
      <p:sp>
        <p:nvSpPr>
          <p:cNvPr id="62" name="X-2-0"/>
          <p:cNvSpPr/>
          <p:nvPr/>
        </p:nvSpPr>
        <p:spPr>
          <a:xfrm>
            <a:off x="3703320" y="3712464"/>
            <a:ext cx="118872" cy="118872"/>
          </a:xfrm>
          <a:prstGeom prst="rect">
            <a:avLst/>
          </a:prstGeom>
          <a:solidFill>
            <a:srgbClr val="6E7590"/>
          </a:solidFill>
          <a:ln w="6350">
            <a:solidFill>
              <a:srgbClr val="FFFFFF"/>
            </a:solidFill>
            <a:prstDash val="solid"/>
          </a:ln>
        </p:spPr>
      </p:sp>
      <p:sp>
        <p:nvSpPr>
          <p:cNvPr id="63" name="X-2-1"/>
          <p:cNvSpPr/>
          <p:nvPr/>
        </p:nvSpPr>
        <p:spPr>
          <a:xfrm>
            <a:off x="3822192" y="3712464"/>
            <a:ext cx="118872" cy="118872"/>
          </a:xfrm>
          <a:prstGeom prst="rect">
            <a:avLst/>
          </a:prstGeom>
          <a:solidFill>
            <a:srgbClr val="E4E7F0"/>
          </a:solidFill>
          <a:ln w="6350">
            <a:solidFill>
              <a:srgbClr val="FFFFFF"/>
            </a:solidFill>
            <a:prstDash val="solid"/>
          </a:ln>
        </p:spPr>
      </p:sp>
      <p:sp>
        <p:nvSpPr>
          <p:cNvPr id="64" name="X-2-2"/>
          <p:cNvSpPr/>
          <p:nvPr/>
        </p:nvSpPr>
        <p:spPr>
          <a:xfrm>
            <a:off x="3941064" y="3712464"/>
            <a:ext cx="118872" cy="118872"/>
          </a:xfrm>
          <a:prstGeom prst="rect">
            <a:avLst/>
          </a:prstGeom>
          <a:solidFill>
            <a:srgbClr val="6E7590"/>
          </a:solidFill>
          <a:ln w="6350">
            <a:solidFill>
              <a:srgbClr val="FFFFFF"/>
            </a:solidFill>
            <a:prstDash val="solid"/>
          </a:ln>
        </p:spPr>
      </p:sp>
      <p:sp>
        <p:nvSpPr>
          <p:cNvPr id="65" name="X-2-3"/>
          <p:cNvSpPr/>
          <p:nvPr/>
        </p:nvSpPr>
        <p:spPr>
          <a:xfrm>
            <a:off x="4059936" y="3712464"/>
            <a:ext cx="118872" cy="118872"/>
          </a:xfrm>
          <a:prstGeom prst="rect">
            <a:avLst/>
          </a:prstGeom>
          <a:solidFill>
            <a:srgbClr val="E4E7F0"/>
          </a:solidFill>
          <a:ln w="6350">
            <a:solidFill>
              <a:srgbClr val="FFFFFF"/>
            </a:solidFill>
            <a:prstDash val="solid"/>
          </a:ln>
        </p:spPr>
      </p:sp>
      <p:sp>
        <p:nvSpPr>
          <p:cNvPr id="66" name="X-2-4"/>
          <p:cNvSpPr/>
          <p:nvPr/>
        </p:nvSpPr>
        <p:spPr>
          <a:xfrm>
            <a:off x="4178808" y="3712464"/>
            <a:ext cx="118872" cy="118872"/>
          </a:xfrm>
          <a:prstGeom prst="rect">
            <a:avLst/>
          </a:prstGeom>
          <a:solidFill>
            <a:srgbClr val="6E7590"/>
          </a:solidFill>
          <a:ln w="6350">
            <a:solidFill>
              <a:srgbClr val="FFFFFF"/>
            </a:solidFill>
            <a:prstDash val="solid"/>
          </a:ln>
        </p:spPr>
      </p:sp>
      <p:sp>
        <p:nvSpPr>
          <p:cNvPr id="67" name="X-2-5"/>
          <p:cNvSpPr/>
          <p:nvPr/>
        </p:nvSpPr>
        <p:spPr>
          <a:xfrm>
            <a:off x="4297680" y="3712464"/>
            <a:ext cx="118872" cy="118872"/>
          </a:xfrm>
          <a:prstGeom prst="rect">
            <a:avLst/>
          </a:prstGeom>
          <a:solidFill>
            <a:srgbClr val="E4E7F0"/>
          </a:solidFill>
          <a:ln w="6350">
            <a:solidFill>
              <a:srgbClr val="FFFFFF"/>
            </a:solidFill>
            <a:prstDash val="solid"/>
          </a:ln>
        </p:spPr>
      </p:sp>
      <p:sp>
        <p:nvSpPr>
          <p:cNvPr id="68" name="X-2-6"/>
          <p:cNvSpPr/>
          <p:nvPr/>
        </p:nvSpPr>
        <p:spPr>
          <a:xfrm>
            <a:off x="4416552" y="3712464"/>
            <a:ext cx="118872" cy="118872"/>
          </a:xfrm>
          <a:prstGeom prst="rect">
            <a:avLst/>
          </a:prstGeom>
          <a:solidFill>
            <a:srgbClr val="6E7590"/>
          </a:solidFill>
          <a:ln w="6350">
            <a:solidFill>
              <a:srgbClr val="FFFFFF"/>
            </a:solidFill>
            <a:prstDash val="solid"/>
          </a:ln>
        </p:spPr>
      </p:sp>
      <p:sp>
        <p:nvSpPr>
          <p:cNvPr id="69" name="X-2-7"/>
          <p:cNvSpPr/>
          <p:nvPr/>
        </p:nvSpPr>
        <p:spPr>
          <a:xfrm>
            <a:off x="4535424" y="3712464"/>
            <a:ext cx="118872" cy="118872"/>
          </a:xfrm>
          <a:prstGeom prst="rect">
            <a:avLst/>
          </a:prstGeom>
          <a:solidFill>
            <a:srgbClr val="E4E7F0"/>
          </a:solidFill>
          <a:ln w="6350">
            <a:solidFill>
              <a:srgbClr val="FFFFFF"/>
            </a:solidFill>
            <a:prstDash val="solid"/>
          </a:ln>
        </p:spPr>
      </p:sp>
      <p:sp>
        <p:nvSpPr>
          <p:cNvPr id="70" name="X-2-8"/>
          <p:cNvSpPr/>
          <p:nvPr/>
        </p:nvSpPr>
        <p:spPr>
          <a:xfrm>
            <a:off x="4654296" y="3712464"/>
            <a:ext cx="118872" cy="118872"/>
          </a:xfrm>
          <a:prstGeom prst="rect">
            <a:avLst/>
          </a:prstGeom>
          <a:solidFill>
            <a:srgbClr val="6E7590"/>
          </a:solidFill>
          <a:ln w="6350">
            <a:solidFill>
              <a:srgbClr val="FFFFFF"/>
            </a:solidFill>
            <a:prstDash val="solid"/>
          </a:ln>
        </p:spPr>
      </p:sp>
      <p:sp>
        <p:nvSpPr>
          <p:cNvPr id="71" name="X-3-0"/>
          <p:cNvSpPr/>
          <p:nvPr/>
        </p:nvSpPr>
        <p:spPr>
          <a:xfrm>
            <a:off x="3703320" y="3831336"/>
            <a:ext cx="118872" cy="118872"/>
          </a:xfrm>
          <a:prstGeom prst="rect">
            <a:avLst/>
          </a:prstGeom>
          <a:solidFill>
            <a:srgbClr val="9AA0B8"/>
          </a:solidFill>
          <a:ln w="6350">
            <a:solidFill>
              <a:srgbClr val="FFFFFF"/>
            </a:solidFill>
            <a:prstDash val="solid"/>
          </a:ln>
        </p:spPr>
      </p:sp>
      <p:sp>
        <p:nvSpPr>
          <p:cNvPr id="72" name="X-3-1"/>
          <p:cNvSpPr/>
          <p:nvPr/>
        </p:nvSpPr>
        <p:spPr>
          <a:xfrm>
            <a:off x="3822192" y="3831336"/>
            <a:ext cx="118872" cy="118872"/>
          </a:xfrm>
          <a:prstGeom prst="rect">
            <a:avLst/>
          </a:prstGeom>
          <a:solidFill>
            <a:srgbClr val="2B2F3F"/>
          </a:solidFill>
          <a:ln w="6350">
            <a:solidFill>
              <a:srgbClr val="FFFFFF"/>
            </a:solidFill>
            <a:prstDash val="solid"/>
          </a:ln>
        </p:spPr>
      </p:sp>
      <p:sp>
        <p:nvSpPr>
          <p:cNvPr id="73" name="X-3-2"/>
          <p:cNvSpPr/>
          <p:nvPr/>
        </p:nvSpPr>
        <p:spPr>
          <a:xfrm>
            <a:off x="3941064" y="3831336"/>
            <a:ext cx="118872" cy="118872"/>
          </a:xfrm>
          <a:prstGeom prst="rect">
            <a:avLst/>
          </a:prstGeom>
          <a:solidFill>
            <a:srgbClr val="9AA0B8"/>
          </a:solidFill>
          <a:ln w="6350">
            <a:solidFill>
              <a:srgbClr val="FFFFFF"/>
            </a:solidFill>
            <a:prstDash val="solid"/>
          </a:ln>
        </p:spPr>
      </p:sp>
      <p:sp>
        <p:nvSpPr>
          <p:cNvPr id="74" name="X-3-3"/>
          <p:cNvSpPr/>
          <p:nvPr/>
        </p:nvSpPr>
        <p:spPr>
          <a:xfrm>
            <a:off x="4059936" y="3831336"/>
            <a:ext cx="118872" cy="118872"/>
          </a:xfrm>
          <a:prstGeom prst="rect">
            <a:avLst/>
          </a:prstGeom>
          <a:solidFill>
            <a:srgbClr val="2B2F3F"/>
          </a:solidFill>
          <a:ln w="6350">
            <a:solidFill>
              <a:srgbClr val="FFFFFF"/>
            </a:solidFill>
            <a:prstDash val="solid"/>
          </a:ln>
        </p:spPr>
      </p:sp>
      <p:sp>
        <p:nvSpPr>
          <p:cNvPr id="75" name="X-3-4"/>
          <p:cNvSpPr/>
          <p:nvPr/>
        </p:nvSpPr>
        <p:spPr>
          <a:xfrm>
            <a:off x="4178808" y="3831336"/>
            <a:ext cx="118872" cy="118872"/>
          </a:xfrm>
          <a:prstGeom prst="rect">
            <a:avLst/>
          </a:prstGeom>
          <a:solidFill>
            <a:srgbClr val="9AA0B8"/>
          </a:solidFill>
          <a:ln w="6350">
            <a:solidFill>
              <a:srgbClr val="FFFFFF"/>
            </a:solidFill>
            <a:prstDash val="solid"/>
          </a:ln>
        </p:spPr>
      </p:sp>
      <p:sp>
        <p:nvSpPr>
          <p:cNvPr id="76" name="X-3-5"/>
          <p:cNvSpPr/>
          <p:nvPr/>
        </p:nvSpPr>
        <p:spPr>
          <a:xfrm>
            <a:off x="4297680" y="3831336"/>
            <a:ext cx="118872" cy="118872"/>
          </a:xfrm>
          <a:prstGeom prst="rect">
            <a:avLst/>
          </a:prstGeom>
          <a:solidFill>
            <a:srgbClr val="2B2F3F"/>
          </a:solidFill>
          <a:ln w="6350">
            <a:solidFill>
              <a:srgbClr val="FFFFFF"/>
            </a:solidFill>
            <a:prstDash val="solid"/>
          </a:ln>
        </p:spPr>
      </p:sp>
      <p:sp>
        <p:nvSpPr>
          <p:cNvPr id="77" name="X-3-6"/>
          <p:cNvSpPr/>
          <p:nvPr/>
        </p:nvSpPr>
        <p:spPr>
          <a:xfrm>
            <a:off x="4416552" y="3831336"/>
            <a:ext cx="118872" cy="118872"/>
          </a:xfrm>
          <a:prstGeom prst="rect">
            <a:avLst/>
          </a:prstGeom>
          <a:solidFill>
            <a:srgbClr val="9AA0B8"/>
          </a:solidFill>
          <a:ln w="6350">
            <a:solidFill>
              <a:srgbClr val="FFFFFF"/>
            </a:solidFill>
            <a:prstDash val="solid"/>
          </a:ln>
        </p:spPr>
      </p:sp>
      <p:sp>
        <p:nvSpPr>
          <p:cNvPr id="78" name="X-3-7"/>
          <p:cNvSpPr/>
          <p:nvPr/>
        </p:nvSpPr>
        <p:spPr>
          <a:xfrm>
            <a:off x="4535424" y="3831336"/>
            <a:ext cx="118872" cy="118872"/>
          </a:xfrm>
          <a:prstGeom prst="rect">
            <a:avLst/>
          </a:prstGeom>
          <a:solidFill>
            <a:srgbClr val="2B2F3F"/>
          </a:solidFill>
          <a:ln w="6350">
            <a:solidFill>
              <a:srgbClr val="FFFFFF"/>
            </a:solidFill>
            <a:prstDash val="solid"/>
          </a:ln>
        </p:spPr>
      </p:sp>
      <p:sp>
        <p:nvSpPr>
          <p:cNvPr id="79" name="X-3-8"/>
          <p:cNvSpPr/>
          <p:nvPr/>
        </p:nvSpPr>
        <p:spPr>
          <a:xfrm>
            <a:off x="4654296" y="3831336"/>
            <a:ext cx="118872" cy="118872"/>
          </a:xfrm>
          <a:prstGeom prst="rect">
            <a:avLst/>
          </a:prstGeom>
          <a:solidFill>
            <a:srgbClr val="9AA0B8"/>
          </a:solidFill>
          <a:ln w="6350">
            <a:solidFill>
              <a:srgbClr val="FFFFFF"/>
            </a:solidFill>
            <a:prstDash val="solid"/>
          </a:ln>
        </p:spPr>
      </p:sp>
      <p:sp>
        <p:nvSpPr>
          <p:cNvPr id="80" name="X-4-0"/>
          <p:cNvSpPr/>
          <p:nvPr/>
        </p:nvSpPr>
        <p:spPr>
          <a:xfrm>
            <a:off x="3703320" y="3950208"/>
            <a:ext cx="118872" cy="118872"/>
          </a:xfrm>
          <a:prstGeom prst="rect">
            <a:avLst/>
          </a:prstGeom>
          <a:solidFill>
            <a:srgbClr val="C4C9D9"/>
          </a:solidFill>
          <a:ln w="6350">
            <a:solidFill>
              <a:srgbClr val="FFFFFF"/>
            </a:solidFill>
            <a:prstDash val="solid"/>
          </a:ln>
        </p:spPr>
      </p:sp>
      <p:sp>
        <p:nvSpPr>
          <p:cNvPr id="81" name="X-4-1"/>
          <p:cNvSpPr/>
          <p:nvPr/>
        </p:nvSpPr>
        <p:spPr>
          <a:xfrm>
            <a:off x="3822192" y="3950208"/>
            <a:ext cx="118872" cy="118872"/>
          </a:xfrm>
          <a:prstGeom prst="rect">
            <a:avLst/>
          </a:prstGeom>
          <a:solidFill>
            <a:srgbClr val="4A5068"/>
          </a:solidFill>
          <a:ln w="6350">
            <a:solidFill>
              <a:srgbClr val="FFFFFF"/>
            </a:solidFill>
            <a:prstDash val="solid"/>
          </a:ln>
        </p:spPr>
      </p:sp>
      <p:sp>
        <p:nvSpPr>
          <p:cNvPr id="82" name="X-4-2"/>
          <p:cNvSpPr/>
          <p:nvPr/>
        </p:nvSpPr>
        <p:spPr>
          <a:xfrm>
            <a:off x="3941064" y="3950208"/>
            <a:ext cx="118872" cy="118872"/>
          </a:xfrm>
          <a:prstGeom prst="rect">
            <a:avLst/>
          </a:prstGeom>
          <a:solidFill>
            <a:srgbClr val="C4C9D9"/>
          </a:solidFill>
          <a:ln w="6350">
            <a:solidFill>
              <a:srgbClr val="FFFFFF"/>
            </a:solidFill>
            <a:prstDash val="solid"/>
          </a:ln>
        </p:spPr>
      </p:sp>
      <p:sp>
        <p:nvSpPr>
          <p:cNvPr id="83" name="X-4-3"/>
          <p:cNvSpPr/>
          <p:nvPr/>
        </p:nvSpPr>
        <p:spPr>
          <a:xfrm>
            <a:off x="4059936" y="3950208"/>
            <a:ext cx="118872" cy="118872"/>
          </a:xfrm>
          <a:prstGeom prst="rect">
            <a:avLst/>
          </a:prstGeom>
          <a:solidFill>
            <a:srgbClr val="4A5068"/>
          </a:solidFill>
          <a:ln w="6350">
            <a:solidFill>
              <a:srgbClr val="FFFFFF"/>
            </a:solidFill>
            <a:prstDash val="solid"/>
          </a:ln>
        </p:spPr>
      </p:sp>
      <p:sp>
        <p:nvSpPr>
          <p:cNvPr id="84" name="X-4-4"/>
          <p:cNvSpPr/>
          <p:nvPr/>
        </p:nvSpPr>
        <p:spPr>
          <a:xfrm>
            <a:off x="4178808" y="3950208"/>
            <a:ext cx="118872" cy="118872"/>
          </a:xfrm>
          <a:prstGeom prst="rect">
            <a:avLst/>
          </a:prstGeom>
          <a:solidFill>
            <a:srgbClr val="C4C9D9"/>
          </a:solidFill>
          <a:ln w="6350">
            <a:solidFill>
              <a:srgbClr val="FFFFFF"/>
            </a:solidFill>
            <a:prstDash val="solid"/>
          </a:ln>
        </p:spPr>
      </p:sp>
      <p:sp>
        <p:nvSpPr>
          <p:cNvPr id="85" name="X-4-5"/>
          <p:cNvSpPr/>
          <p:nvPr/>
        </p:nvSpPr>
        <p:spPr>
          <a:xfrm>
            <a:off x="4297680" y="3950208"/>
            <a:ext cx="118872" cy="118872"/>
          </a:xfrm>
          <a:prstGeom prst="rect">
            <a:avLst/>
          </a:prstGeom>
          <a:solidFill>
            <a:srgbClr val="4A5068"/>
          </a:solidFill>
          <a:ln w="6350">
            <a:solidFill>
              <a:srgbClr val="FFFFFF"/>
            </a:solidFill>
            <a:prstDash val="solid"/>
          </a:ln>
        </p:spPr>
      </p:sp>
      <p:sp>
        <p:nvSpPr>
          <p:cNvPr id="86" name="X-4-6"/>
          <p:cNvSpPr/>
          <p:nvPr/>
        </p:nvSpPr>
        <p:spPr>
          <a:xfrm>
            <a:off x="4416552" y="3950208"/>
            <a:ext cx="118872" cy="118872"/>
          </a:xfrm>
          <a:prstGeom prst="rect">
            <a:avLst/>
          </a:prstGeom>
          <a:solidFill>
            <a:srgbClr val="C4C9D9"/>
          </a:solidFill>
          <a:ln w="6350">
            <a:solidFill>
              <a:srgbClr val="FFFFFF"/>
            </a:solidFill>
            <a:prstDash val="solid"/>
          </a:ln>
        </p:spPr>
      </p:sp>
      <p:sp>
        <p:nvSpPr>
          <p:cNvPr id="87" name="X-4-7"/>
          <p:cNvSpPr/>
          <p:nvPr/>
        </p:nvSpPr>
        <p:spPr>
          <a:xfrm>
            <a:off x="4535424" y="3950208"/>
            <a:ext cx="118872" cy="118872"/>
          </a:xfrm>
          <a:prstGeom prst="rect">
            <a:avLst/>
          </a:prstGeom>
          <a:solidFill>
            <a:srgbClr val="4A5068"/>
          </a:solidFill>
          <a:ln w="6350">
            <a:solidFill>
              <a:srgbClr val="FFFFFF"/>
            </a:solidFill>
            <a:prstDash val="solid"/>
          </a:ln>
        </p:spPr>
      </p:sp>
      <p:sp>
        <p:nvSpPr>
          <p:cNvPr id="88" name="X-4-8"/>
          <p:cNvSpPr/>
          <p:nvPr/>
        </p:nvSpPr>
        <p:spPr>
          <a:xfrm>
            <a:off x="4654296" y="3950208"/>
            <a:ext cx="118872" cy="118872"/>
          </a:xfrm>
          <a:prstGeom prst="rect">
            <a:avLst/>
          </a:prstGeom>
          <a:solidFill>
            <a:srgbClr val="C4C9D9"/>
          </a:solidFill>
          <a:ln w="6350">
            <a:solidFill>
              <a:srgbClr val="FFFFFF"/>
            </a:solidFill>
            <a:prstDash val="solid"/>
          </a:ln>
        </p:spPr>
      </p:sp>
      <p:sp>
        <p:nvSpPr>
          <p:cNvPr id="89" name="X-5-0"/>
          <p:cNvSpPr/>
          <p:nvPr/>
        </p:nvSpPr>
        <p:spPr>
          <a:xfrm>
            <a:off x="3703320" y="4069080"/>
            <a:ext cx="118872" cy="118872"/>
          </a:xfrm>
          <a:prstGeom prst="rect">
            <a:avLst/>
          </a:prstGeom>
          <a:solidFill>
            <a:srgbClr val="E4E7F0"/>
          </a:solidFill>
          <a:ln w="6350">
            <a:solidFill>
              <a:srgbClr val="FFFFFF"/>
            </a:solidFill>
            <a:prstDash val="solid"/>
          </a:ln>
        </p:spPr>
      </p:sp>
      <p:sp>
        <p:nvSpPr>
          <p:cNvPr id="90" name="X-5-1"/>
          <p:cNvSpPr/>
          <p:nvPr/>
        </p:nvSpPr>
        <p:spPr>
          <a:xfrm>
            <a:off x="3822192" y="4069080"/>
            <a:ext cx="118872" cy="118872"/>
          </a:xfrm>
          <a:prstGeom prst="rect">
            <a:avLst/>
          </a:prstGeom>
          <a:solidFill>
            <a:srgbClr val="6E7590"/>
          </a:solidFill>
          <a:ln w="6350">
            <a:solidFill>
              <a:srgbClr val="FFFFFF"/>
            </a:solidFill>
            <a:prstDash val="solid"/>
          </a:ln>
        </p:spPr>
      </p:sp>
      <p:sp>
        <p:nvSpPr>
          <p:cNvPr id="91" name="X-5-2"/>
          <p:cNvSpPr/>
          <p:nvPr/>
        </p:nvSpPr>
        <p:spPr>
          <a:xfrm>
            <a:off x="3941064" y="4069080"/>
            <a:ext cx="118872" cy="118872"/>
          </a:xfrm>
          <a:prstGeom prst="rect">
            <a:avLst/>
          </a:prstGeom>
          <a:solidFill>
            <a:srgbClr val="E4E7F0"/>
          </a:solidFill>
          <a:ln w="6350">
            <a:solidFill>
              <a:srgbClr val="FFFFFF"/>
            </a:solidFill>
            <a:prstDash val="solid"/>
          </a:ln>
        </p:spPr>
      </p:sp>
      <p:sp>
        <p:nvSpPr>
          <p:cNvPr id="92" name="X-5-3"/>
          <p:cNvSpPr/>
          <p:nvPr/>
        </p:nvSpPr>
        <p:spPr>
          <a:xfrm>
            <a:off x="4059936" y="4069080"/>
            <a:ext cx="118872" cy="118872"/>
          </a:xfrm>
          <a:prstGeom prst="rect">
            <a:avLst/>
          </a:prstGeom>
          <a:solidFill>
            <a:srgbClr val="6E7590"/>
          </a:solidFill>
          <a:ln w="6350">
            <a:solidFill>
              <a:srgbClr val="FFFFFF"/>
            </a:solidFill>
            <a:prstDash val="solid"/>
          </a:ln>
        </p:spPr>
      </p:sp>
      <p:sp>
        <p:nvSpPr>
          <p:cNvPr id="93" name="X-5-4"/>
          <p:cNvSpPr/>
          <p:nvPr/>
        </p:nvSpPr>
        <p:spPr>
          <a:xfrm>
            <a:off x="4178808" y="4069080"/>
            <a:ext cx="118872" cy="118872"/>
          </a:xfrm>
          <a:prstGeom prst="rect">
            <a:avLst/>
          </a:prstGeom>
          <a:solidFill>
            <a:srgbClr val="E4E7F0"/>
          </a:solidFill>
          <a:ln w="6350">
            <a:solidFill>
              <a:srgbClr val="FFFFFF"/>
            </a:solidFill>
            <a:prstDash val="solid"/>
          </a:ln>
        </p:spPr>
      </p:sp>
      <p:sp>
        <p:nvSpPr>
          <p:cNvPr id="94" name="X-5-5"/>
          <p:cNvSpPr/>
          <p:nvPr/>
        </p:nvSpPr>
        <p:spPr>
          <a:xfrm>
            <a:off x="4297680" y="4069080"/>
            <a:ext cx="118872" cy="118872"/>
          </a:xfrm>
          <a:prstGeom prst="rect">
            <a:avLst/>
          </a:prstGeom>
          <a:solidFill>
            <a:srgbClr val="6E7590"/>
          </a:solidFill>
          <a:ln w="6350">
            <a:solidFill>
              <a:srgbClr val="FFFFFF"/>
            </a:solidFill>
            <a:prstDash val="solid"/>
          </a:ln>
        </p:spPr>
      </p:sp>
      <p:sp>
        <p:nvSpPr>
          <p:cNvPr id="95" name="X-5-6"/>
          <p:cNvSpPr/>
          <p:nvPr/>
        </p:nvSpPr>
        <p:spPr>
          <a:xfrm>
            <a:off x="4416552" y="4069080"/>
            <a:ext cx="118872" cy="118872"/>
          </a:xfrm>
          <a:prstGeom prst="rect">
            <a:avLst/>
          </a:prstGeom>
          <a:solidFill>
            <a:srgbClr val="E4E7F0"/>
          </a:solidFill>
          <a:ln w="6350">
            <a:solidFill>
              <a:srgbClr val="FFFFFF"/>
            </a:solidFill>
            <a:prstDash val="solid"/>
          </a:ln>
        </p:spPr>
      </p:sp>
      <p:sp>
        <p:nvSpPr>
          <p:cNvPr id="96" name="X-5-7"/>
          <p:cNvSpPr/>
          <p:nvPr/>
        </p:nvSpPr>
        <p:spPr>
          <a:xfrm>
            <a:off x="4535424" y="4069080"/>
            <a:ext cx="118872" cy="118872"/>
          </a:xfrm>
          <a:prstGeom prst="rect">
            <a:avLst/>
          </a:prstGeom>
          <a:solidFill>
            <a:srgbClr val="6E7590"/>
          </a:solidFill>
          <a:ln w="6350">
            <a:solidFill>
              <a:srgbClr val="FFFFFF"/>
            </a:solidFill>
            <a:prstDash val="solid"/>
          </a:ln>
        </p:spPr>
      </p:sp>
      <p:sp>
        <p:nvSpPr>
          <p:cNvPr id="97" name="X-5-8"/>
          <p:cNvSpPr/>
          <p:nvPr/>
        </p:nvSpPr>
        <p:spPr>
          <a:xfrm>
            <a:off x="4654296" y="4069080"/>
            <a:ext cx="118872" cy="118872"/>
          </a:xfrm>
          <a:prstGeom prst="rect">
            <a:avLst/>
          </a:prstGeom>
          <a:solidFill>
            <a:srgbClr val="E4E7F0"/>
          </a:solidFill>
          <a:ln w="6350">
            <a:solidFill>
              <a:srgbClr val="FFFFFF"/>
            </a:solidFill>
            <a:prstDash val="solid"/>
          </a:ln>
        </p:spPr>
      </p:sp>
      <p:sp>
        <p:nvSpPr>
          <p:cNvPr id="98" name="Text 96"/>
          <p:cNvSpPr txBox="1"/>
          <p:nvPr/>
        </p:nvSpPr>
        <p:spPr>
          <a:xfrm>
            <a:off x="3566160" y="4480560"/>
            <a:ext cx="1280160" cy="228600"/>
          </a:xfrm>
          <a:prstGeom prst="rect">
            <a:avLst/>
          </a:prstGeom>
          <a:noFill/>
          <a:ln/>
        </p:spPr>
        <p:txBody>
          <a:bodyPr wrap="square" lIns="0" tIns="0" rIns="0" bIns="0" rtlCol="0" anchor="ctr"/>
          <a:lstStyle/>
          <a:p>
            <a:pPr algn="ctr" indent="0" marL="0">
              <a:buNone/>
            </a:pPr>
            <a:r>
              <a:rPr lang="en-US" sz="1000" dirty="0">
                <a:solidFill>
                  <a:srgbClr val="5A6075"/>
                </a:solidFill>
              </a:rPr>
              <a:t>matrix X</a:t>
            </a:r>
            <a:endParaRPr lang="en-US" sz="1000" dirty="0"/>
          </a:p>
        </p:txBody>
      </p:sp>
      <p:sp>
        <p:nvSpPr>
          <p:cNvPr id="99" name="Formula"/>
          <p:cNvSpPr/>
          <p:nvPr/>
        </p:nvSpPr>
        <p:spPr>
          <a:xfrm>
            <a:off x="5029200" y="1143000"/>
            <a:ext cx="3657600" cy="1371600"/>
          </a:xfrm>
          <a:prstGeom prst="roundRect">
            <a:avLst>
              <a:gd name="adj" fmla="val 6667"/>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100" name="Text 98"/>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101" name="Text 99"/>
          <p:cNvSpPr txBox="1"/>
          <p:nvPr/>
        </p:nvSpPr>
        <p:spPr>
          <a:xfrm>
            <a:off x="5212080" y="1554480"/>
            <a:ext cx="3291840" cy="86868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64 × 64 photo  →  x ∈ ℝ⁴⁰⁹⁶</a:t>
            </a:r>
            <a:endParaRPr lang="en-US" sz="1500" dirty="0"/>
          </a:p>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X  is  320 × 4096</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rows = photos, columns = pixels</a:t>
            </a:r>
            <a:endParaRPr lang="en-US" sz="1500" dirty="0"/>
          </a:p>
        </p:txBody>
      </p:sp>
      <p:sp>
        <p:nvSpPr>
          <p:cNvPr id="102" name="In our project"/>
          <p:cNvSpPr/>
          <p:nvPr/>
        </p:nvSpPr>
        <p:spPr>
          <a:xfrm>
            <a:off x="5029200" y="2697480"/>
            <a:ext cx="3657600" cy="1920240"/>
          </a:xfrm>
          <a:prstGeom prst="roundRect">
            <a:avLst>
              <a:gd name="adj" fmla="val 4762"/>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103" name="Text 101"/>
          <p:cNvSpPr txBox="1"/>
          <p:nvPr/>
        </p:nvSpPr>
        <p:spPr>
          <a:xfrm>
            <a:off x="5212080" y="280720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104" name="Text 102"/>
          <p:cNvSpPr txBox="1"/>
          <p:nvPr/>
        </p:nvSpPr>
        <p:spPr>
          <a:xfrm>
            <a:off x="5212080" y="3108960"/>
            <a:ext cx="3291840" cy="141732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320 training photos (8 photos of each of 40 people) give a 320 × 4096 matrix X. The other 80 photos (2 per person) form the test matrix that we use to check our recognition.</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mean vector and centering</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5" name="Text 3"/>
          <p:cNvSpPr txBox="1"/>
          <p:nvPr/>
        </p:nvSpPr>
        <p:spPr>
          <a:xfrm>
            <a:off x="457200" y="1143000"/>
            <a:ext cx="4297680" cy="210312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The mean vector is the average of all rows of X. Shown as a picture, it is a soft, blurry “average face”.</a:t>
            </a:r>
            <a:endParaRPr lang="en-US" sz="1350" dirty="0"/>
          </a:p>
          <a:p>
            <a:pPr indent="0" marL="0">
              <a:spcAft>
                <a:spcPts val="800"/>
              </a:spcAft>
              <a:buNone/>
            </a:pPr>
            <a:r>
              <a:rPr lang="en-US" sz="1350" dirty="0">
                <a:solidFill>
                  <a:schemeClr val="tx1"/>
                </a:solidFill>
              </a:rPr>
              <a:t>Centering means subtracting this average from every photo, so each row now shows only how that face differs from the average.</a:t>
            </a:r>
            <a:endParaRPr lang="en-US" sz="1350" dirty="0"/>
          </a:p>
          <a:p>
            <a:pPr indent="0" marL="0">
              <a:buNone/>
            </a:pPr>
            <a:r>
              <a:rPr lang="en-US" sz="1350" i="1" dirty="0">
                <a:solidFill>
                  <a:schemeClr val="accent2"/>
                </a:solidFill>
              </a:rPr>
              <a:t>Instead of saying “Ravi is 172 cm”, we say “Ravi is 5 cm taller than the class average”. The differences are what make people unique.</a:t>
            </a:r>
            <a:endParaRPr lang="en-US" sz="1350" dirty="0"/>
          </a:p>
        </p:txBody>
      </p:sp>
      <p:sp>
        <p:nvSpPr>
          <p:cNvPr id="6" name="Shape 4"/>
          <p:cNvSpPr/>
          <p:nvPr/>
        </p:nvSpPr>
        <p:spPr>
          <a:xfrm>
            <a:off x="548640" y="3611880"/>
            <a:ext cx="548640" cy="640080"/>
          </a:xfrm>
          <a:prstGeom prst="roundRect">
            <a:avLst>
              <a:gd name="adj" fmla="val 13333"/>
            </a:avLst>
          </a:prstGeom>
          <a:solidFill>
            <a:srgbClr val="4A5068"/>
          </a:solidFill>
          <a:ln w="12700">
            <a:solidFill>
              <a:srgbClr val="4A5068"/>
            </a:solidFill>
            <a:prstDash val="solid"/>
          </a:ln>
        </p:spPr>
      </p:sp>
      <p:sp>
        <p:nvSpPr>
          <p:cNvPr id="7" name="Text 5"/>
          <p:cNvSpPr txBox="1"/>
          <p:nvPr/>
        </p:nvSpPr>
        <p:spPr>
          <a:xfrm>
            <a:off x="548640" y="3611880"/>
            <a:ext cx="548640" cy="640080"/>
          </a:xfrm>
          <a:prstGeom prst="rect">
            <a:avLst/>
          </a:prstGeom>
          <a:noFill/>
          <a:ln/>
        </p:spPr>
        <p:txBody>
          <a:bodyPr wrap="square" lIns="0" tIns="0" rIns="0" bIns="0" rtlCol="0" anchor="ctr"/>
          <a:lstStyle/>
          <a:p>
            <a:pPr algn="ctr" indent="0" marL="0">
              <a:buNone/>
            </a:pPr>
            <a:r>
              <a:rPr lang="en-US" sz="1300" dirty="0">
                <a:solidFill>
                  <a:schemeClr val="bg1"/>
                </a:solidFill>
                <a:latin typeface="Cambria" pitchFamily="34" charset="0"/>
                <a:ea typeface="Cambria" pitchFamily="34" charset="-122"/>
                <a:cs typeface="Cambria" pitchFamily="34" charset="-120"/>
              </a:rPr>
              <a:t>x₁</a:t>
            </a:r>
            <a:endParaRPr lang="en-US" sz="1300" dirty="0"/>
          </a:p>
        </p:txBody>
      </p:sp>
      <p:sp>
        <p:nvSpPr>
          <p:cNvPr id="8" name="Shape 6"/>
          <p:cNvSpPr/>
          <p:nvPr/>
        </p:nvSpPr>
        <p:spPr>
          <a:xfrm>
            <a:off x="1234440" y="3611880"/>
            <a:ext cx="548640" cy="640080"/>
          </a:xfrm>
          <a:prstGeom prst="roundRect">
            <a:avLst>
              <a:gd name="adj" fmla="val 13333"/>
            </a:avLst>
          </a:prstGeom>
          <a:solidFill>
            <a:srgbClr val="6E7590"/>
          </a:solidFill>
          <a:ln w="12700">
            <a:solidFill>
              <a:srgbClr val="6E7590"/>
            </a:solidFill>
            <a:prstDash val="solid"/>
          </a:ln>
        </p:spPr>
      </p:sp>
      <p:sp>
        <p:nvSpPr>
          <p:cNvPr id="9" name="Text 7"/>
          <p:cNvSpPr txBox="1"/>
          <p:nvPr/>
        </p:nvSpPr>
        <p:spPr>
          <a:xfrm>
            <a:off x="1234440" y="3611880"/>
            <a:ext cx="548640" cy="640080"/>
          </a:xfrm>
          <a:prstGeom prst="rect">
            <a:avLst/>
          </a:prstGeom>
          <a:noFill/>
          <a:ln/>
        </p:spPr>
        <p:txBody>
          <a:bodyPr wrap="square" lIns="0" tIns="0" rIns="0" bIns="0" rtlCol="0" anchor="ctr"/>
          <a:lstStyle/>
          <a:p>
            <a:pPr algn="ctr" indent="0" marL="0">
              <a:buNone/>
            </a:pPr>
            <a:r>
              <a:rPr lang="en-US" sz="1300" dirty="0">
                <a:solidFill>
                  <a:schemeClr val="bg1"/>
                </a:solidFill>
                <a:latin typeface="Cambria" pitchFamily="34" charset="0"/>
                <a:ea typeface="Cambria" pitchFamily="34" charset="-122"/>
                <a:cs typeface="Cambria" pitchFamily="34" charset="-120"/>
              </a:rPr>
              <a:t>x₂</a:t>
            </a:r>
            <a:endParaRPr lang="en-US" sz="1300" dirty="0"/>
          </a:p>
        </p:txBody>
      </p:sp>
      <p:sp>
        <p:nvSpPr>
          <p:cNvPr id="10" name="Shape 8"/>
          <p:cNvSpPr/>
          <p:nvPr/>
        </p:nvSpPr>
        <p:spPr>
          <a:xfrm>
            <a:off x="1920240" y="3611880"/>
            <a:ext cx="548640" cy="640080"/>
          </a:xfrm>
          <a:prstGeom prst="roundRect">
            <a:avLst>
              <a:gd name="adj" fmla="val 13333"/>
            </a:avLst>
          </a:prstGeom>
          <a:solidFill>
            <a:srgbClr val="9AA0B8"/>
          </a:solidFill>
          <a:ln w="12700">
            <a:solidFill>
              <a:srgbClr val="9AA0B8"/>
            </a:solidFill>
            <a:prstDash val="solid"/>
          </a:ln>
        </p:spPr>
      </p:sp>
      <p:sp>
        <p:nvSpPr>
          <p:cNvPr id="11" name="Text 9"/>
          <p:cNvSpPr txBox="1"/>
          <p:nvPr/>
        </p:nvSpPr>
        <p:spPr>
          <a:xfrm>
            <a:off x="1920240" y="3611880"/>
            <a:ext cx="548640" cy="640080"/>
          </a:xfrm>
          <a:prstGeom prst="rect">
            <a:avLst/>
          </a:prstGeom>
          <a:noFill/>
          <a:ln/>
        </p:spPr>
        <p:txBody>
          <a:bodyPr wrap="square" lIns="0" tIns="0" rIns="0" bIns="0" rtlCol="0" anchor="ctr"/>
          <a:lstStyle/>
          <a:p>
            <a:pPr algn="ctr" indent="0" marL="0">
              <a:buNone/>
            </a:pPr>
            <a:r>
              <a:rPr lang="en-US" sz="1300" dirty="0">
                <a:solidFill>
                  <a:schemeClr val="bg1"/>
                </a:solidFill>
                <a:latin typeface="Cambria" pitchFamily="34" charset="0"/>
                <a:ea typeface="Cambria" pitchFamily="34" charset="-122"/>
                <a:cs typeface="Cambria" pitchFamily="34" charset="-120"/>
              </a:rPr>
              <a:t>x₃</a:t>
            </a:r>
            <a:endParaRPr lang="en-US" sz="1300" dirty="0"/>
          </a:p>
        </p:txBody>
      </p:sp>
      <p:sp>
        <p:nvSpPr>
          <p:cNvPr id="12" name="Shape 10"/>
          <p:cNvSpPr/>
          <p:nvPr/>
        </p:nvSpPr>
        <p:spPr>
          <a:xfrm>
            <a:off x="2606040" y="3931920"/>
            <a:ext cx="457200" cy="914"/>
          </a:xfrm>
          <a:prstGeom prst="line">
            <a:avLst/>
          </a:prstGeom>
          <a:noFill/>
          <a:ln w="25400">
            <a:solidFill>
              <a:srgbClr val="E8833A"/>
            </a:solidFill>
            <a:prstDash val="solid"/>
            <a:tailEnd type="triangle"/>
          </a:ln>
        </p:spPr>
      </p:sp>
      <p:sp>
        <p:nvSpPr>
          <p:cNvPr id="13" name="Shape 11"/>
          <p:cNvSpPr/>
          <p:nvPr/>
        </p:nvSpPr>
        <p:spPr>
          <a:xfrm>
            <a:off x="3154680" y="3611880"/>
            <a:ext cx="548640" cy="640080"/>
          </a:xfrm>
          <a:prstGeom prst="roundRect">
            <a:avLst>
              <a:gd name="adj" fmla="val 13333"/>
            </a:avLst>
          </a:prstGeom>
          <a:solidFill>
            <a:schemeClr val="accent1"/>
          </a:solidFill>
          <a:ln w="12700">
            <a:solidFill>
              <a:schemeClr val="accent1"/>
            </a:solidFill>
            <a:prstDash val="solid"/>
          </a:ln>
        </p:spPr>
      </p:sp>
      <p:sp>
        <p:nvSpPr>
          <p:cNvPr id="14" name="Text 12"/>
          <p:cNvSpPr txBox="1"/>
          <p:nvPr/>
        </p:nvSpPr>
        <p:spPr>
          <a:xfrm>
            <a:off x="3154680" y="3611880"/>
            <a:ext cx="54864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m</a:t>
            </a:r>
            <a:endParaRPr lang="en-US" sz="1400" dirty="0"/>
          </a:p>
        </p:txBody>
      </p:sp>
      <p:sp>
        <p:nvSpPr>
          <p:cNvPr id="15" name="Text 13"/>
          <p:cNvSpPr txBox="1"/>
          <p:nvPr/>
        </p:nvSpPr>
        <p:spPr>
          <a:xfrm>
            <a:off x="2971800" y="4297680"/>
            <a:ext cx="914400" cy="228600"/>
          </a:xfrm>
          <a:prstGeom prst="rect">
            <a:avLst/>
          </a:prstGeom>
          <a:noFill/>
          <a:ln/>
        </p:spPr>
        <p:txBody>
          <a:bodyPr wrap="square" lIns="0" tIns="0" rIns="0" bIns="0" rtlCol="0" anchor="ctr"/>
          <a:lstStyle/>
          <a:p>
            <a:pPr algn="ctr" indent="0" marL="0">
              <a:buNone/>
            </a:pPr>
            <a:r>
              <a:rPr lang="en-US" sz="1000" dirty="0">
                <a:solidFill>
                  <a:srgbClr val="5A6075"/>
                </a:solidFill>
              </a:rPr>
              <a:t>average</a:t>
            </a:r>
            <a:endParaRPr lang="en-US" sz="1000" dirty="0"/>
          </a:p>
        </p:txBody>
      </p:sp>
      <p:sp>
        <p:nvSpPr>
          <p:cNvPr id="16" name="Formula"/>
          <p:cNvSpPr/>
          <p:nvPr/>
        </p:nvSpPr>
        <p:spPr>
          <a:xfrm>
            <a:off x="5029200" y="1143000"/>
            <a:ext cx="3657600" cy="1371600"/>
          </a:xfrm>
          <a:prstGeom prst="roundRect">
            <a:avLst>
              <a:gd name="adj" fmla="val 6667"/>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17" name="Text 15"/>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18" name="Text 16"/>
          <p:cNvSpPr txBox="1"/>
          <p:nvPr/>
        </p:nvSpPr>
        <p:spPr>
          <a:xfrm>
            <a:off x="5212080" y="1554480"/>
            <a:ext cx="3291840" cy="86868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m = (1/n) · (x₁ + x₂ + … + xₙ)</a:t>
            </a:r>
            <a:endParaRPr lang="en-US" sz="1500" dirty="0"/>
          </a:p>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Xc = X − m</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subtract m from every row</a:t>
            </a:r>
            <a:endParaRPr lang="en-US" sz="1500" dirty="0"/>
          </a:p>
        </p:txBody>
      </p:sp>
      <p:sp>
        <p:nvSpPr>
          <p:cNvPr id="19" name="In our project"/>
          <p:cNvSpPr/>
          <p:nvPr/>
        </p:nvSpPr>
        <p:spPr>
          <a:xfrm>
            <a:off x="5029200" y="2697480"/>
            <a:ext cx="3657600" cy="1920240"/>
          </a:xfrm>
          <a:prstGeom prst="roundRect">
            <a:avLst>
              <a:gd name="adj" fmla="val 4762"/>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20" name="Text 18"/>
          <p:cNvSpPr txBox="1"/>
          <p:nvPr/>
        </p:nvSpPr>
        <p:spPr>
          <a:xfrm>
            <a:off x="5212080" y="280720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21" name="Text 19"/>
          <p:cNvSpPr txBox="1"/>
          <p:nvPr/>
        </p:nvSpPr>
        <p:spPr>
          <a:xfrm>
            <a:off x="5212080" y="3108960"/>
            <a:ext cx="3291840" cy="141732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n = 320 photos. Centering is needed because the next steps measure variation around the average. Without it, the first eigenvector would just point at the average face instead of showing how faces differ.</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Rank and linear independence</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5" name="Text 3"/>
          <p:cNvSpPr txBox="1"/>
          <p:nvPr/>
        </p:nvSpPr>
        <p:spPr>
          <a:xfrm>
            <a:off x="457200" y="1143000"/>
            <a:ext cx="4297680" cy="160020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Vectors are linearly independent if none of them can be built from the others.</a:t>
            </a:r>
            <a:endParaRPr lang="en-US" sz="1350" dirty="0"/>
          </a:p>
          <a:p>
            <a:pPr indent="0" marL="0">
              <a:spcAft>
                <a:spcPts val="800"/>
              </a:spcAft>
              <a:buNone/>
            </a:pPr>
            <a:r>
              <a:rPr lang="en-US" sz="1350" dirty="0">
                <a:solidFill>
                  <a:schemeClr val="tx1"/>
                </a:solidFill>
              </a:rPr>
              <a:t>The rank of a matrix is the number of truly independent rows (or columns). It measures the real amount of information.</a:t>
            </a:r>
            <a:endParaRPr lang="en-US" sz="1350" dirty="0"/>
          </a:p>
        </p:txBody>
      </p:sp>
      <p:sp>
        <p:nvSpPr>
          <p:cNvPr id="6" name="Tiny example"/>
          <p:cNvSpPr/>
          <p:nvPr/>
        </p:nvSpPr>
        <p:spPr>
          <a:xfrm>
            <a:off x="457200" y="2240280"/>
            <a:ext cx="4297680" cy="91440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8A90A6">
                <a:alpha val="25000"/>
              </a:srgbClr>
            </a:outerShdw>
          </a:effectLst>
        </p:spPr>
      </p:sp>
      <p:sp>
        <p:nvSpPr>
          <p:cNvPr id="7" name="Text 5"/>
          <p:cNvSpPr txBox="1"/>
          <p:nvPr/>
        </p:nvSpPr>
        <p:spPr>
          <a:xfrm>
            <a:off x="640080" y="2350008"/>
            <a:ext cx="3931920" cy="256032"/>
          </a:xfrm>
          <a:prstGeom prst="rect">
            <a:avLst/>
          </a:prstGeom>
          <a:noFill/>
          <a:ln/>
        </p:spPr>
        <p:txBody>
          <a:bodyPr wrap="square" lIns="0" tIns="0" rIns="0" bIns="0" rtlCol="0" anchor="ctr"/>
          <a:lstStyle/>
          <a:p>
            <a:pPr indent="0" marL="0">
              <a:buNone/>
            </a:pPr>
            <a:r>
              <a:rPr lang="en-US" sz="1000" b="1" spc="200" kern="0" dirty="0">
                <a:solidFill>
                  <a:schemeClr val="accent3"/>
                </a:solidFill>
              </a:rPr>
              <a:t>TINY EXAMPLE</a:t>
            </a:r>
            <a:endParaRPr lang="en-US" sz="1000" dirty="0"/>
          </a:p>
        </p:txBody>
      </p:sp>
      <p:sp>
        <p:nvSpPr>
          <p:cNvPr id="8" name="Text 6"/>
          <p:cNvSpPr txBox="1"/>
          <p:nvPr/>
        </p:nvSpPr>
        <p:spPr>
          <a:xfrm>
            <a:off x="640080" y="2651760"/>
            <a:ext cx="3931920" cy="41148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(1, 2) and (2, 4): the second is just 2 × the first, so the rank is 1, not 2.</a:t>
            </a:r>
            <a:endParaRPr lang="en-US" sz="1250" dirty="0"/>
          </a:p>
        </p:txBody>
      </p:sp>
      <p:sp>
        <p:nvSpPr>
          <p:cNvPr id="9" name="Formula"/>
          <p:cNvSpPr/>
          <p:nvPr/>
        </p:nvSpPr>
        <p:spPr>
          <a:xfrm>
            <a:off x="457200" y="3337560"/>
            <a:ext cx="4297680" cy="868680"/>
          </a:xfrm>
          <a:prstGeom prst="roundRect">
            <a:avLst>
              <a:gd name="adj" fmla="val 10526"/>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10" name="Text 8"/>
          <p:cNvSpPr txBox="1"/>
          <p:nvPr/>
        </p:nvSpPr>
        <p:spPr>
          <a:xfrm>
            <a:off x="640080" y="3447288"/>
            <a:ext cx="393192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11" name="Text 9"/>
          <p:cNvSpPr txBox="1"/>
          <p:nvPr/>
        </p:nvSpPr>
        <p:spPr>
          <a:xfrm>
            <a:off x="640080" y="3749040"/>
            <a:ext cx="3931920" cy="36576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mbria" pitchFamily="34" charset="0"/>
                <a:ea typeface="Cambria" pitchFamily="34" charset="-122"/>
                <a:cs typeface="Cambria" pitchFamily="34" charset="-120"/>
              </a:rPr>
              <a:t>rank + nullity = number of columns</a:t>
            </a:r>
            <a:endParaRPr lang="en-US" sz="1400" dirty="0"/>
          </a:p>
        </p:txBody>
      </p:sp>
      <p:sp>
        <p:nvSpPr>
          <p:cNvPr id="12" name="project"/>
          <p:cNvSpPr/>
          <p:nvPr/>
        </p:nvSpPr>
        <p:spPr>
          <a:xfrm>
            <a:off x="5029200" y="1143000"/>
            <a:ext cx="3657600" cy="3611880"/>
          </a:xfrm>
          <a:prstGeom prst="roundRect">
            <a:avLst>
              <a:gd name="adj" fmla="val 2532"/>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13" name="Text 11"/>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14" name="Text 12"/>
          <p:cNvSpPr txBox="1"/>
          <p:nvPr/>
        </p:nvSpPr>
        <p:spPr>
          <a:xfrm>
            <a:off x="5212080" y="1554480"/>
            <a:ext cx="1554480" cy="64008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4096</a:t>
            </a:r>
            <a:endParaRPr lang="en-US" sz="3600" dirty="0"/>
          </a:p>
        </p:txBody>
      </p:sp>
      <p:sp>
        <p:nvSpPr>
          <p:cNvPr id="15" name="Text 13"/>
          <p:cNvSpPr txBox="1"/>
          <p:nvPr/>
        </p:nvSpPr>
        <p:spPr>
          <a:xfrm>
            <a:off x="5212080" y="2176272"/>
            <a:ext cx="1554480" cy="274320"/>
          </a:xfrm>
          <a:prstGeom prst="rect">
            <a:avLst/>
          </a:prstGeom>
          <a:noFill/>
          <a:ln/>
        </p:spPr>
        <p:txBody>
          <a:bodyPr wrap="square" lIns="0" tIns="0" rIns="0" bIns="0" rtlCol="0" anchor="ctr"/>
          <a:lstStyle/>
          <a:p>
            <a:pPr indent="0" marL="0">
              <a:buNone/>
            </a:pPr>
            <a:r>
              <a:rPr lang="en-US" sz="1100" dirty="0">
                <a:solidFill>
                  <a:srgbClr val="5A6075"/>
                </a:solidFill>
              </a:rPr>
              <a:t>columns (pixels)</a:t>
            </a:r>
            <a:endParaRPr lang="en-US" sz="1100" dirty="0"/>
          </a:p>
        </p:txBody>
      </p:sp>
      <p:sp>
        <p:nvSpPr>
          <p:cNvPr id="16" name="Text 14"/>
          <p:cNvSpPr txBox="1"/>
          <p:nvPr/>
        </p:nvSpPr>
        <p:spPr>
          <a:xfrm>
            <a:off x="6949440" y="1554480"/>
            <a:ext cx="1645920" cy="6400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 320</a:t>
            </a:r>
            <a:endParaRPr lang="en-US" sz="3600" dirty="0"/>
          </a:p>
        </p:txBody>
      </p:sp>
      <p:sp>
        <p:nvSpPr>
          <p:cNvPr id="17" name="Text 15"/>
          <p:cNvSpPr txBox="1"/>
          <p:nvPr/>
        </p:nvSpPr>
        <p:spPr>
          <a:xfrm>
            <a:off x="6949440" y="2176272"/>
            <a:ext cx="1645920" cy="274320"/>
          </a:xfrm>
          <a:prstGeom prst="rect">
            <a:avLst/>
          </a:prstGeom>
          <a:noFill/>
          <a:ln/>
        </p:spPr>
        <p:txBody>
          <a:bodyPr wrap="square" lIns="0" tIns="0" rIns="0" bIns="0" rtlCol="0" anchor="ctr"/>
          <a:lstStyle/>
          <a:p>
            <a:pPr indent="0" marL="0">
              <a:buNone/>
            </a:pPr>
            <a:r>
              <a:rPr lang="en-US" sz="1100" dirty="0">
                <a:solidFill>
                  <a:srgbClr val="5A6075"/>
                </a:solidFill>
              </a:rPr>
              <a:t>rank (only 320 photos)</a:t>
            </a:r>
            <a:endParaRPr lang="en-US" sz="1100" dirty="0"/>
          </a:p>
        </p:txBody>
      </p:sp>
      <p:sp>
        <p:nvSpPr>
          <p:cNvPr id="18" name="Text 16"/>
          <p:cNvSpPr txBox="1"/>
          <p:nvPr/>
        </p:nvSpPr>
        <p:spPr>
          <a:xfrm>
            <a:off x="5212080" y="2606040"/>
            <a:ext cx="3291840" cy="2011680"/>
          </a:xfrm>
          <a:prstGeom prst="rect">
            <a:avLst/>
          </a:prstGeom>
          <a:noFill/>
          <a:ln/>
        </p:spPr>
        <p:txBody>
          <a:bodyPr wrap="square" lIns="0" tIns="0" rIns="0" bIns="0" rtlCol="0" anchor="t"/>
          <a:lstStyle/>
          <a:p>
            <a:pPr indent="0" marL="0">
              <a:buNone/>
            </a:pPr>
            <a:r>
              <a:rPr lang="en-US" sz="1250" dirty="0">
                <a:solidFill>
                  <a:schemeClr val="tx1"/>
                </a:solidFill>
              </a:rPr>
              <a:t>X has 4096 columns but only 320 rows, so its rank is at most 320. That means at least 3776 directions carry no new information. The data is heavily redundant, which is exactly why we can compress it later.</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covariance matrix</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5" name="Text 3"/>
          <p:cNvSpPr txBox="1"/>
          <p:nvPr/>
        </p:nvSpPr>
        <p:spPr>
          <a:xfrm>
            <a:off x="457200" y="1143000"/>
            <a:ext cx="4297680" cy="182880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The covariance matrix tells us how pixels change together.</a:t>
            </a:r>
            <a:endParaRPr lang="en-US" sz="1350" dirty="0"/>
          </a:p>
          <a:p>
            <a:pPr indent="0" marL="0">
              <a:spcAft>
                <a:spcPts val="800"/>
              </a:spcAft>
              <a:buNone/>
            </a:pPr>
            <a:r>
              <a:rPr lang="en-US" sz="1350" dirty="0">
                <a:solidFill>
                  <a:schemeClr val="tx1"/>
                </a:solidFill>
              </a:rPr>
              <a:t>If two pixels usually get darker together (like two pixels on the same eyebrow), their covariance is large and positive. If they are unrelated, it is close to 0.</a:t>
            </a:r>
            <a:endParaRPr lang="en-US" sz="1350" dirty="0"/>
          </a:p>
        </p:txBody>
      </p:sp>
      <p:sp>
        <p:nvSpPr>
          <p:cNvPr id="6" name="cov-0-0"/>
          <p:cNvSpPr/>
          <p:nvPr/>
        </p:nvSpPr>
        <p:spPr>
          <a:xfrm>
            <a:off x="640080" y="3063240"/>
            <a:ext cx="246888" cy="246888"/>
          </a:xfrm>
          <a:prstGeom prst="rect">
            <a:avLst/>
          </a:prstGeom>
          <a:solidFill>
            <a:srgbClr val="B85E1E"/>
          </a:solidFill>
          <a:ln w="6350">
            <a:solidFill>
              <a:srgbClr val="FFFFFF"/>
            </a:solidFill>
            <a:prstDash val="solid"/>
          </a:ln>
        </p:spPr>
      </p:sp>
      <p:sp>
        <p:nvSpPr>
          <p:cNvPr id="7" name="cov-0-1"/>
          <p:cNvSpPr/>
          <p:nvPr/>
        </p:nvSpPr>
        <p:spPr>
          <a:xfrm>
            <a:off x="886968" y="3063240"/>
            <a:ext cx="246888" cy="246888"/>
          </a:xfrm>
          <a:prstGeom prst="rect">
            <a:avLst/>
          </a:prstGeom>
          <a:solidFill>
            <a:srgbClr val="F0A56B"/>
          </a:solidFill>
          <a:ln w="6350">
            <a:solidFill>
              <a:srgbClr val="FFFFFF"/>
            </a:solidFill>
            <a:prstDash val="solid"/>
          </a:ln>
        </p:spPr>
      </p:sp>
      <p:sp>
        <p:nvSpPr>
          <p:cNvPr id="8" name="cov-0-2"/>
          <p:cNvSpPr/>
          <p:nvPr/>
        </p:nvSpPr>
        <p:spPr>
          <a:xfrm>
            <a:off x="1133856" y="3063240"/>
            <a:ext cx="246888" cy="246888"/>
          </a:xfrm>
          <a:prstGeom prst="rect">
            <a:avLst/>
          </a:prstGeom>
          <a:solidFill>
            <a:srgbClr val="FCEBDD"/>
          </a:solidFill>
          <a:ln w="6350">
            <a:solidFill>
              <a:srgbClr val="FFFFFF"/>
            </a:solidFill>
            <a:prstDash val="solid"/>
          </a:ln>
        </p:spPr>
      </p:sp>
      <p:sp>
        <p:nvSpPr>
          <p:cNvPr id="9" name="cov-0-3"/>
          <p:cNvSpPr/>
          <p:nvPr/>
        </p:nvSpPr>
        <p:spPr>
          <a:xfrm>
            <a:off x="1380744" y="3063240"/>
            <a:ext cx="246888" cy="246888"/>
          </a:xfrm>
          <a:prstGeom prst="rect">
            <a:avLst/>
          </a:prstGeom>
          <a:solidFill>
            <a:srgbClr val="F5F7FB"/>
          </a:solidFill>
          <a:ln w="6350">
            <a:solidFill>
              <a:srgbClr val="FFFFFF"/>
            </a:solidFill>
            <a:prstDash val="solid"/>
          </a:ln>
        </p:spPr>
      </p:sp>
      <p:sp>
        <p:nvSpPr>
          <p:cNvPr id="10" name="cov-0-4"/>
          <p:cNvSpPr/>
          <p:nvPr/>
        </p:nvSpPr>
        <p:spPr>
          <a:xfrm>
            <a:off x="1627632" y="3063240"/>
            <a:ext cx="246888" cy="246888"/>
          </a:xfrm>
          <a:prstGeom prst="rect">
            <a:avLst/>
          </a:prstGeom>
          <a:solidFill>
            <a:srgbClr val="F6C9A4"/>
          </a:solidFill>
          <a:ln w="6350">
            <a:solidFill>
              <a:srgbClr val="FFFFFF"/>
            </a:solidFill>
            <a:prstDash val="solid"/>
          </a:ln>
        </p:spPr>
      </p:sp>
      <p:sp>
        <p:nvSpPr>
          <p:cNvPr id="11" name="cov-0-5"/>
          <p:cNvSpPr/>
          <p:nvPr/>
        </p:nvSpPr>
        <p:spPr>
          <a:xfrm>
            <a:off x="1874520" y="3063240"/>
            <a:ext cx="246888" cy="246888"/>
          </a:xfrm>
          <a:prstGeom prst="rect">
            <a:avLst/>
          </a:prstGeom>
          <a:solidFill>
            <a:srgbClr val="FCEBDD"/>
          </a:solidFill>
          <a:ln w="6350">
            <a:solidFill>
              <a:srgbClr val="FFFFFF"/>
            </a:solidFill>
            <a:prstDash val="solid"/>
          </a:ln>
        </p:spPr>
      </p:sp>
      <p:sp>
        <p:nvSpPr>
          <p:cNvPr id="12" name="cov-1-0"/>
          <p:cNvSpPr/>
          <p:nvPr/>
        </p:nvSpPr>
        <p:spPr>
          <a:xfrm>
            <a:off x="640080" y="3310128"/>
            <a:ext cx="246888" cy="246888"/>
          </a:xfrm>
          <a:prstGeom prst="rect">
            <a:avLst/>
          </a:prstGeom>
          <a:solidFill>
            <a:srgbClr val="F0A56B"/>
          </a:solidFill>
          <a:ln w="6350">
            <a:solidFill>
              <a:srgbClr val="FFFFFF"/>
            </a:solidFill>
            <a:prstDash val="solid"/>
          </a:ln>
        </p:spPr>
      </p:sp>
      <p:sp>
        <p:nvSpPr>
          <p:cNvPr id="13" name="cov-1-1"/>
          <p:cNvSpPr/>
          <p:nvPr/>
        </p:nvSpPr>
        <p:spPr>
          <a:xfrm>
            <a:off x="886968" y="3310128"/>
            <a:ext cx="246888" cy="246888"/>
          </a:xfrm>
          <a:prstGeom prst="rect">
            <a:avLst/>
          </a:prstGeom>
          <a:solidFill>
            <a:srgbClr val="B85E1E"/>
          </a:solidFill>
          <a:ln w="6350">
            <a:solidFill>
              <a:srgbClr val="FFFFFF"/>
            </a:solidFill>
            <a:prstDash val="solid"/>
          </a:ln>
        </p:spPr>
      </p:sp>
      <p:sp>
        <p:nvSpPr>
          <p:cNvPr id="14" name="cov-1-2"/>
          <p:cNvSpPr/>
          <p:nvPr/>
        </p:nvSpPr>
        <p:spPr>
          <a:xfrm>
            <a:off x="1133856" y="3310128"/>
            <a:ext cx="246888" cy="246888"/>
          </a:xfrm>
          <a:prstGeom prst="rect">
            <a:avLst/>
          </a:prstGeom>
          <a:solidFill>
            <a:srgbClr val="F6C9A4"/>
          </a:solidFill>
          <a:ln w="6350">
            <a:solidFill>
              <a:srgbClr val="FFFFFF"/>
            </a:solidFill>
            <a:prstDash val="solid"/>
          </a:ln>
        </p:spPr>
      </p:sp>
      <p:sp>
        <p:nvSpPr>
          <p:cNvPr id="15" name="cov-1-3"/>
          <p:cNvSpPr/>
          <p:nvPr/>
        </p:nvSpPr>
        <p:spPr>
          <a:xfrm>
            <a:off x="1380744" y="3310128"/>
            <a:ext cx="246888" cy="246888"/>
          </a:xfrm>
          <a:prstGeom prst="rect">
            <a:avLst/>
          </a:prstGeom>
          <a:solidFill>
            <a:srgbClr val="FCEBDD"/>
          </a:solidFill>
          <a:ln w="6350">
            <a:solidFill>
              <a:srgbClr val="FFFFFF"/>
            </a:solidFill>
            <a:prstDash val="solid"/>
          </a:ln>
        </p:spPr>
      </p:sp>
      <p:sp>
        <p:nvSpPr>
          <p:cNvPr id="16" name="cov-1-4"/>
          <p:cNvSpPr/>
          <p:nvPr/>
        </p:nvSpPr>
        <p:spPr>
          <a:xfrm>
            <a:off x="1627632" y="3310128"/>
            <a:ext cx="246888" cy="246888"/>
          </a:xfrm>
          <a:prstGeom prst="rect">
            <a:avLst/>
          </a:prstGeom>
          <a:solidFill>
            <a:srgbClr val="F5F7FB"/>
          </a:solidFill>
          <a:ln w="6350">
            <a:solidFill>
              <a:srgbClr val="FFFFFF"/>
            </a:solidFill>
            <a:prstDash val="solid"/>
          </a:ln>
        </p:spPr>
      </p:sp>
      <p:sp>
        <p:nvSpPr>
          <p:cNvPr id="17" name="cov-1-5"/>
          <p:cNvSpPr/>
          <p:nvPr/>
        </p:nvSpPr>
        <p:spPr>
          <a:xfrm>
            <a:off x="1874520" y="3310128"/>
            <a:ext cx="246888" cy="246888"/>
          </a:xfrm>
          <a:prstGeom prst="rect">
            <a:avLst/>
          </a:prstGeom>
          <a:solidFill>
            <a:srgbClr val="FCEBDD"/>
          </a:solidFill>
          <a:ln w="6350">
            <a:solidFill>
              <a:srgbClr val="FFFFFF"/>
            </a:solidFill>
            <a:prstDash val="solid"/>
          </a:ln>
        </p:spPr>
      </p:sp>
      <p:sp>
        <p:nvSpPr>
          <p:cNvPr id="18" name="cov-2-0"/>
          <p:cNvSpPr/>
          <p:nvPr/>
        </p:nvSpPr>
        <p:spPr>
          <a:xfrm>
            <a:off x="640080" y="3557016"/>
            <a:ext cx="246888" cy="246888"/>
          </a:xfrm>
          <a:prstGeom prst="rect">
            <a:avLst/>
          </a:prstGeom>
          <a:solidFill>
            <a:srgbClr val="FCEBDD"/>
          </a:solidFill>
          <a:ln w="6350">
            <a:solidFill>
              <a:srgbClr val="FFFFFF"/>
            </a:solidFill>
            <a:prstDash val="solid"/>
          </a:ln>
        </p:spPr>
      </p:sp>
      <p:sp>
        <p:nvSpPr>
          <p:cNvPr id="19" name="cov-2-1"/>
          <p:cNvSpPr/>
          <p:nvPr/>
        </p:nvSpPr>
        <p:spPr>
          <a:xfrm>
            <a:off x="886968" y="3557016"/>
            <a:ext cx="246888" cy="246888"/>
          </a:xfrm>
          <a:prstGeom prst="rect">
            <a:avLst/>
          </a:prstGeom>
          <a:solidFill>
            <a:srgbClr val="F6C9A4"/>
          </a:solidFill>
          <a:ln w="6350">
            <a:solidFill>
              <a:srgbClr val="FFFFFF"/>
            </a:solidFill>
            <a:prstDash val="solid"/>
          </a:ln>
        </p:spPr>
      </p:sp>
      <p:sp>
        <p:nvSpPr>
          <p:cNvPr id="20" name="cov-2-2"/>
          <p:cNvSpPr/>
          <p:nvPr/>
        </p:nvSpPr>
        <p:spPr>
          <a:xfrm>
            <a:off x="1133856" y="3557016"/>
            <a:ext cx="246888" cy="246888"/>
          </a:xfrm>
          <a:prstGeom prst="rect">
            <a:avLst/>
          </a:prstGeom>
          <a:solidFill>
            <a:srgbClr val="B85E1E"/>
          </a:solidFill>
          <a:ln w="6350">
            <a:solidFill>
              <a:srgbClr val="FFFFFF"/>
            </a:solidFill>
            <a:prstDash val="solid"/>
          </a:ln>
        </p:spPr>
      </p:sp>
      <p:sp>
        <p:nvSpPr>
          <p:cNvPr id="21" name="cov-2-3"/>
          <p:cNvSpPr/>
          <p:nvPr/>
        </p:nvSpPr>
        <p:spPr>
          <a:xfrm>
            <a:off x="1380744" y="3557016"/>
            <a:ext cx="246888" cy="246888"/>
          </a:xfrm>
          <a:prstGeom prst="rect">
            <a:avLst/>
          </a:prstGeom>
          <a:solidFill>
            <a:srgbClr val="F0A56B"/>
          </a:solidFill>
          <a:ln w="6350">
            <a:solidFill>
              <a:srgbClr val="FFFFFF"/>
            </a:solidFill>
            <a:prstDash val="solid"/>
          </a:ln>
        </p:spPr>
      </p:sp>
      <p:sp>
        <p:nvSpPr>
          <p:cNvPr id="22" name="cov-2-4"/>
          <p:cNvSpPr/>
          <p:nvPr/>
        </p:nvSpPr>
        <p:spPr>
          <a:xfrm>
            <a:off x="1627632" y="3557016"/>
            <a:ext cx="246888" cy="246888"/>
          </a:xfrm>
          <a:prstGeom prst="rect">
            <a:avLst/>
          </a:prstGeom>
          <a:solidFill>
            <a:srgbClr val="FCEBDD"/>
          </a:solidFill>
          <a:ln w="6350">
            <a:solidFill>
              <a:srgbClr val="FFFFFF"/>
            </a:solidFill>
            <a:prstDash val="solid"/>
          </a:ln>
        </p:spPr>
      </p:sp>
      <p:sp>
        <p:nvSpPr>
          <p:cNvPr id="23" name="cov-2-5"/>
          <p:cNvSpPr/>
          <p:nvPr/>
        </p:nvSpPr>
        <p:spPr>
          <a:xfrm>
            <a:off x="1874520" y="3557016"/>
            <a:ext cx="246888" cy="246888"/>
          </a:xfrm>
          <a:prstGeom prst="rect">
            <a:avLst/>
          </a:prstGeom>
          <a:solidFill>
            <a:srgbClr val="F5F7FB"/>
          </a:solidFill>
          <a:ln w="6350">
            <a:solidFill>
              <a:srgbClr val="FFFFFF"/>
            </a:solidFill>
            <a:prstDash val="solid"/>
          </a:ln>
        </p:spPr>
      </p:sp>
      <p:sp>
        <p:nvSpPr>
          <p:cNvPr id="24" name="cov-3-0"/>
          <p:cNvSpPr/>
          <p:nvPr/>
        </p:nvSpPr>
        <p:spPr>
          <a:xfrm>
            <a:off x="640080" y="3803904"/>
            <a:ext cx="246888" cy="246888"/>
          </a:xfrm>
          <a:prstGeom prst="rect">
            <a:avLst/>
          </a:prstGeom>
          <a:solidFill>
            <a:srgbClr val="F5F7FB"/>
          </a:solidFill>
          <a:ln w="6350">
            <a:solidFill>
              <a:srgbClr val="FFFFFF"/>
            </a:solidFill>
            <a:prstDash val="solid"/>
          </a:ln>
        </p:spPr>
      </p:sp>
      <p:sp>
        <p:nvSpPr>
          <p:cNvPr id="25" name="cov-3-1"/>
          <p:cNvSpPr/>
          <p:nvPr/>
        </p:nvSpPr>
        <p:spPr>
          <a:xfrm>
            <a:off x="886968" y="3803904"/>
            <a:ext cx="246888" cy="246888"/>
          </a:xfrm>
          <a:prstGeom prst="rect">
            <a:avLst/>
          </a:prstGeom>
          <a:solidFill>
            <a:srgbClr val="FCEBDD"/>
          </a:solidFill>
          <a:ln w="6350">
            <a:solidFill>
              <a:srgbClr val="FFFFFF"/>
            </a:solidFill>
            <a:prstDash val="solid"/>
          </a:ln>
        </p:spPr>
      </p:sp>
      <p:sp>
        <p:nvSpPr>
          <p:cNvPr id="26" name="cov-3-2"/>
          <p:cNvSpPr/>
          <p:nvPr/>
        </p:nvSpPr>
        <p:spPr>
          <a:xfrm>
            <a:off x="1133856" y="3803904"/>
            <a:ext cx="246888" cy="246888"/>
          </a:xfrm>
          <a:prstGeom prst="rect">
            <a:avLst/>
          </a:prstGeom>
          <a:solidFill>
            <a:srgbClr val="F0A56B"/>
          </a:solidFill>
          <a:ln w="6350">
            <a:solidFill>
              <a:srgbClr val="FFFFFF"/>
            </a:solidFill>
            <a:prstDash val="solid"/>
          </a:ln>
        </p:spPr>
      </p:sp>
      <p:sp>
        <p:nvSpPr>
          <p:cNvPr id="27" name="cov-3-3"/>
          <p:cNvSpPr/>
          <p:nvPr/>
        </p:nvSpPr>
        <p:spPr>
          <a:xfrm>
            <a:off x="1380744" y="3803904"/>
            <a:ext cx="246888" cy="246888"/>
          </a:xfrm>
          <a:prstGeom prst="rect">
            <a:avLst/>
          </a:prstGeom>
          <a:solidFill>
            <a:srgbClr val="B85E1E"/>
          </a:solidFill>
          <a:ln w="6350">
            <a:solidFill>
              <a:srgbClr val="FFFFFF"/>
            </a:solidFill>
            <a:prstDash val="solid"/>
          </a:ln>
        </p:spPr>
      </p:sp>
      <p:sp>
        <p:nvSpPr>
          <p:cNvPr id="28" name="cov-3-4"/>
          <p:cNvSpPr/>
          <p:nvPr/>
        </p:nvSpPr>
        <p:spPr>
          <a:xfrm>
            <a:off x="1627632" y="3803904"/>
            <a:ext cx="246888" cy="246888"/>
          </a:xfrm>
          <a:prstGeom prst="rect">
            <a:avLst/>
          </a:prstGeom>
          <a:solidFill>
            <a:srgbClr val="F6C9A4"/>
          </a:solidFill>
          <a:ln w="6350">
            <a:solidFill>
              <a:srgbClr val="FFFFFF"/>
            </a:solidFill>
            <a:prstDash val="solid"/>
          </a:ln>
        </p:spPr>
      </p:sp>
      <p:sp>
        <p:nvSpPr>
          <p:cNvPr id="29" name="cov-3-5"/>
          <p:cNvSpPr/>
          <p:nvPr/>
        </p:nvSpPr>
        <p:spPr>
          <a:xfrm>
            <a:off x="1874520" y="3803904"/>
            <a:ext cx="246888" cy="246888"/>
          </a:xfrm>
          <a:prstGeom prst="rect">
            <a:avLst/>
          </a:prstGeom>
          <a:solidFill>
            <a:srgbClr val="FCEBDD"/>
          </a:solidFill>
          <a:ln w="6350">
            <a:solidFill>
              <a:srgbClr val="FFFFFF"/>
            </a:solidFill>
            <a:prstDash val="solid"/>
          </a:ln>
        </p:spPr>
      </p:sp>
      <p:sp>
        <p:nvSpPr>
          <p:cNvPr id="30" name="cov-4-0"/>
          <p:cNvSpPr/>
          <p:nvPr/>
        </p:nvSpPr>
        <p:spPr>
          <a:xfrm>
            <a:off x="640080" y="4050792"/>
            <a:ext cx="246888" cy="246888"/>
          </a:xfrm>
          <a:prstGeom prst="rect">
            <a:avLst/>
          </a:prstGeom>
          <a:solidFill>
            <a:srgbClr val="F6C9A4"/>
          </a:solidFill>
          <a:ln w="6350">
            <a:solidFill>
              <a:srgbClr val="FFFFFF"/>
            </a:solidFill>
            <a:prstDash val="solid"/>
          </a:ln>
        </p:spPr>
      </p:sp>
      <p:sp>
        <p:nvSpPr>
          <p:cNvPr id="31" name="cov-4-1"/>
          <p:cNvSpPr/>
          <p:nvPr/>
        </p:nvSpPr>
        <p:spPr>
          <a:xfrm>
            <a:off x="886968" y="4050792"/>
            <a:ext cx="246888" cy="246888"/>
          </a:xfrm>
          <a:prstGeom prst="rect">
            <a:avLst/>
          </a:prstGeom>
          <a:solidFill>
            <a:srgbClr val="F5F7FB"/>
          </a:solidFill>
          <a:ln w="6350">
            <a:solidFill>
              <a:srgbClr val="FFFFFF"/>
            </a:solidFill>
            <a:prstDash val="solid"/>
          </a:ln>
        </p:spPr>
      </p:sp>
      <p:sp>
        <p:nvSpPr>
          <p:cNvPr id="32" name="cov-4-2"/>
          <p:cNvSpPr/>
          <p:nvPr/>
        </p:nvSpPr>
        <p:spPr>
          <a:xfrm>
            <a:off x="1133856" y="4050792"/>
            <a:ext cx="246888" cy="246888"/>
          </a:xfrm>
          <a:prstGeom prst="rect">
            <a:avLst/>
          </a:prstGeom>
          <a:solidFill>
            <a:srgbClr val="FCEBDD"/>
          </a:solidFill>
          <a:ln w="6350">
            <a:solidFill>
              <a:srgbClr val="FFFFFF"/>
            </a:solidFill>
            <a:prstDash val="solid"/>
          </a:ln>
        </p:spPr>
      </p:sp>
      <p:sp>
        <p:nvSpPr>
          <p:cNvPr id="33" name="cov-4-3"/>
          <p:cNvSpPr/>
          <p:nvPr/>
        </p:nvSpPr>
        <p:spPr>
          <a:xfrm>
            <a:off x="1380744" y="4050792"/>
            <a:ext cx="246888" cy="246888"/>
          </a:xfrm>
          <a:prstGeom prst="rect">
            <a:avLst/>
          </a:prstGeom>
          <a:solidFill>
            <a:srgbClr val="F6C9A4"/>
          </a:solidFill>
          <a:ln w="6350">
            <a:solidFill>
              <a:srgbClr val="FFFFFF"/>
            </a:solidFill>
            <a:prstDash val="solid"/>
          </a:ln>
        </p:spPr>
      </p:sp>
      <p:sp>
        <p:nvSpPr>
          <p:cNvPr id="34" name="cov-4-4"/>
          <p:cNvSpPr/>
          <p:nvPr/>
        </p:nvSpPr>
        <p:spPr>
          <a:xfrm>
            <a:off x="1627632" y="4050792"/>
            <a:ext cx="246888" cy="246888"/>
          </a:xfrm>
          <a:prstGeom prst="rect">
            <a:avLst/>
          </a:prstGeom>
          <a:solidFill>
            <a:srgbClr val="B85E1E"/>
          </a:solidFill>
          <a:ln w="6350">
            <a:solidFill>
              <a:srgbClr val="FFFFFF"/>
            </a:solidFill>
            <a:prstDash val="solid"/>
          </a:ln>
        </p:spPr>
      </p:sp>
      <p:sp>
        <p:nvSpPr>
          <p:cNvPr id="35" name="cov-4-5"/>
          <p:cNvSpPr/>
          <p:nvPr/>
        </p:nvSpPr>
        <p:spPr>
          <a:xfrm>
            <a:off x="1874520" y="4050792"/>
            <a:ext cx="246888" cy="246888"/>
          </a:xfrm>
          <a:prstGeom prst="rect">
            <a:avLst/>
          </a:prstGeom>
          <a:solidFill>
            <a:srgbClr val="F0A56B"/>
          </a:solidFill>
          <a:ln w="6350">
            <a:solidFill>
              <a:srgbClr val="FFFFFF"/>
            </a:solidFill>
            <a:prstDash val="solid"/>
          </a:ln>
        </p:spPr>
      </p:sp>
      <p:sp>
        <p:nvSpPr>
          <p:cNvPr id="36" name="cov-5-0"/>
          <p:cNvSpPr/>
          <p:nvPr/>
        </p:nvSpPr>
        <p:spPr>
          <a:xfrm>
            <a:off x="640080" y="4297680"/>
            <a:ext cx="246888" cy="246888"/>
          </a:xfrm>
          <a:prstGeom prst="rect">
            <a:avLst/>
          </a:prstGeom>
          <a:solidFill>
            <a:srgbClr val="FCEBDD"/>
          </a:solidFill>
          <a:ln w="6350">
            <a:solidFill>
              <a:srgbClr val="FFFFFF"/>
            </a:solidFill>
            <a:prstDash val="solid"/>
          </a:ln>
        </p:spPr>
      </p:sp>
      <p:sp>
        <p:nvSpPr>
          <p:cNvPr id="37" name="cov-5-1"/>
          <p:cNvSpPr/>
          <p:nvPr/>
        </p:nvSpPr>
        <p:spPr>
          <a:xfrm>
            <a:off x="886968" y="4297680"/>
            <a:ext cx="246888" cy="246888"/>
          </a:xfrm>
          <a:prstGeom prst="rect">
            <a:avLst/>
          </a:prstGeom>
          <a:solidFill>
            <a:srgbClr val="FCEBDD"/>
          </a:solidFill>
          <a:ln w="6350">
            <a:solidFill>
              <a:srgbClr val="FFFFFF"/>
            </a:solidFill>
            <a:prstDash val="solid"/>
          </a:ln>
        </p:spPr>
      </p:sp>
      <p:sp>
        <p:nvSpPr>
          <p:cNvPr id="38" name="cov-5-2"/>
          <p:cNvSpPr/>
          <p:nvPr/>
        </p:nvSpPr>
        <p:spPr>
          <a:xfrm>
            <a:off x="1133856" y="4297680"/>
            <a:ext cx="246888" cy="246888"/>
          </a:xfrm>
          <a:prstGeom prst="rect">
            <a:avLst/>
          </a:prstGeom>
          <a:solidFill>
            <a:srgbClr val="F5F7FB"/>
          </a:solidFill>
          <a:ln w="6350">
            <a:solidFill>
              <a:srgbClr val="FFFFFF"/>
            </a:solidFill>
            <a:prstDash val="solid"/>
          </a:ln>
        </p:spPr>
      </p:sp>
      <p:sp>
        <p:nvSpPr>
          <p:cNvPr id="39" name="cov-5-3"/>
          <p:cNvSpPr/>
          <p:nvPr/>
        </p:nvSpPr>
        <p:spPr>
          <a:xfrm>
            <a:off x="1380744" y="4297680"/>
            <a:ext cx="246888" cy="246888"/>
          </a:xfrm>
          <a:prstGeom prst="rect">
            <a:avLst/>
          </a:prstGeom>
          <a:solidFill>
            <a:srgbClr val="FCEBDD"/>
          </a:solidFill>
          <a:ln w="6350">
            <a:solidFill>
              <a:srgbClr val="FFFFFF"/>
            </a:solidFill>
            <a:prstDash val="solid"/>
          </a:ln>
        </p:spPr>
      </p:sp>
      <p:sp>
        <p:nvSpPr>
          <p:cNvPr id="40" name="cov-5-4"/>
          <p:cNvSpPr/>
          <p:nvPr/>
        </p:nvSpPr>
        <p:spPr>
          <a:xfrm>
            <a:off x="1627632" y="4297680"/>
            <a:ext cx="246888" cy="246888"/>
          </a:xfrm>
          <a:prstGeom prst="rect">
            <a:avLst/>
          </a:prstGeom>
          <a:solidFill>
            <a:srgbClr val="F0A56B"/>
          </a:solidFill>
          <a:ln w="6350">
            <a:solidFill>
              <a:srgbClr val="FFFFFF"/>
            </a:solidFill>
            <a:prstDash val="solid"/>
          </a:ln>
        </p:spPr>
      </p:sp>
      <p:sp>
        <p:nvSpPr>
          <p:cNvPr id="41" name="cov-5-5"/>
          <p:cNvSpPr/>
          <p:nvPr/>
        </p:nvSpPr>
        <p:spPr>
          <a:xfrm>
            <a:off x="1874520" y="4297680"/>
            <a:ext cx="246888" cy="246888"/>
          </a:xfrm>
          <a:prstGeom prst="rect">
            <a:avLst/>
          </a:prstGeom>
          <a:solidFill>
            <a:srgbClr val="B85E1E"/>
          </a:solidFill>
          <a:ln w="6350">
            <a:solidFill>
              <a:srgbClr val="FFFFFF"/>
            </a:solidFill>
            <a:prstDash val="solid"/>
          </a:ln>
        </p:spPr>
      </p:sp>
      <p:sp>
        <p:nvSpPr>
          <p:cNvPr id="42" name="Text 40"/>
          <p:cNvSpPr txBox="1"/>
          <p:nvPr/>
        </p:nvSpPr>
        <p:spPr>
          <a:xfrm>
            <a:off x="2286000" y="3200400"/>
            <a:ext cx="2468880" cy="1097280"/>
          </a:xfrm>
          <a:prstGeom prst="rect">
            <a:avLst/>
          </a:prstGeom>
          <a:noFill/>
          <a:ln/>
        </p:spPr>
        <p:txBody>
          <a:bodyPr wrap="square" lIns="0" tIns="0" rIns="0" bIns="0" rtlCol="0" anchor="t"/>
          <a:lstStyle/>
          <a:p>
            <a:pPr indent="0" marL="0">
              <a:buNone/>
            </a:pPr>
            <a:r>
              <a:rPr lang="en-US" sz="1150" b="1" dirty="0">
                <a:solidFill>
                  <a:schemeClr val="tx2"/>
                </a:solidFill>
              </a:rPr>
              <a:t>Mirror image across the diagonal = symmetric.</a:t>
            </a:r>
            <a:endParaRPr lang="en-US" sz="1150" dirty="0"/>
          </a:p>
          <a:p>
            <a:pPr indent="0" marL="0">
              <a:buNone/>
            </a:pPr>
            <a:r>
              <a:rPr lang="en-US" sz="1150" dirty="0">
                <a:solidFill>
                  <a:schemeClr val="tx1"/>
                </a:solidFill>
              </a:rPr>
              <a:t>Darkest cells on the diagonal: each pixel's own variance.</a:t>
            </a:r>
            <a:endParaRPr lang="en-US" sz="1150" dirty="0"/>
          </a:p>
        </p:txBody>
      </p:sp>
      <p:sp>
        <p:nvSpPr>
          <p:cNvPr id="43" name="Formula"/>
          <p:cNvSpPr/>
          <p:nvPr/>
        </p:nvSpPr>
        <p:spPr>
          <a:xfrm>
            <a:off x="5029200" y="1143000"/>
            <a:ext cx="3657600" cy="1463040"/>
          </a:xfrm>
          <a:prstGeom prst="roundRect">
            <a:avLst>
              <a:gd name="adj" fmla="val 6250"/>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44" name="Text 42"/>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45" name="Text 43"/>
          <p:cNvSpPr txBox="1"/>
          <p:nvPr/>
        </p:nvSpPr>
        <p:spPr>
          <a:xfrm>
            <a:off x="5212080" y="1554480"/>
            <a:ext cx="3291840" cy="96012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C = Xcᵀ Xc / (n − 1)</a:t>
            </a:r>
            <a:endParaRPr lang="en-US" sz="1500" dirty="0"/>
          </a:p>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Cᵀ = C   (symmetric)</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Cᵢⱼ = how pixel i and pixel j vary together</a:t>
            </a:r>
            <a:endParaRPr lang="en-US" sz="1500" dirty="0"/>
          </a:p>
        </p:txBody>
      </p:sp>
      <p:sp>
        <p:nvSpPr>
          <p:cNvPr id="46" name="In our project"/>
          <p:cNvSpPr/>
          <p:nvPr/>
        </p:nvSpPr>
        <p:spPr>
          <a:xfrm>
            <a:off x="5029200" y="2788920"/>
            <a:ext cx="3657600" cy="1828800"/>
          </a:xfrm>
          <a:prstGeom prst="roundRect">
            <a:avLst>
              <a:gd name="adj" fmla="val 5000"/>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47" name="Text 45"/>
          <p:cNvSpPr txBox="1"/>
          <p:nvPr/>
        </p:nvSpPr>
        <p:spPr>
          <a:xfrm>
            <a:off x="5212080" y="289864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48" name="Text 46"/>
          <p:cNvSpPr txBox="1"/>
          <p:nvPr/>
        </p:nvSpPr>
        <p:spPr>
          <a:xfrm>
            <a:off x="5212080" y="3200400"/>
            <a:ext cx="3291840" cy="132588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C is 4096 × 4096, one row and one column per pixel. It is symmetric because “how pixel i varies with pixel j” is the same as “how j varies with i”. This symmetry is what makes the next two steps work so nicely.</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Eigenvalues and eigenvectors</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5" name="Text 3"/>
          <p:cNvSpPr txBox="1"/>
          <p:nvPr/>
        </p:nvSpPr>
        <p:spPr>
          <a:xfrm>
            <a:off x="457200" y="1143000"/>
            <a:ext cx="4297680" cy="196596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Multiplying a vector by a matrix usually turns it. An eigenvector is a special direction that does not turn: it only gets stretched. The stretch amount is the eigenvalue.</a:t>
            </a:r>
            <a:endParaRPr lang="en-US" sz="1300" dirty="0"/>
          </a:p>
          <a:p>
            <a:pPr indent="0" marL="0">
              <a:spcAft>
                <a:spcPts val="800"/>
              </a:spcAft>
              <a:buNone/>
            </a:pPr>
            <a:r>
              <a:rPr lang="en-US" sz="1300" dirty="0">
                <a:solidFill>
                  <a:schemeClr val="tx1"/>
                </a:solidFill>
              </a:rPr>
              <a:t>For the covariance matrix, each eigenvector is a direction in which faces vary, and its eigenvalue tells how much they vary along it.</a:t>
            </a:r>
            <a:endParaRPr lang="en-US" sz="1300" dirty="0"/>
          </a:p>
        </p:txBody>
      </p:sp>
      <p:sp>
        <p:nvSpPr>
          <p:cNvPr id="6" name="Shape 4"/>
          <p:cNvSpPr/>
          <p:nvPr/>
        </p:nvSpPr>
        <p:spPr>
          <a:xfrm flipV="1">
            <a:off x="822960" y="3429000"/>
            <a:ext cx="1463040" cy="868680"/>
          </a:xfrm>
          <a:prstGeom prst="line">
            <a:avLst/>
          </a:prstGeom>
          <a:noFill/>
          <a:ln w="44450">
            <a:solidFill>
              <a:srgbClr val="E8833A"/>
            </a:solidFill>
            <a:prstDash val="solid"/>
            <a:tailEnd type="triangle"/>
          </a:ln>
        </p:spPr>
      </p:sp>
      <p:sp>
        <p:nvSpPr>
          <p:cNvPr id="7" name="Shape 5"/>
          <p:cNvSpPr/>
          <p:nvPr/>
        </p:nvSpPr>
        <p:spPr>
          <a:xfrm flipV="1">
            <a:off x="822960" y="3863340"/>
            <a:ext cx="731520" cy="434340"/>
          </a:xfrm>
          <a:prstGeom prst="line">
            <a:avLst/>
          </a:prstGeom>
          <a:noFill/>
          <a:ln w="25400">
            <a:solidFill>
              <a:srgbClr val="1D2340"/>
            </a:solidFill>
            <a:prstDash val="solid"/>
            <a:tailEnd type="triangle"/>
          </a:ln>
        </p:spPr>
      </p:sp>
      <p:sp>
        <p:nvSpPr>
          <p:cNvPr id="8" name="Text 6"/>
          <p:cNvSpPr txBox="1"/>
          <p:nvPr/>
        </p:nvSpPr>
        <p:spPr>
          <a:xfrm>
            <a:off x="1143000" y="3730752"/>
            <a:ext cx="274320" cy="228600"/>
          </a:xfrm>
          <a:prstGeom prst="rect">
            <a:avLst/>
          </a:prstGeom>
          <a:noFill/>
          <a:ln/>
        </p:spPr>
        <p:txBody>
          <a:bodyPr wrap="square" lIns="0" tIns="0" rIns="0" bIns="0" rtlCol="0" anchor="ctr"/>
          <a:lstStyle/>
          <a:p>
            <a:pPr algn="ctr" indent="0" marL="0">
              <a:buNone/>
            </a:pPr>
            <a:r>
              <a:rPr lang="en-US" sz="1200" b="1" dirty="0">
                <a:solidFill>
                  <a:schemeClr val="tx1"/>
                </a:solidFill>
                <a:latin typeface="Cambria" pitchFamily="34" charset="0"/>
                <a:ea typeface="Cambria" pitchFamily="34" charset="-122"/>
                <a:cs typeface="Cambria" pitchFamily="34" charset="-120"/>
              </a:rPr>
              <a:t>v</a:t>
            </a:r>
            <a:endParaRPr lang="en-US" sz="1200" dirty="0"/>
          </a:p>
        </p:txBody>
      </p:sp>
      <p:sp>
        <p:nvSpPr>
          <p:cNvPr id="9" name="Text 7"/>
          <p:cNvSpPr txBox="1"/>
          <p:nvPr/>
        </p:nvSpPr>
        <p:spPr>
          <a:xfrm>
            <a:off x="2240280" y="3246120"/>
            <a:ext cx="2377440" cy="228600"/>
          </a:xfrm>
          <a:prstGeom prst="rect">
            <a:avLst/>
          </a:prstGeom>
          <a:noFill/>
          <a:ln/>
        </p:spPr>
        <p:txBody>
          <a:bodyPr wrap="square" lIns="0" tIns="0" rIns="0" bIns="0" rtlCol="0" anchor="ctr"/>
          <a:lstStyle/>
          <a:p>
            <a:pPr algn="l" indent="0" marL="0">
              <a:buNone/>
            </a:pPr>
            <a:r>
              <a:rPr lang="en-US" sz="1050" b="1" dirty="0">
                <a:solidFill>
                  <a:schemeClr val="accent1"/>
                </a:solidFill>
              </a:rPr>
              <a:t>Cv = λv  (same direction, longer)</a:t>
            </a:r>
            <a:endParaRPr lang="en-US" sz="1050" dirty="0"/>
          </a:p>
        </p:txBody>
      </p:sp>
      <p:sp>
        <p:nvSpPr>
          <p:cNvPr id="10" name="Shape 8"/>
          <p:cNvSpPr/>
          <p:nvPr/>
        </p:nvSpPr>
        <p:spPr>
          <a:xfrm flipV="1">
            <a:off x="3017520" y="3474720"/>
            <a:ext cx="228600" cy="822960"/>
          </a:xfrm>
          <a:prstGeom prst="line">
            <a:avLst/>
          </a:prstGeom>
          <a:noFill/>
          <a:ln w="25400">
            <a:solidFill>
              <a:srgbClr val="8A90A6"/>
            </a:solidFill>
            <a:prstDash val="solid"/>
            <a:tailEnd type="triangle"/>
          </a:ln>
        </p:spPr>
      </p:sp>
      <p:sp>
        <p:nvSpPr>
          <p:cNvPr id="11" name="Shape 9"/>
          <p:cNvSpPr/>
          <p:nvPr/>
        </p:nvSpPr>
        <p:spPr>
          <a:xfrm flipV="1">
            <a:off x="3017520" y="3886200"/>
            <a:ext cx="1005840" cy="411480"/>
          </a:xfrm>
          <a:prstGeom prst="line">
            <a:avLst/>
          </a:prstGeom>
          <a:noFill/>
          <a:ln w="25400">
            <a:solidFill>
              <a:srgbClr val="8A90A6"/>
            </a:solidFill>
            <a:prstDash val="dash"/>
            <a:tailEnd type="triangle"/>
          </a:ln>
        </p:spPr>
      </p:sp>
      <p:sp>
        <p:nvSpPr>
          <p:cNvPr id="12" name="Text 10"/>
          <p:cNvSpPr txBox="1"/>
          <p:nvPr/>
        </p:nvSpPr>
        <p:spPr>
          <a:xfrm>
            <a:off x="3035808" y="3429000"/>
            <a:ext cx="274320" cy="201168"/>
          </a:xfrm>
          <a:prstGeom prst="rect">
            <a:avLst/>
          </a:prstGeom>
          <a:no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w</a:t>
            </a:r>
            <a:endParaRPr lang="en-US" sz="1100" dirty="0"/>
          </a:p>
        </p:txBody>
      </p:sp>
      <p:sp>
        <p:nvSpPr>
          <p:cNvPr id="13" name="Text 11"/>
          <p:cNvSpPr txBox="1"/>
          <p:nvPr/>
        </p:nvSpPr>
        <p:spPr>
          <a:xfrm>
            <a:off x="4023360" y="3749040"/>
            <a:ext cx="365760" cy="201168"/>
          </a:xfrm>
          <a:prstGeom prst="rect">
            <a:avLst/>
          </a:prstGeom>
          <a:noFill/>
          <a:ln/>
        </p:spPr>
        <p:txBody>
          <a:bodyPr wrap="square" lIns="0" tIns="0" rIns="0" bIns="0" rtlCol="0" anchor="ctr"/>
          <a:lstStyle/>
          <a:p>
            <a:pPr algn="ctr" indent="0" marL="0">
              <a:buNone/>
            </a:pPr>
            <a:r>
              <a:rPr lang="en-US" sz="1100" b="1" dirty="0">
                <a:solidFill>
                  <a:srgbClr val="5A6075"/>
                </a:solidFill>
                <a:latin typeface="Cambria" pitchFamily="34" charset="0"/>
                <a:ea typeface="Cambria" pitchFamily="34" charset="-122"/>
                <a:cs typeface="Cambria" pitchFamily="34" charset="-120"/>
              </a:rPr>
              <a:t>Cw</a:t>
            </a:r>
            <a:endParaRPr lang="en-US" sz="1100" dirty="0"/>
          </a:p>
        </p:txBody>
      </p:sp>
      <p:sp>
        <p:nvSpPr>
          <p:cNvPr id="14" name="Text 12"/>
          <p:cNvSpPr txBox="1"/>
          <p:nvPr/>
        </p:nvSpPr>
        <p:spPr>
          <a:xfrm>
            <a:off x="2743200" y="4407408"/>
            <a:ext cx="2011680" cy="201168"/>
          </a:xfrm>
          <a:prstGeom prst="rect">
            <a:avLst/>
          </a:prstGeom>
          <a:noFill/>
          <a:ln/>
        </p:spPr>
        <p:txBody>
          <a:bodyPr wrap="square" lIns="0" tIns="0" rIns="0" bIns="0" rtlCol="0" anchor="ctr"/>
          <a:lstStyle/>
          <a:p>
            <a:pPr algn="l" indent="0" marL="0">
              <a:buNone/>
            </a:pPr>
            <a:r>
              <a:rPr lang="en-US" sz="1000" dirty="0">
                <a:solidFill>
                  <a:srgbClr val="5A6075"/>
                </a:solidFill>
              </a:rPr>
              <a:t>ordinary vector w: gets turned</a:t>
            </a:r>
            <a:endParaRPr lang="en-US" sz="1000" dirty="0"/>
          </a:p>
        </p:txBody>
      </p:sp>
      <p:sp>
        <p:nvSpPr>
          <p:cNvPr id="15" name="Formula"/>
          <p:cNvSpPr/>
          <p:nvPr/>
        </p:nvSpPr>
        <p:spPr>
          <a:xfrm>
            <a:off x="5029200" y="1143000"/>
            <a:ext cx="3657600" cy="1325880"/>
          </a:xfrm>
          <a:prstGeom prst="roundRect">
            <a:avLst>
              <a:gd name="adj" fmla="val 6897"/>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16" name="Text 14"/>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17" name="Text 15"/>
          <p:cNvSpPr txBox="1"/>
          <p:nvPr/>
        </p:nvSpPr>
        <p:spPr>
          <a:xfrm>
            <a:off x="5212080" y="1554480"/>
            <a:ext cx="3291840" cy="82296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C v = λ v</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v = eigenvector (a direction)</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λ = eigenvalue (how much variation)</a:t>
            </a:r>
            <a:endParaRPr lang="en-US" sz="1500" dirty="0"/>
          </a:p>
        </p:txBody>
      </p:sp>
      <p:sp>
        <p:nvSpPr>
          <p:cNvPr id="18" name="In our project"/>
          <p:cNvSpPr/>
          <p:nvPr/>
        </p:nvSpPr>
        <p:spPr>
          <a:xfrm>
            <a:off x="5029200" y="2651760"/>
            <a:ext cx="3657600" cy="1965960"/>
          </a:xfrm>
          <a:prstGeom prst="roundRect">
            <a:avLst>
              <a:gd name="adj" fmla="val 4651"/>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19" name="Text 17"/>
          <p:cNvSpPr txBox="1"/>
          <p:nvPr/>
        </p:nvSpPr>
        <p:spPr>
          <a:xfrm>
            <a:off x="5212080" y="276148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20" name="Text 18"/>
          <p:cNvSpPr txBox="1"/>
          <p:nvPr/>
        </p:nvSpPr>
        <p:spPr>
          <a:xfrm>
            <a:off x="5212080" y="3063240"/>
            <a:ext cx="3291840" cy="146304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We sort the eigenvalues from largest to smallest. The first few eigenvectors capture most of the differences between faces (lighting, face shape, hair line). These are the main face patterns. The tiny ones are mostly noise.</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Diagonalization of a symmetric matrix</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6</a:t>
            </a:r>
            <a:endParaRPr lang="en-US" sz="2000" dirty="0"/>
          </a:p>
        </p:txBody>
      </p:sp>
      <p:sp>
        <p:nvSpPr>
          <p:cNvPr id="5" name="Text 3"/>
          <p:cNvSpPr txBox="1"/>
          <p:nvPr/>
        </p:nvSpPr>
        <p:spPr>
          <a:xfrm>
            <a:off x="457200" y="1143000"/>
            <a:ext cx="4297680" cy="192024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Diagonalizing rewrites a matrix using its eigenvectors so that the middle part is diagonal: numbers on the diagonal, zeros everywhere else.</a:t>
            </a:r>
            <a:endParaRPr lang="en-US" sz="1300" dirty="0"/>
          </a:p>
          <a:p>
            <a:pPr indent="0" marL="0">
              <a:spcAft>
                <a:spcPts val="800"/>
              </a:spcAft>
              <a:buNone/>
            </a:pPr>
            <a:r>
              <a:rPr lang="en-US" sz="1300" dirty="0">
                <a:solidFill>
                  <a:schemeClr val="tx1"/>
                </a:solidFill>
              </a:rPr>
              <a:t>Because C is symmetric, the spectral theorem promises real eigenvalues and eigenvectors that are perpendicular (orthogonal) to each other.</a:t>
            </a:r>
            <a:endParaRPr lang="en-US" sz="1300" dirty="0"/>
          </a:p>
        </p:txBody>
      </p:sp>
      <p:sp>
        <p:nvSpPr>
          <p:cNvPr id="6" name="Cm-0-0"/>
          <p:cNvSpPr/>
          <p:nvPr/>
        </p:nvSpPr>
        <p:spPr>
          <a:xfrm>
            <a:off x="502920" y="3429000"/>
            <a:ext cx="155448" cy="155448"/>
          </a:xfrm>
          <a:prstGeom prst="rect">
            <a:avLst/>
          </a:prstGeom>
          <a:solidFill>
            <a:srgbClr val="F0A56B"/>
          </a:solidFill>
          <a:ln w="6350">
            <a:solidFill>
              <a:srgbClr val="FFFFFF"/>
            </a:solidFill>
            <a:prstDash val="solid"/>
          </a:ln>
        </p:spPr>
      </p:sp>
      <p:sp>
        <p:nvSpPr>
          <p:cNvPr id="7" name="Cm-0-1"/>
          <p:cNvSpPr/>
          <p:nvPr/>
        </p:nvSpPr>
        <p:spPr>
          <a:xfrm>
            <a:off x="658368" y="3429000"/>
            <a:ext cx="155448" cy="155448"/>
          </a:xfrm>
          <a:prstGeom prst="rect">
            <a:avLst/>
          </a:prstGeom>
          <a:solidFill>
            <a:srgbClr val="F6C9A4"/>
          </a:solidFill>
          <a:ln w="6350">
            <a:solidFill>
              <a:srgbClr val="FFFFFF"/>
            </a:solidFill>
            <a:prstDash val="solid"/>
          </a:ln>
        </p:spPr>
      </p:sp>
      <p:sp>
        <p:nvSpPr>
          <p:cNvPr id="8" name="Cm-0-2"/>
          <p:cNvSpPr/>
          <p:nvPr/>
        </p:nvSpPr>
        <p:spPr>
          <a:xfrm>
            <a:off x="813816" y="3429000"/>
            <a:ext cx="155448" cy="155448"/>
          </a:xfrm>
          <a:prstGeom prst="rect">
            <a:avLst/>
          </a:prstGeom>
          <a:solidFill>
            <a:srgbClr val="FCEBDD"/>
          </a:solidFill>
          <a:ln w="6350">
            <a:solidFill>
              <a:srgbClr val="FFFFFF"/>
            </a:solidFill>
            <a:prstDash val="solid"/>
          </a:ln>
        </p:spPr>
      </p:sp>
      <p:sp>
        <p:nvSpPr>
          <p:cNvPr id="9" name="Cm-0-3"/>
          <p:cNvSpPr/>
          <p:nvPr/>
        </p:nvSpPr>
        <p:spPr>
          <a:xfrm>
            <a:off x="969264" y="3429000"/>
            <a:ext cx="155448" cy="155448"/>
          </a:xfrm>
          <a:prstGeom prst="rect">
            <a:avLst/>
          </a:prstGeom>
          <a:solidFill>
            <a:srgbClr val="F0A56B"/>
          </a:solidFill>
          <a:ln w="6350">
            <a:solidFill>
              <a:srgbClr val="FFFFFF"/>
            </a:solidFill>
            <a:prstDash val="solid"/>
          </a:ln>
        </p:spPr>
      </p:sp>
      <p:sp>
        <p:nvSpPr>
          <p:cNvPr id="10" name="Cm-0-4"/>
          <p:cNvSpPr/>
          <p:nvPr/>
        </p:nvSpPr>
        <p:spPr>
          <a:xfrm>
            <a:off x="1124712" y="3429000"/>
            <a:ext cx="155448" cy="155448"/>
          </a:xfrm>
          <a:prstGeom prst="rect">
            <a:avLst/>
          </a:prstGeom>
          <a:solidFill>
            <a:srgbClr val="F6C9A4"/>
          </a:solidFill>
          <a:ln w="6350">
            <a:solidFill>
              <a:srgbClr val="FFFFFF"/>
            </a:solidFill>
            <a:prstDash val="solid"/>
          </a:ln>
        </p:spPr>
      </p:sp>
      <p:sp>
        <p:nvSpPr>
          <p:cNvPr id="11" name="Cm-1-0"/>
          <p:cNvSpPr/>
          <p:nvPr/>
        </p:nvSpPr>
        <p:spPr>
          <a:xfrm>
            <a:off x="502920" y="3584448"/>
            <a:ext cx="155448" cy="155448"/>
          </a:xfrm>
          <a:prstGeom prst="rect">
            <a:avLst/>
          </a:prstGeom>
          <a:solidFill>
            <a:srgbClr val="F6C9A4"/>
          </a:solidFill>
          <a:ln w="6350">
            <a:solidFill>
              <a:srgbClr val="FFFFFF"/>
            </a:solidFill>
            <a:prstDash val="solid"/>
          </a:ln>
        </p:spPr>
      </p:sp>
      <p:sp>
        <p:nvSpPr>
          <p:cNvPr id="12" name="Cm-1-1"/>
          <p:cNvSpPr/>
          <p:nvPr/>
        </p:nvSpPr>
        <p:spPr>
          <a:xfrm>
            <a:off x="658368" y="3584448"/>
            <a:ext cx="155448" cy="155448"/>
          </a:xfrm>
          <a:prstGeom prst="rect">
            <a:avLst/>
          </a:prstGeom>
          <a:solidFill>
            <a:srgbClr val="FCEBDD"/>
          </a:solidFill>
          <a:ln w="6350">
            <a:solidFill>
              <a:srgbClr val="FFFFFF"/>
            </a:solidFill>
            <a:prstDash val="solid"/>
          </a:ln>
        </p:spPr>
      </p:sp>
      <p:sp>
        <p:nvSpPr>
          <p:cNvPr id="13" name="Cm-1-2"/>
          <p:cNvSpPr/>
          <p:nvPr/>
        </p:nvSpPr>
        <p:spPr>
          <a:xfrm>
            <a:off x="813816" y="3584448"/>
            <a:ext cx="155448" cy="155448"/>
          </a:xfrm>
          <a:prstGeom prst="rect">
            <a:avLst/>
          </a:prstGeom>
          <a:solidFill>
            <a:srgbClr val="F0A56B"/>
          </a:solidFill>
          <a:ln w="6350">
            <a:solidFill>
              <a:srgbClr val="FFFFFF"/>
            </a:solidFill>
            <a:prstDash val="solid"/>
          </a:ln>
        </p:spPr>
      </p:sp>
      <p:sp>
        <p:nvSpPr>
          <p:cNvPr id="14" name="Cm-1-3"/>
          <p:cNvSpPr/>
          <p:nvPr/>
        </p:nvSpPr>
        <p:spPr>
          <a:xfrm>
            <a:off x="969264" y="3584448"/>
            <a:ext cx="155448" cy="155448"/>
          </a:xfrm>
          <a:prstGeom prst="rect">
            <a:avLst/>
          </a:prstGeom>
          <a:solidFill>
            <a:srgbClr val="F6C9A4"/>
          </a:solidFill>
          <a:ln w="6350">
            <a:solidFill>
              <a:srgbClr val="FFFFFF"/>
            </a:solidFill>
            <a:prstDash val="solid"/>
          </a:ln>
        </p:spPr>
      </p:sp>
      <p:sp>
        <p:nvSpPr>
          <p:cNvPr id="15" name="Cm-1-4"/>
          <p:cNvSpPr/>
          <p:nvPr/>
        </p:nvSpPr>
        <p:spPr>
          <a:xfrm>
            <a:off x="1124712" y="3584448"/>
            <a:ext cx="155448" cy="155448"/>
          </a:xfrm>
          <a:prstGeom prst="rect">
            <a:avLst/>
          </a:prstGeom>
          <a:solidFill>
            <a:srgbClr val="FCEBDD"/>
          </a:solidFill>
          <a:ln w="6350">
            <a:solidFill>
              <a:srgbClr val="FFFFFF"/>
            </a:solidFill>
            <a:prstDash val="solid"/>
          </a:ln>
        </p:spPr>
      </p:sp>
      <p:sp>
        <p:nvSpPr>
          <p:cNvPr id="16" name="Cm-2-0"/>
          <p:cNvSpPr/>
          <p:nvPr/>
        </p:nvSpPr>
        <p:spPr>
          <a:xfrm>
            <a:off x="502920" y="3739896"/>
            <a:ext cx="155448" cy="155448"/>
          </a:xfrm>
          <a:prstGeom prst="rect">
            <a:avLst/>
          </a:prstGeom>
          <a:solidFill>
            <a:srgbClr val="FCEBDD"/>
          </a:solidFill>
          <a:ln w="6350">
            <a:solidFill>
              <a:srgbClr val="FFFFFF"/>
            </a:solidFill>
            <a:prstDash val="solid"/>
          </a:ln>
        </p:spPr>
      </p:sp>
      <p:sp>
        <p:nvSpPr>
          <p:cNvPr id="17" name="Cm-2-1"/>
          <p:cNvSpPr/>
          <p:nvPr/>
        </p:nvSpPr>
        <p:spPr>
          <a:xfrm>
            <a:off x="658368" y="3739896"/>
            <a:ext cx="155448" cy="155448"/>
          </a:xfrm>
          <a:prstGeom prst="rect">
            <a:avLst/>
          </a:prstGeom>
          <a:solidFill>
            <a:srgbClr val="F0A56B"/>
          </a:solidFill>
          <a:ln w="6350">
            <a:solidFill>
              <a:srgbClr val="FFFFFF"/>
            </a:solidFill>
            <a:prstDash val="solid"/>
          </a:ln>
        </p:spPr>
      </p:sp>
      <p:sp>
        <p:nvSpPr>
          <p:cNvPr id="18" name="Cm-2-2"/>
          <p:cNvSpPr/>
          <p:nvPr/>
        </p:nvSpPr>
        <p:spPr>
          <a:xfrm>
            <a:off x="813816" y="3739896"/>
            <a:ext cx="155448" cy="155448"/>
          </a:xfrm>
          <a:prstGeom prst="rect">
            <a:avLst/>
          </a:prstGeom>
          <a:solidFill>
            <a:srgbClr val="F6C9A4"/>
          </a:solidFill>
          <a:ln w="6350">
            <a:solidFill>
              <a:srgbClr val="FFFFFF"/>
            </a:solidFill>
            <a:prstDash val="solid"/>
          </a:ln>
        </p:spPr>
      </p:sp>
      <p:sp>
        <p:nvSpPr>
          <p:cNvPr id="19" name="Cm-2-3"/>
          <p:cNvSpPr/>
          <p:nvPr/>
        </p:nvSpPr>
        <p:spPr>
          <a:xfrm>
            <a:off x="969264" y="3739896"/>
            <a:ext cx="155448" cy="155448"/>
          </a:xfrm>
          <a:prstGeom prst="rect">
            <a:avLst/>
          </a:prstGeom>
          <a:solidFill>
            <a:srgbClr val="FCEBDD"/>
          </a:solidFill>
          <a:ln w="6350">
            <a:solidFill>
              <a:srgbClr val="FFFFFF"/>
            </a:solidFill>
            <a:prstDash val="solid"/>
          </a:ln>
        </p:spPr>
      </p:sp>
      <p:sp>
        <p:nvSpPr>
          <p:cNvPr id="20" name="Cm-2-4"/>
          <p:cNvSpPr/>
          <p:nvPr/>
        </p:nvSpPr>
        <p:spPr>
          <a:xfrm>
            <a:off x="1124712" y="3739896"/>
            <a:ext cx="155448" cy="155448"/>
          </a:xfrm>
          <a:prstGeom prst="rect">
            <a:avLst/>
          </a:prstGeom>
          <a:solidFill>
            <a:srgbClr val="F0A56B"/>
          </a:solidFill>
          <a:ln w="6350">
            <a:solidFill>
              <a:srgbClr val="FFFFFF"/>
            </a:solidFill>
            <a:prstDash val="solid"/>
          </a:ln>
        </p:spPr>
      </p:sp>
      <p:sp>
        <p:nvSpPr>
          <p:cNvPr id="21" name="Cm-3-0"/>
          <p:cNvSpPr/>
          <p:nvPr/>
        </p:nvSpPr>
        <p:spPr>
          <a:xfrm>
            <a:off x="502920" y="3895344"/>
            <a:ext cx="155448" cy="155448"/>
          </a:xfrm>
          <a:prstGeom prst="rect">
            <a:avLst/>
          </a:prstGeom>
          <a:solidFill>
            <a:srgbClr val="F0A56B"/>
          </a:solidFill>
          <a:ln w="6350">
            <a:solidFill>
              <a:srgbClr val="FFFFFF"/>
            </a:solidFill>
            <a:prstDash val="solid"/>
          </a:ln>
        </p:spPr>
      </p:sp>
      <p:sp>
        <p:nvSpPr>
          <p:cNvPr id="22" name="Cm-3-1"/>
          <p:cNvSpPr/>
          <p:nvPr/>
        </p:nvSpPr>
        <p:spPr>
          <a:xfrm>
            <a:off x="658368" y="3895344"/>
            <a:ext cx="155448" cy="155448"/>
          </a:xfrm>
          <a:prstGeom prst="rect">
            <a:avLst/>
          </a:prstGeom>
          <a:solidFill>
            <a:srgbClr val="F6C9A4"/>
          </a:solidFill>
          <a:ln w="6350">
            <a:solidFill>
              <a:srgbClr val="FFFFFF"/>
            </a:solidFill>
            <a:prstDash val="solid"/>
          </a:ln>
        </p:spPr>
      </p:sp>
      <p:sp>
        <p:nvSpPr>
          <p:cNvPr id="23" name="Cm-3-2"/>
          <p:cNvSpPr/>
          <p:nvPr/>
        </p:nvSpPr>
        <p:spPr>
          <a:xfrm>
            <a:off x="813816" y="3895344"/>
            <a:ext cx="155448" cy="155448"/>
          </a:xfrm>
          <a:prstGeom prst="rect">
            <a:avLst/>
          </a:prstGeom>
          <a:solidFill>
            <a:srgbClr val="FCEBDD"/>
          </a:solidFill>
          <a:ln w="6350">
            <a:solidFill>
              <a:srgbClr val="FFFFFF"/>
            </a:solidFill>
            <a:prstDash val="solid"/>
          </a:ln>
        </p:spPr>
      </p:sp>
      <p:sp>
        <p:nvSpPr>
          <p:cNvPr id="24" name="Cm-3-3"/>
          <p:cNvSpPr/>
          <p:nvPr/>
        </p:nvSpPr>
        <p:spPr>
          <a:xfrm>
            <a:off x="969264" y="3895344"/>
            <a:ext cx="155448" cy="155448"/>
          </a:xfrm>
          <a:prstGeom prst="rect">
            <a:avLst/>
          </a:prstGeom>
          <a:solidFill>
            <a:srgbClr val="F0A56B"/>
          </a:solidFill>
          <a:ln w="6350">
            <a:solidFill>
              <a:srgbClr val="FFFFFF"/>
            </a:solidFill>
            <a:prstDash val="solid"/>
          </a:ln>
        </p:spPr>
      </p:sp>
      <p:sp>
        <p:nvSpPr>
          <p:cNvPr id="25" name="Cm-3-4"/>
          <p:cNvSpPr/>
          <p:nvPr/>
        </p:nvSpPr>
        <p:spPr>
          <a:xfrm>
            <a:off x="1124712" y="3895344"/>
            <a:ext cx="155448" cy="155448"/>
          </a:xfrm>
          <a:prstGeom prst="rect">
            <a:avLst/>
          </a:prstGeom>
          <a:solidFill>
            <a:srgbClr val="F6C9A4"/>
          </a:solidFill>
          <a:ln w="6350">
            <a:solidFill>
              <a:srgbClr val="FFFFFF"/>
            </a:solidFill>
            <a:prstDash val="solid"/>
          </a:ln>
        </p:spPr>
      </p:sp>
      <p:sp>
        <p:nvSpPr>
          <p:cNvPr id="26" name="Cm-4-0"/>
          <p:cNvSpPr/>
          <p:nvPr/>
        </p:nvSpPr>
        <p:spPr>
          <a:xfrm>
            <a:off x="502920" y="4050792"/>
            <a:ext cx="155448" cy="155448"/>
          </a:xfrm>
          <a:prstGeom prst="rect">
            <a:avLst/>
          </a:prstGeom>
          <a:solidFill>
            <a:srgbClr val="F6C9A4"/>
          </a:solidFill>
          <a:ln w="6350">
            <a:solidFill>
              <a:srgbClr val="FFFFFF"/>
            </a:solidFill>
            <a:prstDash val="solid"/>
          </a:ln>
        </p:spPr>
      </p:sp>
      <p:sp>
        <p:nvSpPr>
          <p:cNvPr id="27" name="Cm-4-1"/>
          <p:cNvSpPr/>
          <p:nvPr/>
        </p:nvSpPr>
        <p:spPr>
          <a:xfrm>
            <a:off x="658368" y="4050792"/>
            <a:ext cx="155448" cy="155448"/>
          </a:xfrm>
          <a:prstGeom prst="rect">
            <a:avLst/>
          </a:prstGeom>
          <a:solidFill>
            <a:srgbClr val="FCEBDD"/>
          </a:solidFill>
          <a:ln w="6350">
            <a:solidFill>
              <a:srgbClr val="FFFFFF"/>
            </a:solidFill>
            <a:prstDash val="solid"/>
          </a:ln>
        </p:spPr>
      </p:sp>
      <p:sp>
        <p:nvSpPr>
          <p:cNvPr id="28" name="Cm-4-2"/>
          <p:cNvSpPr/>
          <p:nvPr/>
        </p:nvSpPr>
        <p:spPr>
          <a:xfrm>
            <a:off x="813816" y="4050792"/>
            <a:ext cx="155448" cy="155448"/>
          </a:xfrm>
          <a:prstGeom prst="rect">
            <a:avLst/>
          </a:prstGeom>
          <a:solidFill>
            <a:srgbClr val="F0A56B"/>
          </a:solidFill>
          <a:ln w="6350">
            <a:solidFill>
              <a:srgbClr val="FFFFFF"/>
            </a:solidFill>
            <a:prstDash val="solid"/>
          </a:ln>
        </p:spPr>
      </p:sp>
      <p:sp>
        <p:nvSpPr>
          <p:cNvPr id="29" name="Cm-4-3"/>
          <p:cNvSpPr/>
          <p:nvPr/>
        </p:nvSpPr>
        <p:spPr>
          <a:xfrm>
            <a:off x="969264" y="4050792"/>
            <a:ext cx="155448" cy="155448"/>
          </a:xfrm>
          <a:prstGeom prst="rect">
            <a:avLst/>
          </a:prstGeom>
          <a:solidFill>
            <a:srgbClr val="F6C9A4"/>
          </a:solidFill>
          <a:ln w="6350">
            <a:solidFill>
              <a:srgbClr val="FFFFFF"/>
            </a:solidFill>
            <a:prstDash val="solid"/>
          </a:ln>
        </p:spPr>
      </p:sp>
      <p:sp>
        <p:nvSpPr>
          <p:cNvPr id="30" name="Cm-4-4"/>
          <p:cNvSpPr/>
          <p:nvPr/>
        </p:nvSpPr>
        <p:spPr>
          <a:xfrm>
            <a:off x="1124712" y="4050792"/>
            <a:ext cx="155448" cy="155448"/>
          </a:xfrm>
          <a:prstGeom prst="rect">
            <a:avLst/>
          </a:prstGeom>
          <a:solidFill>
            <a:srgbClr val="FCEBDD"/>
          </a:solidFill>
          <a:ln w="6350">
            <a:solidFill>
              <a:srgbClr val="FFFFFF"/>
            </a:solidFill>
            <a:prstDash val="solid"/>
          </a:ln>
        </p:spPr>
      </p:sp>
      <p:sp>
        <p:nvSpPr>
          <p:cNvPr id="31" name="Text 29"/>
          <p:cNvSpPr txBox="1"/>
          <p:nvPr/>
        </p:nvSpPr>
        <p:spPr>
          <a:xfrm>
            <a:off x="1325880" y="3429000"/>
            <a:ext cx="320040" cy="77724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32" name="P-0-0"/>
          <p:cNvSpPr/>
          <p:nvPr/>
        </p:nvSpPr>
        <p:spPr>
          <a:xfrm>
            <a:off x="1691640" y="3429000"/>
            <a:ext cx="155448" cy="155448"/>
          </a:xfrm>
          <a:prstGeom prst="rect">
            <a:avLst/>
          </a:prstGeom>
          <a:solidFill>
            <a:srgbClr val="9FCBCF"/>
          </a:solidFill>
          <a:ln w="6350">
            <a:solidFill>
              <a:srgbClr val="FFFFFF"/>
            </a:solidFill>
            <a:prstDash val="solid"/>
          </a:ln>
        </p:spPr>
      </p:sp>
      <p:sp>
        <p:nvSpPr>
          <p:cNvPr id="33" name="P-0-1"/>
          <p:cNvSpPr/>
          <p:nvPr/>
        </p:nvSpPr>
        <p:spPr>
          <a:xfrm>
            <a:off x="1847088" y="3429000"/>
            <a:ext cx="155448" cy="155448"/>
          </a:xfrm>
          <a:prstGeom prst="rect">
            <a:avLst/>
          </a:prstGeom>
          <a:solidFill>
            <a:srgbClr val="DCEFF0"/>
          </a:solidFill>
          <a:ln w="6350">
            <a:solidFill>
              <a:srgbClr val="FFFFFF"/>
            </a:solidFill>
            <a:prstDash val="solid"/>
          </a:ln>
        </p:spPr>
      </p:sp>
      <p:sp>
        <p:nvSpPr>
          <p:cNvPr id="34" name="P-0-2"/>
          <p:cNvSpPr/>
          <p:nvPr/>
        </p:nvSpPr>
        <p:spPr>
          <a:xfrm>
            <a:off x="2002536" y="3429000"/>
            <a:ext cx="155448" cy="155448"/>
          </a:xfrm>
          <a:prstGeom prst="rect">
            <a:avLst/>
          </a:prstGeom>
          <a:solidFill>
            <a:srgbClr val="9FCBCF"/>
          </a:solidFill>
          <a:ln w="6350">
            <a:solidFill>
              <a:srgbClr val="FFFFFF"/>
            </a:solidFill>
            <a:prstDash val="solid"/>
          </a:ln>
        </p:spPr>
      </p:sp>
      <p:sp>
        <p:nvSpPr>
          <p:cNvPr id="35" name="P-0-3"/>
          <p:cNvSpPr/>
          <p:nvPr/>
        </p:nvSpPr>
        <p:spPr>
          <a:xfrm>
            <a:off x="2157984" y="3429000"/>
            <a:ext cx="155448" cy="155448"/>
          </a:xfrm>
          <a:prstGeom prst="rect">
            <a:avLst/>
          </a:prstGeom>
          <a:solidFill>
            <a:srgbClr val="DCEFF0"/>
          </a:solidFill>
          <a:ln w="6350">
            <a:solidFill>
              <a:srgbClr val="FFFFFF"/>
            </a:solidFill>
            <a:prstDash val="solid"/>
          </a:ln>
        </p:spPr>
      </p:sp>
      <p:sp>
        <p:nvSpPr>
          <p:cNvPr id="36" name="P-0-4"/>
          <p:cNvSpPr/>
          <p:nvPr/>
        </p:nvSpPr>
        <p:spPr>
          <a:xfrm>
            <a:off x="2313432" y="3429000"/>
            <a:ext cx="155448" cy="155448"/>
          </a:xfrm>
          <a:prstGeom prst="rect">
            <a:avLst/>
          </a:prstGeom>
          <a:solidFill>
            <a:srgbClr val="9FCBCF"/>
          </a:solidFill>
          <a:ln w="6350">
            <a:solidFill>
              <a:srgbClr val="FFFFFF"/>
            </a:solidFill>
            <a:prstDash val="solid"/>
          </a:ln>
        </p:spPr>
      </p:sp>
      <p:sp>
        <p:nvSpPr>
          <p:cNvPr id="37" name="P-1-0"/>
          <p:cNvSpPr/>
          <p:nvPr/>
        </p:nvSpPr>
        <p:spPr>
          <a:xfrm>
            <a:off x="1691640" y="3584448"/>
            <a:ext cx="155448" cy="155448"/>
          </a:xfrm>
          <a:prstGeom prst="rect">
            <a:avLst/>
          </a:prstGeom>
          <a:solidFill>
            <a:srgbClr val="DCEFF0"/>
          </a:solidFill>
          <a:ln w="6350">
            <a:solidFill>
              <a:srgbClr val="FFFFFF"/>
            </a:solidFill>
            <a:prstDash val="solid"/>
          </a:ln>
        </p:spPr>
      </p:sp>
      <p:sp>
        <p:nvSpPr>
          <p:cNvPr id="38" name="P-1-1"/>
          <p:cNvSpPr/>
          <p:nvPr/>
        </p:nvSpPr>
        <p:spPr>
          <a:xfrm>
            <a:off x="1847088" y="3584448"/>
            <a:ext cx="155448" cy="155448"/>
          </a:xfrm>
          <a:prstGeom prst="rect">
            <a:avLst/>
          </a:prstGeom>
          <a:solidFill>
            <a:srgbClr val="9FCBCF"/>
          </a:solidFill>
          <a:ln w="6350">
            <a:solidFill>
              <a:srgbClr val="FFFFFF"/>
            </a:solidFill>
            <a:prstDash val="solid"/>
          </a:ln>
        </p:spPr>
      </p:sp>
      <p:sp>
        <p:nvSpPr>
          <p:cNvPr id="39" name="P-1-2"/>
          <p:cNvSpPr/>
          <p:nvPr/>
        </p:nvSpPr>
        <p:spPr>
          <a:xfrm>
            <a:off x="2002536" y="3584448"/>
            <a:ext cx="155448" cy="155448"/>
          </a:xfrm>
          <a:prstGeom prst="rect">
            <a:avLst/>
          </a:prstGeom>
          <a:solidFill>
            <a:srgbClr val="DCEFF0"/>
          </a:solidFill>
          <a:ln w="6350">
            <a:solidFill>
              <a:srgbClr val="FFFFFF"/>
            </a:solidFill>
            <a:prstDash val="solid"/>
          </a:ln>
        </p:spPr>
      </p:sp>
      <p:sp>
        <p:nvSpPr>
          <p:cNvPr id="40" name="P-1-3"/>
          <p:cNvSpPr/>
          <p:nvPr/>
        </p:nvSpPr>
        <p:spPr>
          <a:xfrm>
            <a:off x="2157984" y="3584448"/>
            <a:ext cx="155448" cy="155448"/>
          </a:xfrm>
          <a:prstGeom prst="rect">
            <a:avLst/>
          </a:prstGeom>
          <a:solidFill>
            <a:srgbClr val="9FCBCF"/>
          </a:solidFill>
          <a:ln w="6350">
            <a:solidFill>
              <a:srgbClr val="FFFFFF"/>
            </a:solidFill>
            <a:prstDash val="solid"/>
          </a:ln>
        </p:spPr>
      </p:sp>
      <p:sp>
        <p:nvSpPr>
          <p:cNvPr id="41" name="P-1-4"/>
          <p:cNvSpPr/>
          <p:nvPr/>
        </p:nvSpPr>
        <p:spPr>
          <a:xfrm>
            <a:off x="2313432" y="3584448"/>
            <a:ext cx="155448" cy="155448"/>
          </a:xfrm>
          <a:prstGeom prst="rect">
            <a:avLst/>
          </a:prstGeom>
          <a:solidFill>
            <a:srgbClr val="DCEFF0"/>
          </a:solidFill>
          <a:ln w="6350">
            <a:solidFill>
              <a:srgbClr val="FFFFFF"/>
            </a:solidFill>
            <a:prstDash val="solid"/>
          </a:ln>
        </p:spPr>
      </p:sp>
      <p:sp>
        <p:nvSpPr>
          <p:cNvPr id="42" name="P-2-0"/>
          <p:cNvSpPr/>
          <p:nvPr/>
        </p:nvSpPr>
        <p:spPr>
          <a:xfrm>
            <a:off x="1691640" y="3739896"/>
            <a:ext cx="155448" cy="155448"/>
          </a:xfrm>
          <a:prstGeom prst="rect">
            <a:avLst/>
          </a:prstGeom>
          <a:solidFill>
            <a:srgbClr val="9FCBCF"/>
          </a:solidFill>
          <a:ln w="6350">
            <a:solidFill>
              <a:srgbClr val="FFFFFF"/>
            </a:solidFill>
            <a:prstDash val="solid"/>
          </a:ln>
        </p:spPr>
      </p:sp>
      <p:sp>
        <p:nvSpPr>
          <p:cNvPr id="43" name="P-2-1"/>
          <p:cNvSpPr/>
          <p:nvPr/>
        </p:nvSpPr>
        <p:spPr>
          <a:xfrm>
            <a:off x="1847088" y="3739896"/>
            <a:ext cx="155448" cy="155448"/>
          </a:xfrm>
          <a:prstGeom prst="rect">
            <a:avLst/>
          </a:prstGeom>
          <a:solidFill>
            <a:srgbClr val="DCEFF0"/>
          </a:solidFill>
          <a:ln w="6350">
            <a:solidFill>
              <a:srgbClr val="FFFFFF"/>
            </a:solidFill>
            <a:prstDash val="solid"/>
          </a:ln>
        </p:spPr>
      </p:sp>
      <p:sp>
        <p:nvSpPr>
          <p:cNvPr id="44" name="P-2-2"/>
          <p:cNvSpPr/>
          <p:nvPr/>
        </p:nvSpPr>
        <p:spPr>
          <a:xfrm>
            <a:off x="2002536" y="3739896"/>
            <a:ext cx="155448" cy="155448"/>
          </a:xfrm>
          <a:prstGeom prst="rect">
            <a:avLst/>
          </a:prstGeom>
          <a:solidFill>
            <a:srgbClr val="9FCBCF"/>
          </a:solidFill>
          <a:ln w="6350">
            <a:solidFill>
              <a:srgbClr val="FFFFFF"/>
            </a:solidFill>
            <a:prstDash val="solid"/>
          </a:ln>
        </p:spPr>
      </p:sp>
      <p:sp>
        <p:nvSpPr>
          <p:cNvPr id="45" name="P-2-3"/>
          <p:cNvSpPr/>
          <p:nvPr/>
        </p:nvSpPr>
        <p:spPr>
          <a:xfrm>
            <a:off x="2157984" y="3739896"/>
            <a:ext cx="155448" cy="155448"/>
          </a:xfrm>
          <a:prstGeom prst="rect">
            <a:avLst/>
          </a:prstGeom>
          <a:solidFill>
            <a:srgbClr val="DCEFF0"/>
          </a:solidFill>
          <a:ln w="6350">
            <a:solidFill>
              <a:srgbClr val="FFFFFF"/>
            </a:solidFill>
            <a:prstDash val="solid"/>
          </a:ln>
        </p:spPr>
      </p:sp>
      <p:sp>
        <p:nvSpPr>
          <p:cNvPr id="46" name="P-2-4"/>
          <p:cNvSpPr/>
          <p:nvPr/>
        </p:nvSpPr>
        <p:spPr>
          <a:xfrm>
            <a:off x="2313432" y="3739896"/>
            <a:ext cx="155448" cy="155448"/>
          </a:xfrm>
          <a:prstGeom prst="rect">
            <a:avLst/>
          </a:prstGeom>
          <a:solidFill>
            <a:srgbClr val="9FCBCF"/>
          </a:solidFill>
          <a:ln w="6350">
            <a:solidFill>
              <a:srgbClr val="FFFFFF"/>
            </a:solidFill>
            <a:prstDash val="solid"/>
          </a:ln>
        </p:spPr>
      </p:sp>
      <p:sp>
        <p:nvSpPr>
          <p:cNvPr id="47" name="P-3-0"/>
          <p:cNvSpPr/>
          <p:nvPr/>
        </p:nvSpPr>
        <p:spPr>
          <a:xfrm>
            <a:off x="1691640" y="3895344"/>
            <a:ext cx="155448" cy="155448"/>
          </a:xfrm>
          <a:prstGeom prst="rect">
            <a:avLst/>
          </a:prstGeom>
          <a:solidFill>
            <a:srgbClr val="DCEFF0"/>
          </a:solidFill>
          <a:ln w="6350">
            <a:solidFill>
              <a:srgbClr val="FFFFFF"/>
            </a:solidFill>
            <a:prstDash val="solid"/>
          </a:ln>
        </p:spPr>
      </p:sp>
      <p:sp>
        <p:nvSpPr>
          <p:cNvPr id="48" name="P-3-1"/>
          <p:cNvSpPr/>
          <p:nvPr/>
        </p:nvSpPr>
        <p:spPr>
          <a:xfrm>
            <a:off x="1847088" y="3895344"/>
            <a:ext cx="155448" cy="155448"/>
          </a:xfrm>
          <a:prstGeom prst="rect">
            <a:avLst/>
          </a:prstGeom>
          <a:solidFill>
            <a:srgbClr val="9FCBCF"/>
          </a:solidFill>
          <a:ln w="6350">
            <a:solidFill>
              <a:srgbClr val="FFFFFF"/>
            </a:solidFill>
            <a:prstDash val="solid"/>
          </a:ln>
        </p:spPr>
      </p:sp>
      <p:sp>
        <p:nvSpPr>
          <p:cNvPr id="49" name="P-3-2"/>
          <p:cNvSpPr/>
          <p:nvPr/>
        </p:nvSpPr>
        <p:spPr>
          <a:xfrm>
            <a:off x="2002536" y="3895344"/>
            <a:ext cx="155448" cy="155448"/>
          </a:xfrm>
          <a:prstGeom prst="rect">
            <a:avLst/>
          </a:prstGeom>
          <a:solidFill>
            <a:srgbClr val="DCEFF0"/>
          </a:solidFill>
          <a:ln w="6350">
            <a:solidFill>
              <a:srgbClr val="FFFFFF"/>
            </a:solidFill>
            <a:prstDash val="solid"/>
          </a:ln>
        </p:spPr>
      </p:sp>
      <p:sp>
        <p:nvSpPr>
          <p:cNvPr id="50" name="P-3-3"/>
          <p:cNvSpPr/>
          <p:nvPr/>
        </p:nvSpPr>
        <p:spPr>
          <a:xfrm>
            <a:off x="2157984" y="3895344"/>
            <a:ext cx="155448" cy="155448"/>
          </a:xfrm>
          <a:prstGeom prst="rect">
            <a:avLst/>
          </a:prstGeom>
          <a:solidFill>
            <a:srgbClr val="9FCBCF"/>
          </a:solidFill>
          <a:ln w="6350">
            <a:solidFill>
              <a:srgbClr val="FFFFFF"/>
            </a:solidFill>
            <a:prstDash val="solid"/>
          </a:ln>
        </p:spPr>
      </p:sp>
      <p:sp>
        <p:nvSpPr>
          <p:cNvPr id="51" name="P-3-4"/>
          <p:cNvSpPr/>
          <p:nvPr/>
        </p:nvSpPr>
        <p:spPr>
          <a:xfrm>
            <a:off x="2313432" y="3895344"/>
            <a:ext cx="155448" cy="155448"/>
          </a:xfrm>
          <a:prstGeom prst="rect">
            <a:avLst/>
          </a:prstGeom>
          <a:solidFill>
            <a:srgbClr val="DCEFF0"/>
          </a:solidFill>
          <a:ln w="6350">
            <a:solidFill>
              <a:srgbClr val="FFFFFF"/>
            </a:solidFill>
            <a:prstDash val="solid"/>
          </a:ln>
        </p:spPr>
      </p:sp>
      <p:sp>
        <p:nvSpPr>
          <p:cNvPr id="52" name="P-4-0"/>
          <p:cNvSpPr/>
          <p:nvPr/>
        </p:nvSpPr>
        <p:spPr>
          <a:xfrm>
            <a:off x="1691640" y="4050792"/>
            <a:ext cx="155448" cy="155448"/>
          </a:xfrm>
          <a:prstGeom prst="rect">
            <a:avLst/>
          </a:prstGeom>
          <a:solidFill>
            <a:srgbClr val="9FCBCF"/>
          </a:solidFill>
          <a:ln w="6350">
            <a:solidFill>
              <a:srgbClr val="FFFFFF"/>
            </a:solidFill>
            <a:prstDash val="solid"/>
          </a:ln>
        </p:spPr>
      </p:sp>
      <p:sp>
        <p:nvSpPr>
          <p:cNvPr id="53" name="P-4-1"/>
          <p:cNvSpPr/>
          <p:nvPr/>
        </p:nvSpPr>
        <p:spPr>
          <a:xfrm>
            <a:off x="1847088" y="4050792"/>
            <a:ext cx="155448" cy="155448"/>
          </a:xfrm>
          <a:prstGeom prst="rect">
            <a:avLst/>
          </a:prstGeom>
          <a:solidFill>
            <a:srgbClr val="DCEFF0"/>
          </a:solidFill>
          <a:ln w="6350">
            <a:solidFill>
              <a:srgbClr val="FFFFFF"/>
            </a:solidFill>
            <a:prstDash val="solid"/>
          </a:ln>
        </p:spPr>
      </p:sp>
      <p:sp>
        <p:nvSpPr>
          <p:cNvPr id="54" name="P-4-2"/>
          <p:cNvSpPr/>
          <p:nvPr/>
        </p:nvSpPr>
        <p:spPr>
          <a:xfrm>
            <a:off x="2002536" y="4050792"/>
            <a:ext cx="155448" cy="155448"/>
          </a:xfrm>
          <a:prstGeom prst="rect">
            <a:avLst/>
          </a:prstGeom>
          <a:solidFill>
            <a:srgbClr val="9FCBCF"/>
          </a:solidFill>
          <a:ln w="6350">
            <a:solidFill>
              <a:srgbClr val="FFFFFF"/>
            </a:solidFill>
            <a:prstDash val="solid"/>
          </a:ln>
        </p:spPr>
      </p:sp>
      <p:sp>
        <p:nvSpPr>
          <p:cNvPr id="55" name="P-4-3"/>
          <p:cNvSpPr/>
          <p:nvPr/>
        </p:nvSpPr>
        <p:spPr>
          <a:xfrm>
            <a:off x="2157984" y="4050792"/>
            <a:ext cx="155448" cy="155448"/>
          </a:xfrm>
          <a:prstGeom prst="rect">
            <a:avLst/>
          </a:prstGeom>
          <a:solidFill>
            <a:srgbClr val="DCEFF0"/>
          </a:solidFill>
          <a:ln w="6350">
            <a:solidFill>
              <a:srgbClr val="FFFFFF"/>
            </a:solidFill>
            <a:prstDash val="solid"/>
          </a:ln>
        </p:spPr>
      </p:sp>
      <p:sp>
        <p:nvSpPr>
          <p:cNvPr id="56" name="P-4-4"/>
          <p:cNvSpPr/>
          <p:nvPr/>
        </p:nvSpPr>
        <p:spPr>
          <a:xfrm>
            <a:off x="2313432" y="4050792"/>
            <a:ext cx="155448" cy="155448"/>
          </a:xfrm>
          <a:prstGeom prst="rect">
            <a:avLst/>
          </a:prstGeom>
          <a:solidFill>
            <a:srgbClr val="9FCBCF"/>
          </a:solidFill>
          <a:ln w="6350">
            <a:solidFill>
              <a:srgbClr val="FFFFFF"/>
            </a:solidFill>
            <a:prstDash val="solid"/>
          </a:ln>
        </p:spPr>
      </p:sp>
      <p:sp>
        <p:nvSpPr>
          <p:cNvPr id="57" name="D-0-0"/>
          <p:cNvSpPr/>
          <p:nvPr/>
        </p:nvSpPr>
        <p:spPr>
          <a:xfrm>
            <a:off x="2606040" y="3429000"/>
            <a:ext cx="155448" cy="155448"/>
          </a:xfrm>
          <a:prstGeom prst="rect">
            <a:avLst/>
          </a:prstGeom>
          <a:solidFill>
            <a:srgbClr val="E8833A"/>
          </a:solidFill>
          <a:ln w="6350">
            <a:solidFill>
              <a:srgbClr val="FFFFFF"/>
            </a:solidFill>
            <a:prstDash val="solid"/>
          </a:ln>
        </p:spPr>
      </p:sp>
      <p:sp>
        <p:nvSpPr>
          <p:cNvPr id="58" name="D-0-1"/>
          <p:cNvSpPr/>
          <p:nvPr/>
        </p:nvSpPr>
        <p:spPr>
          <a:xfrm>
            <a:off x="2761488" y="3429000"/>
            <a:ext cx="155448" cy="155448"/>
          </a:xfrm>
          <a:prstGeom prst="rect">
            <a:avLst/>
          </a:prstGeom>
          <a:solidFill>
            <a:srgbClr val="F2F3F7"/>
          </a:solidFill>
          <a:ln w="6350">
            <a:solidFill>
              <a:srgbClr val="FFFFFF"/>
            </a:solidFill>
            <a:prstDash val="solid"/>
          </a:ln>
        </p:spPr>
      </p:sp>
      <p:sp>
        <p:nvSpPr>
          <p:cNvPr id="59" name="D-0-2"/>
          <p:cNvSpPr/>
          <p:nvPr/>
        </p:nvSpPr>
        <p:spPr>
          <a:xfrm>
            <a:off x="2916936" y="3429000"/>
            <a:ext cx="155448" cy="155448"/>
          </a:xfrm>
          <a:prstGeom prst="rect">
            <a:avLst/>
          </a:prstGeom>
          <a:solidFill>
            <a:srgbClr val="F2F3F7"/>
          </a:solidFill>
          <a:ln w="6350">
            <a:solidFill>
              <a:srgbClr val="FFFFFF"/>
            </a:solidFill>
            <a:prstDash val="solid"/>
          </a:ln>
        </p:spPr>
      </p:sp>
      <p:sp>
        <p:nvSpPr>
          <p:cNvPr id="60" name="D-0-3"/>
          <p:cNvSpPr/>
          <p:nvPr/>
        </p:nvSpPr>
        <p:spPr>
          <a:xfrm>
            <a:off x="3072384" y="3429000"/>
            <a:ext cx="155448" cy="155448"/>
          </a:xfrm>
          <a:prstGeom prst="rect">
            <a:avLst/>
          </a:prstGeom>
          <a:solidFill>
            <a:srgbClr val="F2F3F7"/>
          </a:solidFill>
          <a:ln w="6350">
            <a:solidFill>
              <a:srgbClr val="FFFFFF"/>
            </a:solidFill>
            <a:prstDash val="solid"/>
          </a:ln>
        </p:spPr>
      </p:sp>
      <p:sp>
        <p:nvSpPr>
          <p:cNvPr id="61" name="D-0-4"/>
          <p:cNvSpPr/>
          <p:nvPr/>
        </p:nvSpPr>
        <p:spPr>
          <a:xfrm>
            <a:off x="3227832" y="3429000"/>
            <a:ext cx="155448" cy="155448"/>
          </a:xfrm>
          <a:prstGeom prst="rect">
            <a:avLst/>
          </a:prstGeom>
          <a:solidFill>
            <a:srgbClr val="F2F3F7"/>
          </a:solidFill>
          <a:ln w="6350">
            <a:solidFill>
              <a:srgbClr val="FFFFFF"/>
            </a:solidFill>
            <a:prstDash val="solid"/>
          </a:ln>
        </p:spPr>
      </p:sp>
      <p:sp>
        <p:nvSpPr>
          <p:cNvPr id="62" name="D-1-0"/>
          <p:cNvSpPr/>
          <p:nvPr/>
        </p:nvSpPr>
        <p:spPr>
          <a:xfrm>
            <a:off x="2606040" y="3584448"/>
            <a:ext cx="155448" cy="155448"/>
          </a:xfrm>
          <a:prstGeom prst="rect">
            <a:avLst/>
          </a:prstGeom>
          <a:solidFill>
            <a:srgbClr val="F2F3F7"/>
          </a:solidFill>
          <a:ln w="6350">
            <a:solidFill>
              <a:srgbClr val="FFFFFF"/>
            </a:solidFill>
            <a:prstDash val="solid"/>
          </a:ln>
        </p:spPr>
      </p:sp>
      <p:sp>
        <p:nvSpPr>
          <p:cNvPr id="63" name="D-1-1"/>
          <p:cNvSpPr/>
          <p:nvPr/>
        </p:nvSpPr>
        <p:spPr>
          <a:xfrm>
            <a:off x="2761488" y="3584448"/>
            <a:ext cx="155448" cy="155448"/>
          </a:xfrm>
          <a:prstGeom prst="rect">
            <a:avLst/>
          </a:prstGeom>
          <a:solidFill>
            <a:srgbClr val="E8833A"/>
          </a:solidFill>
          <a:ln w="6350">
            <a:solidFill>
              <a:srgbClr val="FFFFFF"/>
            </a:solidFill>
            <a:prstDash val="solid"/>
          </a:ln>
        </p:spPr>
      </p:sp>
      <p:sp>
        <p:nvSpPr>
          <p:cNvPr id="64" name="D-1-2"/>
          <p:cNvSpPr/>
          <p:nvPr/>
        </p:nvSpPr>
        <p:spPr>
          <a:xfrm>
            <a:off x="2916936" y="3584448"/>
            <a:ext cx="155448" cy="155448"/>
          </a:xfrm>
          <a:prstGeom prst="rect">
            <a:avLst/>
          </a:prstGeom>
          <a:solidFill>
            <a:srgbClr val="F2F3F7"/>
          </a:solidFill>
          <a:ln w="6350">
            <a:solidFill>
              <a:srgbClr val="FFFFFF"/>
            </a:solidFill>
            <a:prstDash val="solid"/>
          </a:ln>
        </p:spPr>
      </p:sp>
      <p:sp>
        <p:nvSpPr>
          <p:cNvPr id="65" name="D-1-3"/>
          <p:cNvSpPr/>
          <p:nvPr/>
        </p:nvSpPr>
        <p:spPr>
          <a:xfrm>
            <a:off x="3072384" y="3584448"/>
            <a:ext cx="155448" cy="155448"/>
          </a:xfrm>
          <a:prstGeom prst="rect">
            <a:avLst/>
          </a:prstGeom>
          <a:solidFill>
            <a:srgbClr val="F2F3F7"/>
          </a:solidFill>
          <a:ln w="6350">
            <a:solidFill>
              <a:srgbClr val="FFFFFF"/>
            </a:solidFill>
            <a:prstDash val="solid"/>
          </a:ln>
        </p:spPr>
      </p:sp>
      <p:sp>
        <p:nvSpPr>
          <p:cNvPr id="66" name="D-1-4"/>
          <p:cNvSpPr/>
          <p:nvPr/>
        </p:nvSpPr>
        <p:spPr>
          <a:xfrm>
            <a:off x="3227832" y="3584448"/>
            <a:ext cx="155448" cy="155448"/>
          </a:xfrm>
          <a:prstGeom prst="rect">
            <a:avLst/>
          </a:prstGeom>
          <a:solidFill>
            <a:srgbClr val="F2F3F7"/>
          </a:solidFill>
          <a:ln w="6350">
            <a:solidFill>
              <a:srgbClr val="FFFFFF"/>
            </a:solidFill>
            <a:prstDash val="solid"/>
          </a:ln>
        </p:spPr>
      </p:sp>
      <p:sp>
        <p:nvSpPr>
          <p:cNvPr id="67" name="D-2-0"/>
          <p:cNvSpPr/>
          <p:nvPr/>
        </p:nvSpPr>
        <p:spPr>
          <a:xfrm>
            <a:off x="2606040" y="3739896"/>
            <a:ext cx="155448" cy="155448"/>
          </a:xfrm>
          <a:prstGeom prst="rect">
            <a:avLst/>
          </a:prstGeom>
          <a:solidFill>
            <a:srgbClr val="F2F3F7"/>
          </a:solidFill>
          <a:ln w="6350">
            <a:solidFill>
              <a:srgbClr val="FFFFFF"/>
            </a:solidFill>
            <a:prstDash val="solid"/>
          </a:ln>
        </p:spPr>
      </p:sp>
      <p:sp>
        <p:nvSpPr>
          <p:cNvPr id="68" name="D-2-1"/>
          <p:cNvSpPr/>
          <p:nvPr/>
        </p:nvSpPr>
        <p:spPr>
          <a:xfrm>
            <a:off x="2761488" y="3739896"/>
            <a:ext cx="155448" cy="155448"/>
          </a:xfrm>
          <a:prstGeom prst="rect">
            <a:avLst/>
          </a:prstGeom>
          <a:solidFill>
            <a:srgbClr val="F2F3F7"/>
          </a:solidFill>
          <a:ln w="6350">
            <a:solidFill>
              <a:srgbClr val="FFFFFF"/>
            </a:solidFill>
            <a:prstDash val="solid"/>
          </a:ln>
        </p:spPr>
      </p:sp>
      <p:sp>
        <p:nvSpPr>
          <p:cNvPr id="69" name="D-2-2"/>
          <p:cNvSpPr/>
          <p:nvPr/>
        </p:nvSpPr>
        <p:spPr>
          <a:xfrm>
            <a:off x="2916936" y="3739896"/>
            <a:ext cx="155448" cy="155448"/>
          </a:xfrm>
          <a:prstGeom prst="rect">
            <a:avLst/>
          </a:prstGeom>
          <a:solidFill>
            <a:srgbClr val="E8833A"/>
          </a:solidFill>
          <a:ln w="6350">
            <a:solidFill>
              <a:srgbClr val="FFFFFF"/>
            </a:solidFill>
            <a:prstDash val="solid"/>
          </a:ln>
        </p:spPr>
      </p:sp>
      <p:sp>
        <p:nvSpPr>
          <p:cNvPr id="70" name="D-2-3"/>
          <p:cNvSpPr/>
          <p:nvPr/>
        </p:nvSpPr>
        <p:spPr>
          <a:xfrm>
            <a:off x="3072384" y="3739896"/>
            <a:ext cx="155448" cy="155448"/>
          </a:xfrm>
          <a:prstGeom prst="rect">
            <a:avLst/>
          </a:prstGeom>
          <a:solidFill>
            <a:srgbClr val="F2F3F7"/>
          </a:solidFill>
          <a:ln w="6350">
            <a:solidFill>
              <a:srgbClr val="FFFFFF"/>
            </a:solidFill>
            <a:prstDash val="solid"/>
          </a:ln>
        </p:spPr>
      </p:sp>
      <p:sp>
        <p:nvSpPr>
          <p:cNvPr id="71" name="D-2-4"/>
          <p:cNvSpPr/>
          <p:nvPr/>
        </p:nvSpPr>
        <p:spPr>
          <a:xfrm>
            <a:off x="3227832" y="3739896"/>
            <a:ext cx="155448" cy="155448"/>
          </a:xfrm>
          <a:prstGeom prst="rect">
            <a:avLst/>
          </a:prstGeom>
          <a:solidFill>
            <a:srgbClr val="F2F3F7"/>
          </a:solidFill>
          <a:ln w="6350">
            <a:solidFill>
              <a:srgbClr val="FFFFFF"/>
            </a:solidFill>
            <a:prstDash val="solid"/>
          </a:ln>
        </p:spPr>
      </p:sp>
      <p:sp>
        <p:nvSpPr>
          <p:cNvPr id="72" name="D-3-0"/>
          <p:cNvSpPr/>
          <p:nvPr/>
        </p:nvSpPr>
        <p:spPr>
          <a:xfrm>
            <a:off x="2606040" y="3895344"/>
            <a:ext cx="155448" cy="155448"/>
          </a:xfrm>
          <a:prstGeom prst="rect">
            <a:avLst/>
          </a:prstGeom>
          <a:solidFill>
            <a:srgbClr val="F2F3F7"/>
          </a:solidFill>
          <a:ln w="6350">
            <a:solidFill>
              <a:srgbClr val="FFFFFF"/>
            </a:solidFill>
            <a:prstDash val="solid"/>
          </a:ln>
        </p:spPr>
      </p:sp>
      <p:sp>
        <p:nvSpPr>
          <p:cNvPr id="73" name="D-3-1"/>
          <p:cNvSpPr/>
          <p:nvPr/>
        </p:nvSpPr>
        <p:spPr>
          <a:xfrm>
            <a:off x="2761488" y="3895344"/>
            <a:ext cx="155448" cy="155448"/>
          </a:xfrm>
          <a:prstGeom prst="rect">
            <a:avLst/>
          </a:prstGeom>
          <a:solidFill>
            <a:srgbClr val="F2F3F7"/>
          </a:solidFill>
          <a:ln w="6350">
            <a:solidFill>
              <a:srgbClr val="FFFFFF"/>
            </a:solidFill>
            <a:prstDash val="solid"/>
          </a:ln>
        </p:spPr>
      </p:sp>
      <p:sp>
        <p:nvSpPr>
          <p:cNvPr id="74" name="D-3-2"/>
          <p:cNvSpPr/>
          <p:nvPr/>
        </p:nvSpPr>
        <p:spPr>
          <a:xfrm>
            <a:off x="2916936" y="3895344"/>
            <a:ext cx="155448" cy="155448"/>
          </a:xfrm>
          <a:prstGeom prst="rect">
            <a:avLst/>
          </a:prstGeom>
          <a:solidFill>
            <a:srgbClr val="F2F3F7"/>
          </a:solidFill>
          <a:ln w="6350">
            <a:solidFill>
              <a:srgbClr val="FFFFFF"/>
            </a:solidFill>
            <a:prstDash val="solid"/>
          </a:ln>
        </p:spPr>
      </p:sp>
      <p:sp>
        <p:nvSpPr>
          <p:cNvPr id="75" name="D-3-3"/>
          <p:cNvSpPr/>
          <p:nvPr/>
        </p:nvSpPr>
        <p:spPr>
          <a:xfrm>
            <a:off x="3072384" y="3895344"/>
            <a:ext cx="155448" cy="155448"/>
          </a:xfrm>
          <a:prstGeom prst="rect">
            <a:avLst/>
          </a:prstGeom>
          <a:solidFill>
            <a:srgbClr val="E8833A"/>
          </a:solidFill>
          <a:ln w="6350">
            <a:solidFill>
              <a:srgbClr val="FFFFFF"/>
            </a:solidFill>
            <a:prstDash val="solid"/>
          </a:ln>
        </p:spPr>
      </p:sp>
      <p:sp>
        <p:nvSpPr>
          <p:cNvPr id="76" name="D-3-4"/>
          <p:cNvSpPr/>
          <p:nvPr/>
        </p:nvSpPr>
        <p:spPr>
          <a:xfrm>
            <a:off x="3227832" y="3895344"/>
            <a:ext cx="155448" cy="155448"/>
          </a:xfrm>
          <a:prstGeom prst="rect">
            <a:avLst/>
          </a:prstGeom>
          <a:solidFill>
            <a:srgbClr val="F2F3F7"/>
          </a:solidFill>
          <a:ln w="6350">
            <a:solidFill>
              <a:srgbClr val="FFFFFF"/>
            </a:solidFill>
            <a:prstDash val="solid"/>
          </a:ln>
        </p:spPr>
      </p:sp>
      <p:sp>
        <p:nvSpPr>
          <p:cNvPr id="77" name="D-4-0"/>
          <p:cNvSpPr/>
          <p:nvPr/>
        </p:nvSpPr>
        <p:spPr>
          <a:xfrm>
            <a:off x="2606040" y="4050792"/>
            <a:ext cx="155448" cy="155448"/>
          </a:xfrm>
          <a:prstGeom prst="rect">
            <a:avLst/>
          </a:prstGeom>
          <a:solidFill>
            <a:srgbClr val="F2F3F7"/>
          </a:solidFill>
          <a:ln w="6350">
            <a:solidFill>
              <a:srgbClr val="FFFFFF"/>
            </a:solidFill>
            <a:prstDash val="solid"/>
          </a:ln>
        </p:spPr>
      </p:sp>
      <p:sp>
        <p:nvSpPr>
          <p:cNvPr id="78" name="D-4-1"/>
          <p:cNvSpPr/>
          <p:nvPr/>
        </p:nvSpPr>
        <p:spPr>
          <a:xfrm>
            <a:off x="2761488" y="4050792"/>
            <a:ext cx="155448" cy="155448"/>
          </a:xfrm>
          <a:prstGeom prst="rect">
            <a:avLst/>
          </a:prstGeom>
          <a:solidFill>
            <a:srgbClr val="F2F3F7"/>
          </a:solidFill>
          <a:ln w="6350">
            <a:solidFill>
              <a:srgbClr val="FFFFFF"/>
            </a:solidFill>
            <a:prstDash val="solid"/>
          </a:ln>
        </p:spPr>
      </p:sp>
      <p:sp>
        <p:nvSpPr>
          <p:cNvPr id="79" name="D-4-2"/>
          <p:cNvSpPr/>
          <p:nvPr/>
        </p:nvSpPr>
        <p:spPr>
          <a:xfrm>
            <a:off x="2916936" y="4050792"/>
            <a:ext cx="155448" cy="155448"/>
          </a:xfrm>
          <a:prstGeom prst="rect">
            <a:avLst/>
          </a:prstGeom>
          <a:solidFill>
            <a:srgbClr val="F2F3F7"/>
          </a:solidFill>
          <a:ln w="6350">
            <a:solidFill>
              <a:srgbClr val="FFFFFF"/>
            </a:solidFill>
            <a:prstDash val="solid"/>
          </a:ln>
        </p:spPr>
      </p:sp>
      <p:sp>
        <p:nvSpPr>
          <p:cNvPr id="80" name="D-4-3"/>
          <p:cNvSpPr/>
          <p:nvPr/>
        </p:nvSpPr>
        <p:spPr>
          <a:xfrm>
            <a:off x="3072384" y="4050792"/>
            <a:ext cx="155448" cy="155448"/>
          </a:xfrm>
          <a:prstGeom prst="rect">
            <a:avLst/>
          </a:prstGeom>
          <a:solidFill>
            <a:srgbClr val="F2F3F7"/>
          </a:solidFill>
          <a:ln w="6350">
            <a:solidFill>
              <a:srgbClr val="FFFFFF"/>
            </a:solidFill>
            <a:prstDash val="solid"/>
          </a:ln>
        </p:spPr>
      </p:sp>
      <p:sp>
        <p:nvSpPr>
          <p:cNvPr id="81" name="D-4-4"/>
          <p:cNvSpPr/>
          <p:nvPr/>
        </p:nvSpPr>
        <p:spPr>
          <a:xfrm>
            <a:off x="3227832" y="4050792"/>
            <a:ext cx="155448" cy="155448"/>
          </a:xfrm>
          <a:prstGeom prst="rect">
            <a:avLst/>
          </a:prstGeom>
          <a:solidFill>
            <a:srgbClr val="E8833A"/>
          </a:solidFill>
          <a:ln w="6350">
            <a:solidFill>
              <a:srgbClr val="FFFFFF"/>
            </a:solidFill>
            <a:prstDash val="solid"/>
          </a:ln>
        </p:spPr>
      </p:sp>
      <p:sp>
        <p:nvSpPr>
          <p:cNvPr id="82" name="Pt-0-0"/>
          <p:cNvSpPr/>
          <p:nvPr/>
        </p:nvSpPr>
        <p:spPr>
          <a:xfrm>
            <a:off x="3520440" y="3429000"/>
            <a:ext cx="155448" cy="155448"/>
          </a:xfrm>
          <a:prstGeom prst="rect">
            <a:avLst/>
          </a:prstGeom>
          <a:solidFill>
            <a:srgbClr val="DCEFF0"/>
          </a:solidFill>
          <a:ln w="6350">
            <a:solidFill>
              <a:srgbClr val="FFFFFF"/>
            </a:solidFill>
            <a:prstDash val="solid"/>
          </a:ln>
        </p:spPr>
      </p:sp>
      <p:sp>
        <p:nvSpPr>
          <p:cNvPr id="83" name="Pt-0-1"/>
          <p:cNvSpPr/>
          <p:nvPr/>
        </p:nvSpPr>
        <p:spPr>
          <a:xfrm>
            <a:off x="3675888" y="3429000"/>
            <a:ext cx="155448" cy="155448"/>
          </a:xfrm>
          <a:prstGeom prst="rect">
            <a:avLst/>
          </a:prstGeom>
          <a:solidFill>
            <a:srgbClr val="9FCBCF"/>
          </a:solidFill>
          <a:ln w="6350">
            <a:solidFill>
              <a:srgbClr val="FFFFFF"/>
            </a:solidFill>
            <a:prstDash val="solid"/>
          </a:ln>
        </p:spPr>
      </p:sp>
      <p:sp>
        <p:nvSpPr>
          <p:cNvPr id="84" name="Pt-0-2"/>
          <p:cNvSpPr/>
          <p:nvPr/>
        </p:nvSpPr>
        <p:spPr>
          <a:xfrm>
            <a:off x="3831336" y="3429000"/>
            <a:ext cx="155448" cy="155448"/>
          </a:xfrm>
          <a:prstGeom prst="rect">
            <a:avLst/>
          </a:prstGeom>
          <a:solidFill>
            <a:srgbClr val="DCEFF0"/>
          </a:solidFill>
          <a:ln w="6350">
            <a:solidFill>
              <a:srgbClr val="FFFFFF"/>
            </a:solidFill>
            <a:prstDash val="solid"/>
          </a:ln>
        </p:spPr>
      </p:sp>
      <p:sp>
        <p:nvSpPr>
          <p:cNvPr id="85" name="Pt-0-3"/>
          <p:cNvSpPr/>
          <p:nvPr/>
        </p:nvSpPr>
        <p:spPr>
          <a:xfrm>
            <a:off x="3986784" y="3429000"/>
            <a:ext cx="155448" cy="155448"/>
          </a:xfrm>
          <a:prstGeom prst="rect">
            <a:avLst/>
          </a:prstGeom>
          <a:solidFill>
            <a:srgbClr val="9FCBCF"/>
          </a:solidFill>
          <a:ln w="6350">
            <a:solidFill>
              <a:srgbClr val="FFFFFF"/>
            </a:solidFill>
            <a:prstDash val="solid"/>
          </a:ln>
        </p:spPr>
      </p:sp>
      <p:sp>
        <p:nvSpPr>
          <p:cNvPr id="86" name="Pt-0-4"/>
          <p:cNvSpPr/>
          <p:nvPr/>
        </p:nvSpPr>
        <p:spPr>
          <a:xfrm>
            <a:off x="4142232" y="3429000"/>
            <a:ext cx="155448" cy="155448"/>
          </a:xfrm>
          <a:prstGeom prst="rect">
            <a:avLst/>
          </a:prstGeom>
          <a:solidFill>
            <a:srgbClr val="DCEFF0"/>
          </a:solidFill>
          <a:ln w="6350">
            <a:solidFill>
              <a:srgbClr val="FFFFFF"/>
            </a:solidFill>
            <a:prstDash val="solid"/>
          </a:ln>
        </p:spPr>
      </p:sp>
      <p:sp>
        <p:nvSpPr>
          <p:cNvPr id="87" name="Pt-1-0"/>
          <p:cNvSpPr/>
          <p:nvPr/>
        </p:nvSpPr>
        <p:spPr>
          <a:xfrm>
            <a:off x="3520440" y="3584448"/>
            <a:ext cx="155448" cy="155448"/>
          </a:xfrm>
          <a:prstGeom prst="rect">
            <a:avLst/>
          </a:prstGeom>
          <a:solidFill>
            <a:srgbClr val="9FCBCF"/>
          </a:solidFill>
          <a:ln w="6350">
            <a:solidFill>
              <a:srgbClr val="FFFFFF"/>
            </a:solidFill>
            <a:prstDash val="solid"/>
          </a:ln>
        </p:spPr>
      </p:sp>
      <p:sp>
        <p:nvSpPr>
          <p:cNvPr id="88" name="Pt-1-1"/>
          <p:cNvSpPr/>
          <p:nvPr/>
        </p:nvSpPr>
        <p:spPr>
          <a:xfrm>
            <a:off x="3675888" y="3584448"/>
            <a:ext cx="155448" cy="155448"/>
          </a:xfrm>
          <a:prstGeom prst="rect">
            <a:avLst/>
          </a:prstGeom>
          <a:solidFill>
            <a:srgbClr val="DCEFF0"/>
          </a:solidFill>
          <a:ln w="6350">
            <a:solidFill>
              <a:srgbClr val="FFFFFF"/>
            </a:solidFill>
            <a:prstDash val="solid"/>
          </a:ln>
        </p:spPr>
      </p:sp>
      <p:sp>
        <p:nvSpPr>
          <p:cNvPr id="89" name="Pt-1-2"/>
          <p:cNvSpPr/>
          <p:nvPr/>
        </p:nvSpPr>
        <p:spPr>
          <a:xfrm>
            <a:off x="3831336" y="3584448"/>
            <a:ext cx="155448" cy="155448"/>
          </a:xfrm>
          <a:prstGeom prst="rect">
            <a:avLst/>
          </a:prstGeom>
          <a:solidFill>
            <a:srgbClr val="9FCBCF"/>
          </a:solidFill>
          <a:ln w="6350">
            <a:solidFill>
              <a:srgbClr val="FFFFFF"/>
            </a:solidFill>
            <a:prstDash val="solid"/>
          </a:ln>
        </p:spPr>
      </p:sp>
      <p:sp>
        <p:nvSpPr>
          <p:cNvPr id="90" name="Pt-1-3"/>
          <p:cNvSpPr/>
          <p:nvPr/>
        </p:nvSpPr>
        <p:spPr>
          <a:xfrm>
            <a:off x="3986784" y="3584448"/>
            <a:ext cx="155448" cy="155448"/>
          </a:xfrm>
          <a:prstGeom prst="rect">
            <a:avLst/>
          </a:prstGeom>
          <a:solidFill>
            <a:srgbClr val="DCEFF0"/>
          </a:solidFill>
          <a:ln w="6350">
            <a:solidFill>
              <a:srgbClr val="FFFFFF"/>
            </a:solidFill>
            <a:prstDash val="solid"/>
          </a:ln>
        </p:spPr>
      </p:sp>
      <p:sp>
        <p:nvSpPr>
          <p:cNvPr id="91" name="Pt-1-4"/>
          <p:cNvSpPr/>
          <p:nvPr/>
        </p:nvSpPr>
        <p:spPr>
          <a:xfrm>
            <a:off x="4142232" y="3584448"/>
            <a:ext cx="155448" cy="155448"/>
          </a:xfrm>
          <a:prstGeom prst="rect">
            <a:avLst/>
          </a:prstGeom>
          <a:solidFill>
            <a:srgbClr val="9FCBCF"/>
          </a:solidFill>
          <a:ln w="6350">
            <a:solidFill>
              <a:srgbClr val="FFFFFF"/>
            </a:solidFill>
            <a:prstDash val="solid"/>
          </a:ln>
        </p:spPr>
      </p:sp>
      <p:sp>
        <p:nvSpPr>
          <p:cNvPr id="92" name="Pt-2-0"/>
          <p:cNvSpPr/>
          <p:nvPr/>
        </p:nvSpPr>
        <p:spPr>
          <a:xfrm>
            <a:off x="3520440" y="3739896"/>
            <a:ext cx="155448" cy="155448"/>
          </a:xfrm>
          <a:prstGeom prst="rect">
            <a:avLst/>
          </a:prstGeom>
          <a:solidFill>
            <a:srgbClr val="DCEFF0"/>
          </a:solidFill>
          <a:ln w="6350">
            <a:solidFill>
              <a:srgbClr val="FFFFFF"/>
            </a:solidFill>
            <a:prstDash val="solid"/>
          </a:ln>
        </p:spPr>
      </p:sp>
      <p:sp>
        <p:nvSpPr>
          <p:cNvPr id="93" name="Pt-2-1"/>
          <p:cNvSpPr/>
          <p:nvPr/>
        </p:nvSpPr>
        <p:spPr>
          <a:xfrm>
            <a:off x="3675888" y="3739896"/>
            <a:ext cx="155448" cy="155448"/>
          </a:xfrm>
          <a:prstGeom prst="rect">
            <a:avLst/>
          </a:prstGeom>
          <a:solidFill>
            <a:srgbClr val="9FCBCF"/>
          </a:solidFill>
          <a:ln w="6350">
            <a:solidFill>
              <a:srgbClr val="FFFFFF"/>
            </a:solidFill>
            <a:prstDash val="solid"/>
          </a:ln>
        </p:spPr>
      </p:sp>
      <p:sp>
        <p:nvSpPr>
          <p:cNvPr id="94" name="Pt-2-2"/>
          <p:cNvSpPr/>
          <p:nvPr/>
        </p:nvSpPr>
        <p:spPr>
          <a:xfrm>
            <a:off x="3831336" y="3739896"/>
            <a:ext cx="155448" cy="155448"/>
          </a:xfrm>
          <a:prstGeom prst="rect">
            <a:avLst/>
          </a:prstGeom>
          <a:solidFill>
            <a:srgbClr val="DCEFF0"/>
          </a:solidFill>
          <a:ln w="6350">
            <a:solidFill>
              <a:srgbClr val="FFFFFF"/>
            </a:solidFill>
            <a:prstDash val="solid"/>
          </a:ln>
        </p:spPr>
      </p:sp>
      <p:sp>
        <p:nvSpPr>
          <p:cNvPr id="95" name="Pt-2-3"/>
          <p:cNvSpPr/>
          <p:nvPr/>
        </p:nvSpPr>
        <p:spPr>
          <a:xfrm>
            <a:off x="3986784" y="3739896"/>
            <a:ext cx="155448" cy="155448"/>
          </a:xfrm>
          <a:prstGeom prst="rect">
            <a:avLst/>
          </a:prstGeom>
          <a:solidFill>
            <a:srgbClr val="9FCBCF"/>
          </a:solidFill>
          <a:ln w="6350">
            <a:solidFill>
              <a:srgbClr val="FFFFFF"/>
            </a:solidFill>
            <a:prstDash val="solid"/>
          </a:ln>
        </p:spPr>
      </p:sp>
      <p:sp>
        <p:nvSpPr>
          <p:cNvPr id="96" name="Pt-2-4"/>
          <p:cNvSpPr/>
          <p:nvPr/>
        </p:nvSpPr>
        <p:spPr>
          <a:xfrm>
            <a:off x="4142232" y="3739896"/>
            <a:ext cx="155448" cy="155448"/>
          </a:xfrm>
          <a:prstGeom prst="rect">
            <a:avLst/>
          </a:prstGeom>
          <a:solidFill>
            <a:srgbClr val="DCEFF0"/>
          </a:solidFill>
          <a:ln w="6350">
            <a:solidFill>
              <a:srgbClr val="FFFFFF"/>
            </a:solidFill>
            <a:prstDash val="solid"/>
          </a:ln>
        </p:spPr>
      </p:sp>
      <p:sp>
        <p:nvSpPr>
          <p:cNvPr id="97" name="Pt-3-0"/>
          <p:cNvSpPr/>
          <p:nvPr/>
        </p:nvSpPr>
        <p:spPr>
          <a:xfrm>
            <a:off x="3520440" y="3895344"/>
            <a:ext cx="155448" cy="155448"/>
          </a:xfrm>
          <a:prstGeom prst="rect">
            <a:avLst/>
          </a:prstGeom>
          <a:solidFill>
            <a:srgbClr val="9FCBCF"/>
          </a:solidFill>
          <a:ln w="6350">
            <a:solidFill>
              <a:srgbClr val="FFFFFF"/>
            </a:solidFill>
            <a:prstDash val="solid"/>
          </a:ln>
        </p:spPr>
      </p:sp>
      <p:sp>
        <p:nvSpPr>
          <p:cNvPr id="98" name="Pt-3-1"/>
          <p:cNvSpPr/>
          <p:nvPr/>
        </p:nvSpPr>
        <p:spPr>
          <a:xfrm>
            <a:off x="3675888" y="3895344"/>
            <a:ext cx="155448" cy="155448"/>
          </a:xfrm>
          <a:prstGeom prst="rect">
            <a:avLst/>
          </a:prstGeom>
          <a:solidFill>
            <a:srgbClr val="DCEFF0"/>
          </a:solidFill>
          <a:ln w="6350">
            <a:solidFill>
              <a:srgbClr val="FFFFFF"/>
            </a:solidFill>
            <a:prstDash val="solid"/>
          </a:ln>
        </p:spPr>
      </p:sp>
      <p:sp>
        <p:nvSpPr>
          <p:cNvPr id="99" name="Pt-3-2"/>
          <p:cNvSpPr/>
          <p:nvPr/>
        </p:nvSpPr>
        <p:spPr>
          <a:xfrm>
            <a:off x="3831336" y="3895344"/>
            <a:ext cx="155448" cy="155448"/>
          </a:xfrm>
          <a:prstGeom prst="rect">
            <a:avLst/>
          </a:prstGeom>
          <a:solidFill>
            <a:srgbClr val="9FCBCF"/>
          </a:solidFill>
          <a:ln w="6350">
            <a:solidFill>
              <a:srgbClr val="FFFFFF"/>
            </a:solidFill>
            <a:prstDash val="solid"/>
          </a:ln>
        </p:spPr>
      </p:sp>
      <p:sp>
        <p:nvSpPr>
          <p:cNvPr id="100" name="Pt-3-3"/>
          <p:cNvSpPr/>
          <p:nvPr/>
        </p:nvSpPr>
        <p:spPr>
          <a:xfrm>
            <a:off x="3986784" y="3895344"/>
            <a:ext cx="155448" cy="155448"/>
          </a:xfrm>
          <a:prstGeom prst="rect">
            <a:avLst/>
          </a:prstGeom>
          <a:solidFill>
            <a:srgbClr val="DCEFF0"/>
          </a:solidFill>
          <a:ln w="6350">
            <a:solidFill>
              <a:srgbClr val="FFFFFF"/>
            </a:solidFill>
            <a:prstDash val="solid"/>
          </a:ln>
        </p:spPr>
      </p:sp>
      <p:sp>
        <p:nvSpPr>
          <p:cNvPr id="101" name="Pt-3-4"/>
          <p:cNvSpPr/>
          <p:nvPr/>
        </p:nvSpPr>
        <p:spPr>
          <a:xfrm>
            <a:off x="4142232" y="3895344"/>
            <a:ext cx="155448" cy="155448"/>
          </a:xfrm>
          <a:prstGeom prst="rect">
            <a:avLst/>
          </a:prstGeom>
          <a:solidFill>
            <a:srgbClr val="9FCBCF"/>
          </a:solidFill>
          <a:ln w="6350">
            <a:solidFill>
              <a:srgbClr val="FFFFFF"/>
            </a:solidFill>
            <a:prstDash val="solid"/>
          </a:ln>
        </p:spPr>
      </p:sp>
      <p:sp>
        <p:nvSpPr>
          <p:cNvPr id="102" name="Pt-4-0"/>
          <p:cNvSpPr/>
          <p:nvPr/>
        </p:nvSpPr>
        <p:spPr>
          <a:xfrm>
            <a:off x="3520440" y="4050792"/>
            <a:ext cx="155448" cy="155448"/>
          </a:xfrm>
          <a:prstGeom prst="rect">
            <a:avLst/>
          </a:prstGeom>
          <a:solidFill>
            <a:srgbClr val="DCEFF0"/>
          </a:solidFill>
          <a:ln w="6350">
            <a:solidFill>
              <a:srgbClr val="FFFFFF"/>
            </a:solidFill>
            <a:prstDash val="solid"/>
          </a:ln>
        </p:spPr>
      </p:sp>
      <p:sp>
        <p:nvSpPr>
          <p:cNvPr id="103" name="Pt-4-1"/>
          <p:cNvSpPr/>
          <p:nvPr/>
        </p:nvSpPr>
        <p:spPr>
          <a:xfrm>
            <a:off x="3675888" y="4050792"/>
            <a:ext cx="155448" cy="155448"/>
          </a:xfrm>
          <a:prstGeom prst="rect">
            <a:avLst/>
          </a:prstGeom>
          <a:solidFill>
            <a:srgbClr val="9FCBCF"/>
          </a:solidFill>
          <a:ln w="6350">
            <a:solidFill>
              <a:srgbClr val="FFFFFF"/>
            </a:solidFill>
            <a:prstDash val="solid"/>
          </a:ln>
        </p:spPr>
      </p:sp>
      <p:sp>
        <p:nvSpPr>
          <p:cNvPr id="104" name="Pt-4-2"/>
          <p:cNvSpPr/>
          <p:nvPr/>
        </p:nvSpPr>
        <p:spPr>
          <a:xfrm>
            <a:off x="3831336" y="4050792"/>
            <a:ext cx="155448" cy="155448"/>
          </a:xfrm>
          <a:prstGeom prst="rect">
            <a:avLst/>
          </a:prstGeom>
          <a:solidFill>
            <a:srgbClr val="DCEFF0"/>
          </a:solidFill>
          <a:ln w="6350">
            <a:solidFill>
              <a:srgbClr val="FFFFFF"/>
            </a:solidFill>
            <a:prstDash val="solid"/>
          </a:ln>
        </p:spPr>
      </p:sp>
      <p:sp>
        <p:nvSpPr>
          <p:cNvPr id="105" name="Pt-4-3"/>
          <p:cNvSpPr/>
          <p:nvPr/>
        </p:nvSpPr>
        <p:spPr>
          <a:xfrm>
            <a:off x="3986784" y="4050792"/>
            <a:ext cx="155448" cy="155448"/>
          </a:xfrm>
          <a:prstGeom prst="rect">
            <a:avLst/>
          </a:prstGeom>
          <a:solidFill>
            <a:srgbClr val="9FCBCF"/>
          </a:solidFill>
          <a:ln w="6350">
            <a:solidFill>
              <a:srgbClr val="FFFFFF"/>
            </a:solidFill>
            <a:prstDash val="solid"/>
          </a:ln>
        </p:spPr>
      </p:sp>
      <p:sp>
        <p:nvSpPr>
          <p:cNvPr id="106" name="Pt-4-4"/>
          <p:cNvSpPr/>
          <p:nvPr/>
        </p:nvSpPr>
        <p:spPr>
          <a:xfrm>
            <a:off x="4142232" y="4050792"/>
            <a:ext cx="155448" cy="155448"/>
          </a:xfrm>
          <a:prstGeom prst="rect">
            <a:avLst/>
          </a:prstGeom>
          <a:solidFill>
            <a:srgbClr val="DCEFF0"/>
          </a:solidFill>
          <a:ln w="6350">
            <a:solidFill>
              <a:srgbClr val="FFFFFF"/>
            </a:solidFill>
            <a:prstDash val="solid"/>
          </a:ln>
        </p:spPr>
      </p:sp>
      <p:sp>
        <p:nvSpPr>
          <p:cNvPr id="107" name="Text 105"/>
          <p:cNvSpPr txBox="1"/>
          <p:nvPr/>
        </p:nvSpPr>
        <p:spPr>
          <a:xfrm>
            <a:off x="502920" y="4251960"/>
            <a:ext cx="777240" cy="228600"/>
          </a:xfrm>
          <a:prstGeom prst="rect">
            <a:avLst/>
          </a:prstGeom>
          <a:no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C</a:t>
            </a:r>
            <a:endParaRPr lang="en-US" sz="1100" dirty="0"/>
          </a:p>
        </p:txBody>
      </p:sp>
      <p:sp>
        <p:nvSpPr>
          <p:cNvPr id="108" name="Text 106"/>
          <p:cNvSpPr txBox="1"/>
          <p:nvPr/>
        </p:nvSpPr>
        <p:spPr>
          <a:xfrm>
            <a:off x="1691640" y="4251960"/>
            <a:ext cx="777240" cy="228600"/>
          </a:xfrm>
          <a:prstGeom prst="rect">
            <a:avLst/>
          </a:prstGeom>
          <a:no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P</a:t>
            </a:r>
            <a:endParaRPr lang="en-US" sz="1100" dirty="0"/>
          </a:p>
        </p:txBody>
      </p:sp>
      <p:sp>
        <p:nvSpPr>
          <p:cNvPr id="109" name="Text 107"/>
          <p:cNvSpPr txBox="1"/>
          <p:nvPr/>
        </p:nvSpPr>
        <p:spPr>
          <a:xfrm>
            <a:off x="2606040" y="4251960"/>
            <a:ext cx="777240" cy="228600"/>
          </a:xfrm>
          <a:prstGeom prst="rect">
            <a:avLst/>
          </a:prstGeom>
          <a:noFill/>
          <a:ln/>
        </p:spPr>
        <p:txBody>
          <a:bodyPr wrap="square" lIns="0" tIns="0" rIns="0" bIns="0" rtlCol="0" anchor="ctr"/>
          <a:lstStyle/>
          <a:p>
            <a:pPr algn="ctr" indent="0" marL="0">
              <a:buNone/>
            </a:pPr>
            <a:r>
              <a:rPr lang="en-US" sz="1100" b="1" dirty="0">
                <a:solidFill>
                  <a:schemeClr val="accent1"/>
                </a:solidFill>
                <a:latin typeface="Cambria" pitchFamily="34" charset="0"/>
                <a:ea typeface="Cambria" pitchFamily="34" charset="-122"/>
                <a:cs typeface="Cambria" pitchFamily="34" charset="-120"/>
              </a:rPr>
              <a:t>D</a:t>
            </a:r>
            <a:endParaRPr lang="en-US" sz="1100" dirty="0"/>
          </a:p>
        </p:txBody>
      </p:sp>
      <p:sp>
        <p:nvSpPr>
          <p:cNvPr id="110" name="Text 108"/>
          <p:cNvSpPr txBox="1"/>
          <p:nvPr/>
        </p:nvSpPr>
        <p:spPr>
          <a:xfrm>
            <a:off x="3520440" y="4251960"/>
            <a:ext cx="777240" cy="228600"/>
          </a:xfrm>
          <a:prstGeom prst="rect">
            <a:avLst/>
          </a:prstGeom>
          <a:no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Pᵀ</a:t>
            </a:r>
            <a:endParaRPr lang="en-US" sz="1100" dirty="0"/>
          </a:p>
        </p:txBody>
      </p:sp>
      <p:sp>
        <p:nvSpPr>
          <p:cNvPr id="111" name="Formula"/>
          <p:cNvSpPr/>
          <p:nvPr/>
        </p:nvSpPr>
        <p:spPr>
          <a:xfrm>
            <a:off x="5029200" y="1143000"/>
            <a:ext cx="3657600" cy="1600200"/>
          </a:xfrm>
          <a:prstGeom prst="roundRect">
            <a:avLst>
              <a:gd name="adj" fmla="val 5714"/>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112" name="Text 110"/>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113" name="Text 111"/>
          <p:cNvSpPr txBox="1"/>
          <p:nvPr/>
        </p:nvSpPr>
        <p:spPr>
          <a:xfrm>
            <a:off x="5212080" y="1554480"/>
            <a:ext cx="3291840" cy="109728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C = P D Pᵀ</a:t>
            </a:r>
            <a:endParaRPr lang="en-US" sz="1500" dirty="0"/>
          </a:p>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Pᵀ P = I</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P: eigenvectors as columns</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D: eigenvalues on the diagonal</a:t>
            </a:r>
            <a:endParaRPr lang="en-US" sz="1500" dirty="0"/>
          </a:p>
        </p:txBody>
      </p:sp>
      <p:sp>
        <p:nvSpPr>
          <p:cNvPr id="114" name="In our project"/>
          <p:cNvSpPr/>
          <p:nvPr/>
        </p:nvSpPr>
        <p:spPr>
          <a:xfrm>
            <a:off x="5029200" y="2926080"/>
            <a:ext cx="3657600" cy="1691640"/>
          </a:xfrm>
          <a:prstGeom prst="roundRect">
            <a:avLst>
              <a:gd name="adj" fmla="val 5405"/>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115" name="Text 113"/>
          <p:cNvSpPr txBox="1"/>
          <p:nvPr/>
        </p:nvSpPr>
        <p:spPr>
          <a:xfrm>
            <a:off x="5212080" y="303580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116" name="Text 114"/>
          <p:cNvSpPr txBox="1"/>
          <p:nvPr/>
        </p:nvSpPr>
        <p:spPr>
          <a:xfrm>
            <a:off x="5212080" y="3337560"/>
            <a:ext cx="3291840" cy="118872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We checked C = PDPᵀ with the computer. In the eigenvector directions, nothing is tangled any more: each direction varies on its own. We used NumPy's eigh, which is built for symmetric matrices.</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PCA and eigenfaces</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7</a:t>
            </a:r>
            <a:endParaRPr lang="en-US" sz="2000" dirty="0"/>
          </a:p>
        </p:txBody>
      </p:sp>
      <p:sp>
        <p:nvSpPr>
          <p:cNvPr id="5" name="Text 3"/>
          <p:cNvSpPr txBox="1"/>
          <p:nvPr/>
        </p:nvSpPr>
        <p:spPr>
          <a:xfrm>
            <a:off x="457200" y="1143000"/>
            <a:ext cx="4297680" cy="173736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PCA (Principal Component Analysis) means: keep only the top k eigenvectors (largest eigenvalues) and ignore the rest.</a:t>
            </a:r>
            <a:endParaRPr lang="en-US" sz="1300" dirty="0"/>
          </a:p>
          <a:p>
            <a:pPr indent="0" marL="0">
              <a:spcAft>
                <a:spcPts val="800"/>
              </a:spcAft>
              <a:buNone/>
            </a:pPr>
            <a:r>
              <a:rPr lang="en-US" sz="1300" dirty="0">
                <a:solidFill>
                  <a:schemeClr val="tx1"/>
                </a:solidFill>
              </a:rPr>
              <a:t>Each eigenvector has 4096 numbers, so we can reshape it into a 64 × 64 picture: a ghost-like face called an eigenface.</a:t>
            </a:r>
            <a:endParaRPr lang="en-US" sz="1300" dirty="0"/>
          </a:p>
        </p:txBody>
      </p:sp>
      <p:sp>
        <p:nvSpPr>
          <p:cNvPr id="6" name="Shape 4"/>
          <p:cNvSpPr/>
          <p:nvPr/>
        </p:nvSpPr>
        <p:spPr>
          <a:xfrm>
            <a:off x="457200" y="2697480"/>
            <a:ext cx="548640" cy="658368"/>
          </a:xfrm>
          <a:prstGeom prst="roundRect">
            <a:avLst>
              <a:gd name="adj" fmla="val 13333"/>
            </a:avLst>
          </a:prstGeom>
          <a:solidFill>
            <a:srgbClr val="4A5068"/>
          </a:solidFill>
          <a:ln w="12700">
            <a:solidFill>
              <a:srgbClr val="4A5068"/>
            </a:solidFill>
            <a:prstDash val="solid"/>
          </a:ln>
        </p:spPr>
      </p:sp>
      <p:sp>
        <p:nvSpPr>
          <p:cNvPr id="7" name="Text 5"/>
          <p:cNvSpPr txBox="1"/>
          <p:nvPr/>
        </p:nvSpPr>
        <p:spPr>
          <a:xfrm>
            <a:off x="457200" y="2697480"/>
            <a:ext cx="548640" cy="658368"/>
          </a:xfrm>
          <a:prstGeom prst="rect">
            <a:avLst/>
          </a:prstGeom>
          <a:noFill/>
          <a:ln/>
        </p:spPr>
        <p:txBody>
          <a:bodyPr wrap="square" lIns="0" tIns="0" rIns="0" bIns="0" rtlCol="0" anchor="ctr"/>
          <a:lstStyle/>
          <a:p>
            <a:pPr algn="ctr" indent="0" marL="0">
              <a:buNone/>
            </a:pPr>
            <a:r>
              <a:rPr lang="en-US" sz="1100" b="1" dirty="0">
                <a:solidFill>
                  <a:schemeClr val="bg1"/>
                </a:solidFill>
                <a:latin typeface="Cambria" pitchFamily="34" charset="0"/>
                <a:ea typeface="Cambria" pitchFamily="34" charset="-122"/>
                <a:cs typeface="Cambria" pitchFamily="34" charset="-120"/>
              </a:rPr>
              <a:t>face</a:t>
            </a:r>
            <a:endParaRPr lang="en-US" sz="1100" dirty="0"/>
          </a:p>
        </p:txBody>
      </p:sp>
      <p:sp>
        <p:nvSpPr>
          <p:cNvPr id="8" name="Text 6"/>
          <p:cNvSpPr txBox="1"/>
          <p:nvPr/>
        </p:nvSpPr>
        <p:spPr>
          <a:xfrm>
            <a:off x="1024128" y="2697480"/>
            <a:ext cx="274320" cy="658368"/>
          </a:xfrm>
          <a:prstGeom prst="rect">
            <a:avLst/>
          </a:prstGeom>
          <a:no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9" name="Shape 7"/>
          <p:cNvSpPr/>
          <p:nvPr/>
        </p:nvSpPr>
        <p:spPr>
          <a:xfrm>
            <a:off x="1325880" y="2697480"/>
            <a:ext cx="548640" cy="658368"/>
          </a:xfrm>
          <a:prstGeom prst="roundRect">
            <a:avLst>
              <a:gd name="adj" fmla="val 13333"/>
            </a:avLst>
          </a:prstGeom>
          <a:solidFill>
            <a:schemeClr val="accent1"/>
          </a:solidFill>
          <a:ln w="12700">
            <a:solidFill>
              <a:schemeClr val="accent1"/>
            </a:solidFill>
            <a:prstDash val="solid"/>
          </a:ln>
        </p:spPr>
      </p:sp>
      <p:sp>
        <p:nvSpPr>
          <p:cNvPr id="10" name="Text 8"/>
          <p:cNvSpPr txBox="1"/>
          <p:nvPr/>
        </p:nvSpPr>
        <p:spPr>
          <a:xfrm>
            <a:off x="1325880" y="2697480"/>
            <a:ext cx="548640" cy="658368"/>
          </a:xfrm>
          <a:prstGeom prst="rect">
            <a:avLst/>
          </a:prstGeom>
          <a:noFill/>
          <a:ln/>
        </p:spPr>
        <p:txBody>
          <a:bodyPr wrap="square" lIns="0" tIns="0" rIns="0" bIns="0" rtlCol="0" anchor="ctr"/>
          <a:lstStyle/>
          <a:p>
            <a:pPr algn="ctr" indent="0" marL="0">
              <a:buNone/>
            </a:pPr>
            <a:r>
              <a:rPr lang="en-US" sz="1100" b="1" dirty="0">
                <a:solidFill>
                  <a:schemeClr val="bg1"/>
                </a:solidFill>
                <a:latin typeface="Cambria" pitchFamily="34" charset="0"/>
                <a:ea typeface="Cambria" pitchFamily="34" charset="-122"/>
                <a:cs typeface="Cambria" pitchFamily="34" charset="-120"/>
              </a:rPr>
              <a:t>m</a:t>
            </a:r>
            <a:endParaRPr lang="en-US" sz="1100" dirty="0"/>
          </a:p>
        </p:txBody>
      </p:sp>
      <p:sp>
        <p:nvSpPr>
          <p:cNvPr id="11" name="Text 9"/>
          <p:cNvSpPr txBox="1"/>
          <p:nvPr/>
        </p:nvSpPr>
        <p:spPr>
          <a:xfrm>
            <a:off x="1892808" y="2697480"/>
            <a:ext cx="411480" cy="658368"/>
          </a:xfrm>
          <a:prstGeom prst="rect">
            <a:avLst/>
          </a:prstGeom>
          <a:noFill/>
          <a:ln/>
        </p:spPr>
        <p:txBody>
          <a:bodyPr wrap="square" lIns="0" tIns="0" rIns="0" bIns="0" rtlCol="0" anchor="ctr"/>
          <a:lstStyle/>
          <a:p>
            <a:pPr algn="ctr" indent="0" marL="0">
              <a:buNone/>
            </a:pPr>
            <a:r>
              <a:rPr lang="en-US" sz="1200" dirty="0">
                <a:solidFill>
                  <a:schemeClr val="tx2"/>
                </a:solidFill>
                <a:latin typeface="Cambria" pitchFamily="34" charset="0"/>
                <a:ea typeface="Cambria" pitchFamily="34" charset="-122"/>
                <a:cs typeface="Cambria" pitchFamily="34" charset="-120"/>
              </a:rPr>
              <a:t>+ z₁</a:t>
            </a:r>
            <a:endParaRPr lang="en-US" sz="1200" dirty="0"/>
          </a:p>
        </p:txBody>
      </p:sp>
      <p:sp>
        <p:nvSpPr>
          <p:cNvPr id="12" name="Shape 10"/>
          <p:cNvSpPr/>
          <p:nvPr/>
        </p:nvSpPr>
        <p:spPr>
          <a:xfrm>
            <a:off x="2331720" y="2697480"/>
            <a:ext cx="548640" cy="658368"/>
          </a:xfrm>
          <a:prstGeom prst="roundRect">
            <a:avLst>
              <a:gd name="adj" fmla="val 13333"/>
            </a:avLst>
          </a:prstGeom>
          <a:solidFill>
            <a:schemeClr val="accent2"/>
          </a:solidFill>
          <a:ln w="12700">
            <a:solidFill>
              <a:schemeClr val="accent2"/>
            </a:solidFill>
            <a:prstDash val="solid"/>
          </a:ln>
        </p:spPr>
      </p:sp>
      <p:sp>
        <p:nvSpPr>
          <p:cNvPr id="13" name="Text 11"/>
          <p:cNvSpPr txBox="1"/>
          <p:nvPr/>
        </p:nvSpPr>
        <p:spPr>
          <a:xfrm>
            <a:off x="2331720" y="2697480"/>
            <a:ext cx="548640" cy="658368"/>
          </a:xfrm>
          <a:prstGeom prst="rect">
            <a:avLst/>
          </a:prstGeom>
          <a:noFill/>
          <a:ln/>
        </p:spPr>
        <p:txBody>
          <a:bodyPr wrap="square" lIns="0" tIns="0" rIns="0" bIns="0" rtlCol="0" anchor="ctr"/>
          <a:lstStyle/>
          <a:p>
            <a:pPr algn="ctr" indent="0" marL="0">
              <a:buNone/>
            </a:pPr>
            <a:r>
              <a:rPr lang="en-US" sz="1100" b="1" dirty="0">
                <a:solidFill>
                  <a:schemeClr val="bg1"/>
                </a:solidFill>
                <a:latin typeface="Cambria" pitchFamily="34" charset="0"/>
                <a:ea typeface="Cambria" pitchFamily="34" charset="-122"/>
                <a:cs typeface="Cambria" pitchFamily="34" charset="-120"/>
              </a:rPr>
              <a:t>v₁</a:t>
            </a:r>
            <a:endParaRPr lang="en-US" sz="1100" dirty="0"/>
          </a:p>
        </p:txBody>
      </p:sp>
      <p:sp>
        <p:nvSpPr>
          <p:cNvPr id="14" name="Text 12"/>
          <p:cNvSpPr txBox="1"/>
          <p:nvPr/>
        </p:nvSpPr>
        <p:spPr>
          <a:xfrm>
            <a:off x="2898648" y="2697480"/>
            <a:ext cx="411480" cy="658368"/>
          </a:xfrm>
          <a:prstGeom prst="rect">
            <a:avLst/>
          </a:prstGeom>
          <a:noFill/>
          <a:ln/>
        </p:spPr>
        <p:txBody>
          <a:bodyPr wrap="square" lIns="0" tIns="0" rIns="0" bIns="0" rtlCol="0" anchor="ctr"/>
          <a:lstStyle/>
          <a:p>
            <a:pPr algn="ctr" indent="0" marL="0">
              <a:buNone/>
            </a:pPr>
            <a:r>
              <a:rPr lang="en-US" sz="1200" dirty="0">
                <a:solidFill>
                  <a:schemeClr val="tx2"/>
                </a:solidFill>
                <a:latin typeface="Cambria" pitchFamily="34" charset="0"/>
                <a:ea typeface="Cambria" pitchFamily="34" charset="-122"/>
                <a:cs typeface="Cambria" pitchFamily="34" charset="-120"/>
              </a:rPr>
              <a:t>+ z₂</a:t>
            </a:r>
            <a:endParaRPr lang="en-US" sz="1200" dirty="0"/>
          </a:p>
        </p:txBody>
      </p:sp>
      <p:sp>
        <p:nvSpPr>
          <p:cNvPr id="15" name="Shape 13"/>
          <p:cNvSpPr/>
          <p:nvPr/>
        </p:nvSpPr>
        <p:spPr>
          <a:xfrm>
            <a:off x="3337560" y="2697480"/>
            <a:ext cx="548640" cy="658368"/>
          </a:xfrm>
          <a:prstGeom prst="roundRect">
            <a:avLst>
              <a:gd name="adj" fmla="val 13333"/>
            </a:avLst>
          </a:prstGeom>
          <a:solidFill>
            <a:srgbClr val="4FA3AA"/>
          </a:solidFill>
          <a:ln w="12700">
            <a:solidFill>
              <a:srgbClr val="4FA3AA"/>
            </a:solidFill>
            <a:prstDash val="solid"/>
          </a:ln>
        </p:spPr>
      </p:sp>
      <p:sp>
        <p:nvSpPr>
          <p:cNvPr id="16" name="Text 14"/>
          <p:cNvSpPr txBox="1"/>
          <p:nvPr/>
        </p:nvSpPr>
        <p:spPr>
          <a:xfrm>
            <a:off x="3337560" y="2697480"/>
            <a:ext cx="548640" cy="658368"/>
          </a:xfrm>
          <a:prstGeom prst="rect">
            <a:avLst/>
          </a:prstGeom>
          <a:noFill/>
          <a:ln/>
        </p:spPr>
        <p:txBody>
          <a:bodyPr wrap="square" lIns="0" tIns="0" rIns="0" bIns="0" rtlCol="0" anchor="ctr"/>
          <a:lstStyle/>
          <a:p>
            <a:pPr algn="ctr" indent="0" marL="0">
              <a:buNone/>
            </a:pPr>
            <a:r>
              <a:rPr lang="en-US" sz="1100" b="1" dirty="0">
                <a:solidFill>
                  <a:schemeClr val="bg1"/>
                </a:solidFill>
                <a:latin typeface="Cambria" pitchFamily="34" charset="0"/>
                <a:ea typeface="Cambria" pitchFamily="34" charset="-122"/>
                <a:cs typeface="Cambria" pitchFamily="34" charset="-120"/>
              </a:rPr>
              <a:t>v₂</a:t>
            </a:r>
            <a:endParaRPr lang="en-US" sz="1100" dirty="0"/>
          </a:p>
        </p:txBody>
      </p:sp>
      <p:sp>
        <p:nvSpPr>
          <p:cNvPr id="17" name="Text 15"/>
          <p:cNvSpPr txBox="1"/>
          <p:nvPr/>
        </p:nvSpPr>
        <p:spPr>
          <a:xfrm>
            <a:off x="3904488" y="2697480"/>
            <a:ext cx="457200" cy="658368"/>
          </a:xfrm>
          <a:prstGeom prst="rect">
            <a:avLst/>
          </a:prstGeom>
          <a:noFill/>
          <a:ln/>
        </p:spPr>
        <p:txBody>
          <a:bodyPr wrap="square" lIns="0" tIns="0" rIns="0" bIns="0" rtlCol="0" anchor="ctr"/>
          <a:lstStyle/>
          <a:p>
            <a:pPr algn="ctr" indent="0" marL="0">
              <a:buNone/>
            </a:pPr>
            <a:r>
              <a:rPr lang="en-US" sz="1300" dirty="0">
                <a:solidFill>
                  <a:schemeClr val="tx2"/>
                </a:solidFill>
                <a:latin typeface="Cambria" pitchFamily="34" charset="0"/>
                <a:ea typeface="Cambria" pitchFamily="34" charset="-122"/>
                <a:cs typeface="Cambria" pitchFamily="34" charset="-120"/>
              </a:rPr>
              <a:t>+ …</a:t>
            </a:r>
            <a:endParaRPr lang="en-US" sz="1300" dirty="0"/>
          </a:p>
        </p:txBody>
      </p:sp>
      <p:sp>
        <p:nvSpPr>
          <p:cNvPr id="18" name="Text 16"/>
          <p:cNvSpPr txBox="1"/>
          <p:nvPr/>
        </p:nvSpPr>
        <p:spPr>
          <a:xfrm>
            <a:off x="457200" y="3566160"/>
            <a:ext cx="4297680" cy="731520"/>
          </a:xfrm>
          <a:prstGeom prst="rect">
            <a:avLst/>
          </a:prstGeom>
          <a:noFill/>
          <a:ln/>
        </p:spPr>
        <p:txBody>
          <a:bodyPr wrap="square" lIns="0" tIns="0" rIns="0" bIns="0" rtlCol="0" anchor="t"/>
          <a:lstStyle/>
          <a:p>
            <a:pPr indent="0" marL="0">
              <a:buNone/>
            </a:pPr>
            <a:r>
              <a:rPr lang="en-US" sz="1200" i="1" dirty="0">
                <a:solidFill>
                  <a:schemeClr val="accent2"/>
                </a:solidFill>
              </a:rPr>
              <a:t>Every face ≈ average face + a mix of eigenfaces. The weights z₁, z₂, … describe that person's face.</a:t>
            </a:r>
            <a:endParaRPr lang="en-US" sz="1200" dirty="0"/>
          </a:p>
        </p:txBody>
      </p:sp>
      <p:sp>
        <p:nvSpPr>
          <p:cNvPr id="19" name="Formula"/>
          <p:cNvSpPr/>
          <p:nvPr/>
        </p:nvSpPr>
        <p:spPr>
          <a:xfrm>
            <a:off x="5029200" y="1143000"/>
            <a:ext cx="3657600" cy="1600200"/>
          </a:xfrm>
          <a:prstGeom prst="roundRect">
            <a:avLst>
              <a:gd name="adj" fmla="val 5714"/>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20" name="Text 18"/>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21" name="Text 19"/>
          <p:cNvSpPr txBox="1"/>
          <p:nvPr/>
        </p:nvSpPr>
        <p:spPr>
          <a:xfrm>
            <a:off x="5212080" y="1554480"/>
            <a:ext cx="3291840" cy="109728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mbria" pitchFamily="34" charset="0"/>
                <a:ea typeface="Cambria" pitchFamily="34" charset="-122"/>
                <a:cs typeface="Cambria" pitchFamily="34" charset="-120"/>
              </a:rPr>
              <a:t>x ≈ m + z₁v₁ + … + zₖvₖ</a:t>
            </a:r>
            <a:endParaRPr lang="en-US" sz="1400" dirty="0"/>
          </a:p>
          <a:p>
            <a:pPr indent="0" marL="0">
              <a:spcAft>
                <a:spcPts val="400"/>
              </a:spcAft>
              <a:buNone/>
            </a:pPr>
            <a:r>
              <a:rPr lang="en-US" sz="1400" dirty="0">
                <a:solidFill>
                  <a:schemeClr val="tx2"/>
                </a:solidFill>
                <a:latin typeface="Cambria" pitchFamily="34" charset="0"/>
                <a:ea typeface="Cambria" pitchFamily="34" charset="-122"/>
                <a:cs typeface="Cambria" pitchFamily="34" charset="-120"/>
              </a:rPr>
              <a:t>kept = (λ₁+…+λₖ) / (λ₁+…+λₙ)</a:t>
            </a:r>
            <a:endParaRPr lang="en-US" sz="14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share of the total variation we keep</a:t>
            </a:r>
            <a:endParaRPr lang="en-US" sz="1400" dirty="0"/>
          </a:p>
        </p:txBody>
      </p:sp>
      <p:sp>
        <p:nvSpPr>
          <p:cNvPr id="22" name="In our project"/>
          <p:cNvSpPr/>
          <p:nvPr/>
        </p:nvSpPr>
        <p:spPr>
          <a:xfrm>
            <a:off x="5029200" y="2926080"/>
            <a:ext cx="3657600" cy="1691640"/>
          </a:xfrm>
          <a:prstGeom prst="roundRect">
            <a:avLst>
              <a:gd name="adj" fmla="val 5405"/>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23" name="Text 21"/>
          <p:cNvSpPr txBox="1"/>
          <p:nvPr/>
        </p:nvSpPr>
        <p:spPr>
          <a:xfrm>
            <a:off x="5212080" y="303580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24" name="Text 22"/>
          <p:cNvSpPr txBox="1"/>
          <p:nvPr/>
        </p:nvSpPr>
        <p:spPr>
          <a:xfrm>
            <a:off x="5212080" y="3337560"/>
            <a:ext cx="3291840" cy="118872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We keep k = 50 eigenfaces out of 4096 directions. The “kept” ratio tells us how much of the face information these 50 patterns hold, and we show them as pictures in the notebook.</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Projection onto a subspace</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8</a:t>
            </a:r>
            <a:endParaRPr lang="en-US" sz="2000" dirty="0"/>
          </a:p>
        </p:txBody>
      </p:sp>
      <p:sp>
        <p:nvSpPr>
          <p:cNvPr id="5" name="Text 3"/>
          <p:cNvSpPr txBox="1"/>
          <p:nvPr/>
        </p:nvSpPr>
        <p:spPr>
          <a:xfrm>
            <a:off x="457200" y="1143000"/>
            <a:ext cx="4297680" cy="173736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Projecting a vector onto a subspace means finding its shadow: the closest point to it inside that subspace.</a:t>
            </a:r>
            <a:endParaRPr lang="en-US" sz="1350" dirty="0"/>
          </a:p>
          <a:p>
            <a:pPr indent="0" marL="0">
              <a:spcAft>
                <a:spcPts val="800"/>
              </a:spcAft>
              <a:buNone/>
            </a:pPr>
            <a:r>
              <a:rPr lang="en-US" sz="1350" dirty="0">
                <a:solidFill>
                  <a:schemeClr val="tx1"/>
                </a:solidFill>
              </a:rPr>
              <a:t>The leftover part (the error) is always perpendicular to the subspace.</a:t>
            </a:r>
            <a:endParaRPr lang="en-US" sz="1350" dirty="0"/>
          </a:p>
          <a:p>
            <a:pPr indent="0" marL="0">
              <a:buNone/>
            </a:pPr>
            <a:r>
              <a:rPr lang="en-US" sz="1350" i="1" dirty="0">
                <a:solidFill>
                  <a:schemeClr val="accent2"/>
                </a:solidFill>
              </a:rPr>
              <a:t>Like your shadow on the floor at noon: the sun shines straight down.</a:t>
            </a:r>
            <a:endParaRPr lang="en-US" sz="1350" dirty="0"/>
          </a:p>
        </p:txBody>
      </p:sp>
      <p:sp>
        <p:nvSpPr>
          <p:cNvPr id="6" name="Shape 4"/>
          <p:cNvSpPr/>
          <p:nvPr/>
        </p:nvSpPr>
        <p:spPr>
          <a:xfrm>
            <a:off x="548640" y="4507992"/>
            <a:ext cx="4023360" cy="36576"/>
          </a:xfrm>
          <a:prstGeom prst="rect">
            <a:avLst/>
          </a:prstGeom>
          <a:solidFill>
            <a:srgbClr val="C9D1E3"/>
          </a:solidFill>
          <a:ln w="12700">
            <a:solidFill>
              <a:srgbClr val="C9D1E3"/>
            </a:solidFill>
            <a:prstDash val="solid"/>
          </a:ln>
        </p:spPr>
      </p:sp>
      <p:sp>
        <p:nvSpPr>
          <p:cNvPr id="7" name="Text 5"/>
          <p:cNvSpPr txBox="1"/>
          <p:nvPr/>
        </p:nvSpPr>
        <p:spPr>
          <a:xfrm>
            <a:off x="2377440" y="4572000"/>
            <a:ext cx="2194560" cy="201168"/>
          </a:xfrm>
          <a:prstGeom prst="rect">
            <a:avLst/>
          </a:prstGeom>
          <a:noFill/>
          <a:ln/>
        </p:spPr>
        <p:txBody>
          <a:bodyPr wrap="square" lIns="0" tIns="0" rIns="0" bIns="0" rtlCol="0" anchor="ctr"/>
          <a:lstStyle/>
          <a:p>
            <a:pPr algn="r" indent="0" marL="0">
              <a:buNone/>
            </a:pPr>
            <a:r>
              <a:rPr lang="en-US" sz="950" dirty="0">
                <a:solidFill>
                  <a:srgbClr val="5A6075"/>
                </a:solidFill>
              </a:rPr>
              <a:t>subspace (top 50 eigenfaces)</a:t>
            </a:r>
            <a:endParaRPr lang="en-US" sz="950" dirty="0"/>
          </a:p>
        </p:txBody>
      </p:sp>
      <p:sp>
        <p:nvSpPr>
          <p:cNvPr id="8" name="Shape 6"/>
          <p:cNvSpPr/>
          <p:nvPr/>
        </p:nvSpPr>
        <p:spPr>
          <a:xfrm flipV="1">
            <a:off x="822960" y="3337560"/>
            <a:ext cx="2286000" cy="1188720"/>
          </a:xfrm>
          <a:prstGeom prst="line">
            <a:avLst/>
          </a:prstGeom>
          <a:noFill/>
          <a:ln w="31750">
            <a:solidFill>
              <a:srgbClr val="1D2340"/>
            </a:solidFill>
            <a:prstDash val="solid"/>
            <a:tailEnd type="triangle"/>
          </a:ln>
        </p:spPr>
      </p:sp>
      <p:sp>
        <p:nvSpPr>
          <p:cNvPr id="9" name="Text 7"/>
          <p:cNvSpPr txBox="1"/>
          <p:nvPr/>
        </p:nvSpPr>
        <p:spPr>
          <a:xfrm>
            <a:off x="2377440" y="3108960"/>
            <a:ext cx="731520" cy="201168"/>
          </a:xfrm>
          <a:prstGeom prst="rect">
            <a:avLst/>
          </a:prstGeom>
          <a:no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face x</a:t>
            </a:r>
            <a:endParaRPr lang="en-US" sz="1100" dirty="0"/>
          </a:p>
        </p:txBody>
      </p:sp>
      <p:sp>
        <p:nvSpPr>
          <p:cNvPr id="10" name="Shape 8"/>
          <p:cNvSpPr/>
          <p:nvPr/>
        </p:nvSpPr>
        <p:spPr>
          <a:xfrm>
            <a:off x="3108960" y="3364992"/>
            <a:ext cx="914" cy="1161288"/>
          </a:xfrm>
          <a:prstGeom prst="line">
            <a:avLst/>
          </a:prstGeom>
          <a:noFill/>
          <a:ln w="19050">
            <a:solidFill>
              <a:srgbClr val="8A90A6"/>
            </a:solidFill>
            <a:prstDash val="dash"/>
          </a:ln>
        </p:spPr>
      </p:sp>
      <p:sp>
        <p:nvSpPr>
          <p:cNvPr id="11" name="Text 9"/>
          <p:cNvSpPr txBox="1"/>
          <p:nvPr/>
        </p:nvSpPr>
        <p:spPr>
          <a:xfrm>
            <a:off x="3200400" y="3840480"/>
            <a:ext cx="731520" cy="201168"/>
          </a:xfrm>
          <a:prstGeom prst="rect">
            <a:avLst/>
          </a:prstGeom>
          <a:noFill/>
          <a:ln/>
        </p:spPr>
        <p:txBody>
          <a:bodyPr wrap="square" lIns="0" tIns="0" rIns="0" bIns="0" rtlCol="0" anchor="ctr"/>
          <a:lstStyle/>
          <a:p>
            <a:pPr algn="l" indent="0" marL="0">
              <a:buNone/>
            </a:pPr>
            <a:r>
              <a:rPr lang="en-US" sz="1000" dirty="0">
                <a:solidFill>
                  <a:srgbClr val="5A6075"/>
                </a:solidFill>
              </a:rPr>
              <a:t>error ⟂</a:t>
            </a:r>
            <a:endParaRPr lang="en-US" sz="1000" dirty="0"/>
          </a:p>
        </p:txBody>
      </p:sp>
      <p:sp>
        <p:nvSpPr>
          <p:cNvPr id="12" name="Shape 10"/>
          <p:cNvSpPr/>
          <p:nvPr/>
        </p:nvSpPr>
        <p:spPr>
          <a:xfrm>
            <a:off x="822960" y="4526280"/>
            <a:ext cx="2286000" cy="914"/>
          </a:xfrm>
          <a:prstGeom prst="line">
            <a:avLst/>
          </a:prstGeom>
          <a:noFill/>
          <a:ln w="50800">
            <a:solidFill>
              <a:srgbClr val="E8833A"/>
            </a:solidFill>
            <a:prstDash val="solid"/>
            <a:tailEnd type="triangle"/>
          </a:ln>
        </p:spPr>
      </p:sp>
      <p:sp>
        <p:nvSpPr>
          <p:cNvPr id="13" name="Text 11"/>
          <p:cNvSpPr txBox="1"/>
          <p:nvPr/>
        </p:nvSpPr>
        <p:spPr>
          <a:xfrm>
            <a:off x="1371600" y="4233672"/>
            <a:ext cx="1005840" cy="201168"/>
          </a:xfrm>
          <a:prstGeom prst="rect">
            <a:avLst/>
          </a:prstGeom>
          <a:noFill/>
          <a:ln/>
        </p:spPr>
        <p:txBody>
          <a:bodyPr wrap="square" lIns="0" tIns="0" rIns="0" bIns="0" rtlCol="0" anchor="ctr"/>
          <a:lstStyle/>
          <a:p>
            <a:pPr algn="ctr" indent="0" marL="0">
              <a:buNone/>
            </a:pPr>
            <a:r>
              <a:rPr lang="en-US" sz="1050" b="1" dirty="0">
                <a:solidFill>
                  <a:schemeClr val="accent1"/>
                </a:solidFill>
              </a:rPr>
              <a:t>shadow (x̂)</a:t>
            </a:r>
            <a:endParaRPr lang="en-US" sz="1050" dirty="0"/>
          </a:p>
        </p:txBody>
      </p:sp>
      <p:sp>
        <p:nvSpPr>
          <p:cNvPr id="14" name="Formula"/>
          <p:cNvSpPr/>
          <p:nvPr/>
        </p:nvSpPr>
        <p:spPr>
          <a:xfrm>
            <a:off x="5029200" y="1143000"/>
            <a:ext cx="3657600" cy="1554480"/>
          </a:xfrm>
          <a:prstGeom prst="roundRect">
            <a:avLst>
              <a:gd name="adj" fmla="val 5882"/>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15" name="Text 13"/>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16" name="Text 14"/>
          <p:cNvSpPr txBox="1"/>
          <p:nvPr/>
        </p:nvSpPr>
        <p:spPr>
          <a:xfrm>
            <a:off x="5212080" y="1554480"/>
            <a:ext cx="3291840" cy="105156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z = Pₖᵀ (x − m)</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compress: 4096 → k numbers</a:t>
            </a:r>
            <a:endParaRPr lang="en-US" sz="1500" dirty="0"/>
          </a:p>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x̂ = m + Pₖ z</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rebuild the face</a:t>
            </a:r>
            <a:endParaRPr lang="en-US" sz="1500" dirty="0"/>
          </a:p>
        </p:txBody>
      </p:sp>
      <p:sp>
        <p:nvSpPr>
          <p:cNvPr id="17" name="In our project"/>
          <p:cNvSpPr/>
          <p:nvPr/>
        </p:nvSpPr>
        <p:spPr>
          <a:xfrm>
            <a:off x="5029200" y="2880360"/>
            <a:ext cx="3657600" cy="1737360"/>
          </a:xfrm>
          <a:prstGeom prst="roundRect">
            <a:avLst>
              <a:gd name="adj" fmla="val 5263"/>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18" name="Text 16"/>
          <p:cNvSpPr txBox="1"/>
          <p:nvPr/>
        </p:nvSpPr>
        <p:spPr>
          <a:xfrm>
            <a:off x="5212080" y="299008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19" name="Text 17"/>
          <p:cNvSpPr txBox="1"/>
          <p:nvPr/>
        </p:nvSpPr>
        <p:spPr>
          <a:xfrm>
            <a:off x="5212080" y="3291840"/>
            <a:ext cx="3291840" cy="123444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Each face is squeezed from 4096 numbers to 50 (about 80× smaller) and rebuilt. Small k gives a blurry face, larger k a clearer one. It is just a matrix multiplication because the eigenvectors are orthonormal.</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Norm and distance: who is it?</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9</a:t>
            </a:r>
            <a:endParaRPr lang="en-US" sz="2000" dirty="0"/>
          </a:p>
        </p:txBody>
      </p:sp>
      <p:sp>
        <p:nvSpPr>
          <p:cNvPr id="5" name="Text 3"/>
          <p:cNvSpPr txBox="1"/>
          <p:nvPr/>
        </p:nvSpPr>
        <p:spPr>
          <a:xfrm>
            <a:off x="457200" y="1143000"/>
            <a:ext cx="4023360" cy="137160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The norm of a vector is its length. The distance between two vectors is the length of their difference.</a:t>
            </a:r>
            <a:endParaRPr lang="en-US" sz="1300" dirty="0"/>
          </a:p>
          <a:p>
            <a:pPr indent="0" marL="0">
              <a:spcAft>
                <a:spcPts val="800"/>
              </a:spcAft>
              <a:buNone/>
            </a:pPr>
            <a:r>
              <a:rPr lang="en-US" sz="1300" dirty="0">
                <a:solidFill>
                  <a:schemeClr val="tx1"/>
                </a:solidFill>
              </a:rPr>
              <a:t>It is Pythagoras' theorem, just with 50 numbers instead of 2.</a:t>
            </a:r>
            <a:endParaRPr lang="en-US" sz="1300" dirty="0"/>
          </a:p>
        </p:txBody>
      </p:sp>
      <p:sp>
        <p:nvSpPr>
          <p:cNvPr id="6" name="Formula"/>
          <p:cNvSpPr/>
          <p:nvPr/>
        </p:nvSpPr>
        <p:spPr>
          <a:xfrm>
            <a:off x="457200" y="2331720"/>
            <a:ext cx="4023360" cy="914400"/>
          </a:xfrm>
          <a:prstGeom prst="roundRect">
            <a:avLst>
              <a:gd name="adj" fmla="val 10000"/>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7" name="Text 5"/>
          <p:cNvSpPr txBox="1"/>
          <p:nvPr/>
        </p:nvSpPr>
        <p:spPr>
          <a:xfrm>
            <a:off x="640080" y="2441448"/>
            <a:ext cx="3657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8" name="Text 6"/>
          <p:cNvSpPr txBox="1"/>
          <p:nvPr/>
        </p:nvSpPr>
        <p:spPr>
          <a:xfrm>
            <a:off x="640080" y="2743200"/>
            <a:ext cx="3657600" cy="411480"/>
          </a:xfrm>
          <a:prstGeom prst="rect">
            <a:avLst/>
          </a:prstGeom>
          <a:noFill/>
          <a:ln/>
        </p:spPr>
        <p:txBody>
          <a:bodyPr wrap="square" lIns="0" tIns="0" rIns="0" bIns="0" rtlCol="0" anchor="t"/>
          <a:lstStyle/>
          <a:p>
            <a:pPr indent="0" marL="0">
              <a:spcAft>
                <a:spcPts val="400"/>
              </a:spcAft>
              <a:buNone/>
            </a:pPr>
            <a:r>
              <a:rPr lang="en-US" sz="1350" dirty="0">
                <a:solidFill>
                  <a:schemeClr val="tx2"/>
                </a:solidFill>
                <a:latin typeface="Cambria" pitchFamily="34" charset="0"/>
                <a:ea typeface="Cambria" pitchFamily="34" charset="-122"/>
                <a:cs typeface="Cambria" pitchFamily="34" charset="-120"/>
              </a:rPr>
              <a:t>‖a − b‖ = √((a₁−b₁)² + … + (aₖ−bₖ)²)</a:t>
            </a:r>
            <a:endParaRPr lang="en-US" sz="1350" dirty="0"/>
          </a:p>
        </p:txBody>
      </p:sp>
      <p:sp>
        <p:nvSpPr>
          <p:cNvPr id="9" name="Shape 7"/>
          <p:cNvSpPr/>
          <p:nvPr/>
        </p:nvSpPr>
        <p:spPr>
          <a:xfrm>
            <a:off x="731520" y="3931920"/>
            <a:ext cx="164592" cy="164592"/>
          </a:xfrm>
          <a:prstGeom prst="ellipse">
            <a:avLst/>
          </a:prstGeom>
          <a:solidFill>
            <a:schemeClr val="accent2"/>
          </a:solidFill>
          <a:ln w="12700">
            <a:solidFill>
              <a:schemeClr val="accent2"/>
            </a:solidFill>
            <a:prstDash val="solid"/>
          </a:ln>
        </p:spPr>
      </p:sp>
      <p:sp>
        <p:nvSpPr>
          <p:cNvPr id="10" name="Shape 8"/>
          <p:cNvSpPr/>
          <p:nvPr/>
        </p:nvSpPr>
        <p:spPr>
          <a:xfrm>
            <a:off x="960120" y="4160520"/>
            <a:ext cx="164592" cy="164592"/>
          </a:xfrm>
          <a:prstGeom prst="ellipse">
            <a:avLst/>
          </a:prstGeom>
          <a:solidFill>
            <a:schemeClr val="accent2"/>
          </a:solidFill>
          <a:ln w="12700">
            <a:solidFill>
              <a:schemeClr val="accent2"/>
            </a:solidFill>
            <a:prstDash val="solid"/>
          </a:ln>
        </p:spPr>
      </p:sp>
      <p:sp>
        <p:nvSpPr>
          <p:cNvPr id="11" name="Shape 9"/>
          <p:cNvSpPr/>
          <p:nvPr/>
        </p:nvSpPr>
        <p:spPr>
          <a:xfrm>
            <a:off x="685800" y="4343400"/>
            <a:ext cx="164592" cy="164592"/>
          </a:xfrm>
          <a:prstGeom prst="ellipse">
            <a:avLst/>
          </a:prstGeom>
          <a:solidFill>
            <a:schemeClr val="accent2"/>
          </a:solidFill>
          <a:ln w="12700">
            <a:solidFill>
              <a:schemeClr val="accent2"/>
            </a:solidFill>
            <a:prstDash val="solid"/>
          </a:ln>
        </p:spPr>
      </p:sp>
      <p:sp>
        <p:nvSpPr>
          <p:cNvPr id="12" name="Shape 10"/>
          <p:cNvSpPr/>
          <p:nvPr/>
        </p:nvSpPr>
        <p:spPr>
          <a:xfrm>
            <a:off x="2011680" y="3794760"/>
            <a:ext cx="164592" cy="164592"/>
          </a:xfrm>
          <a:prstGeom prst="ellipse">
            <a:avLst/>
          </a:prstGeom>
          <a:solidFill>
            <a:schemeClr val="accent3"/>
          </a:solidFill>
          <a:ln w="12700">
            <a:solidFill>
              <a:schemeClr val="accent3"/>
            </a:solidFill>
            <a:prstDash val="solid"/>
          </a:ln>
        </p:spPr>
      </p:sp>
      <p:sp>
        <p:nvSpPr>
          <p:cNvPr id="13" name="Shape 11"/>
          <p:cNvSpPr/>
          <p:nvPr/>
        </p:nvSpPr>
        <p:spPr>
          <a:xfrm>
            <a:off x="2240280" y="4023360"/>
            <a:ext cx="164592" cy="164592"/>
          </a:xfrm>
          <a:prstGeom prst="ellipse">
            <a:avLst/>
          </a:prstGeom>
          <a:solidFill>
            <a:schemeClr val="accent3"/>
          </a:solidFill>
          <a:ln w="12700">
            <a:solidFill>
              <a:schemeClr val="accent3"/>
            </a:solidFill>
            <a:prstDash val="solid"/>
          </a:ln>
        </p:spPr>
      </p:sp>
      <p:sp>
        <p:nvSpPr>
          <p:cNvPr id="14" name="Shape 12"/>
          <p:cNvSpPr/>
          <p:nvPr/>
        </p:nvSpPr>
        <p:spPr>
          <a:xfrm>
            <a:off x="1965960" y="4206240"/>
            <a:ext cx="164592" cy="164592"/>
          </a:xfrm>
          <a:prstGeom prst="ellipse">
            <a:avLst/>
          </a:prstGeom>
          <a:solidFill>
            <a:schemeClr val="accent3"/>
          </a:solidFill>
          <a:ln w="12700">
            <a:solidFill>
              <a:schemeClr val="accent3"/>
            </a:solidFill>
            <a:prstDash val="solid"/>
          </a:ln>
        </p:spPr>
      </p:sp>
      <p:sp>
        <p:nvSpPr>
          <p:cNvPr id="15" name="Shape 13"/>
          <p:cNvSpPr/>
          <p:nvPr/>
        </p:nvSpPr>
        <p:spPr>
          <a:xfrm>
            <a:off x="3291840" y="4114800"/>
            <a:ext cx="164592" cy="164592"/>
          </a:xfrm>
          <a:prstGeom prst="ellipse">
            <a:avLst/>
          </a:prstGeom>
          <a:solidFill>
            <a:schemeClr val="accent1"/>
          </a:solidFill>
          <a:ln w="12700">
            <a:solidFill>
              <a:schemeClr val="accent1"/>
            </a:solidFill>
            <a:prstDash val="solid"/>
          </a:ln>
        </p:spPr>
      </p:sp>
      <p:sp>
        <p:nvSpPr>
          <p:cNvPr id="16" name="Shape 14"/>
          <p:cNvSpPr/>
          <p:nvPr/>
        </p:nvSpPr>
        <p:spPr>
          <a:xfrm>
            <a:off x="3566160" y="3931920"/>
            <a:ext cx="164592" cy="164592"/>
          </a:xfrm>
          <a:prstGeom prst="ellipse">
            <a:avLst/>
          </a:prstGeom>
          <a:solidFill>
            <a:schemeClr val="accent1"/>
          </a:solidFill>
          <a:ln w="12700">
            <a:solidFill>
              <a:schemeClr val="accent1"/>
            </a:solidFill>
            <a:prstDash val="solid"/>
          </a:ln>
        </p:spPr>
      </p:sp>
      <p:sp>
        <p:nvSpPr>
          <p:cNvPr id="17" name="Shape 15"/>
          <p:cNvSpPr/>
          <p:nvPr/>
        </p:nvSpPr>
        <p:spPr>
          <a:xfrm>
            <a:off x="3429000" y="4434840"/>
            <a:ext cx="164592" cy="164592"/>
          </a:xfrm>
          <a:prstGeom prst="ellipse">
            <a:avLst/>
          </a:prstGeom>
          <a:solidFill>
            <a:schemeClr val="accent1"/>
          </a:solidFill>
          <a:ln w="12700">
            <a:solidFill>
              <a:schemeClr val="accent1"/>
            </a:solidFill>
            <a:prstDash val="solid"/>
          </a:ln>
        </p:spPr>
      </p:sp>
      <p:sp>
        <p:nvSpPr>
          <p:cNvPr id="18" name="Shape 16"/>
          <p:cNvSpPr/>
          <p:nvPr/>
        </p:nvSpPr>
        <p:spPr>
          <a:xfrm>
            <a:off x="2286000" y="4096512"/>
            <a:ext cx="438912" cy="109728"/>
          </a:xfrm>
          <a:prstGeom prst="line">
            <a:avLst/>
          </a:prstGeom>
          <a:noFill/>
          <a:ln w="15875">
            <a:solidFill>
              <a:srgbClr val="5A6075"/>
            </a:solidFill>
            <a:prstDash val="dash"/>
          </a:ln>
        </p:spPr>
      </p:sp>
      <p:sp>
        <p:nvSpPr>
          <p:cNvPr id="19" name="Shape 17"/>
          <p:cNvSpPr/>
          <p:nvPr/>
        </p:nvSpPr>
        <p:spPr>
          <a:xfrm>
            <a:off x="2670048" y="4160520"/>
            <a:ext cx="182880" cy="182880"/>
          </a:xfrm>
          <a:prstGeom prst="ellipse">
            <a:avLst/>
          </a:prstGeom>
          <a:solidFill>
            <a:schemeClr val="bg1"/>
          </a:solidFill>
          <a:ln w="25400">
            <a:solidFill>
              <a:schemeClr val="tx2"/>
            </a:solidFill>
            <a:prstDash val="solid"/>
          </a:ln>
        </p:spPr>
      </p:sp>
      <p:sp>
        <p:nvSpPr>
          <p:cNvPr id="20" name="Text 18"/>
          <p:cNvSpPr txBox="1"/>
          <p:nvPr/>
        </p:nvSpPr>
        <p:spPr>
          <a:xfrm>
            <a:off x="1463040" y="4526280"/>
            <a:ext cx="2377440" cy="201168"/>
          </a:xfrm>
          <a:prstGeom prst="rect">
            <a:avLst/>
          </a:prstGeom>
          <a:noFill/>
          <a:ln/>
        </p:spPr>
        <p:txBody>
          <a:bodyPr wrap="square" lIns="0" tIns="0" rIns="0" bIns="0" rtlCol="0" anchor="ctr"/>
          <a:lstStyle/>
          <a:p>
            <a:pPr algn="ctr" indent="0" marL="0">
              <a:buNone/>
            </a:pPr>
            <a:r>
              <a:rPr lang="en-US" sz="1000" dirty="0">
                <a:solidFill>
                  <a:srgbClr val="5A6075"/>
                </a:solidFill>
              </a:rPr>
              <a:t>new face → nearest dot wins</a:t>
            </a:r>
            <a:endParaRPr lang="en-US" sz="1000" dirty="0"/>
          </a:p>
        </p:txBody>
      </p:sp>
      <p:sp>
        <p:nvSpPr>
          <p:cNvPr id="21" name="project"/>
          <p:cNvSpPr/>
          <p:nvPr/>
        </p:nvSpPr>
        <p:spPr>
          <a:xfrm>
            <a:off x="4754880" y="1143000"/>
            <a:ext cx="3931920" cy="3474720"/>
          </a:xfrm>
          <a:prstGeom prst="roundRect">
            <a:avLst>
              <a:gd name="adj" fmla="val 2632"/>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22" name="Text 20"/>
          <p:cNvSpPr txBox="1"/>
          <p:nvPr/>
        </p:nvSpPr>
        <p:spPr>
          <a:xfrm>
            <a:off x="4937760" y="1252728"/>
            <a:ext cx="3566160" cy="256032"/>
          </a:xfrm>
          <a:prstGeom prst="rect">
            <a:avLst/>
          </a:prstGeom>
          <a:noFill/>
          <a:ln/>
        </p:spPr>
        <p:txBody>
          <a:bodyPr wrap="square" lIns="0" tIns="0" rIns="0" bIns="0" rtlCol="0" anchor="ctr"/>
          <a:lstStyle/>
          <a:p>
            <a:pPr indent="0" marL="0">
              <a:buNone/>
            </a:pPr>
            <a:r>
              <a:rPr lang="en-US" sz="1000" b="1" spc="100" kern="0" dirty="0">
                <a:solidFill>
                  <a:schemeClr val="accent2"/>
                </a:solidFill>
              </a:rPr>
              <a:t>IN OUR PROJECT: THE EIGENFACES ALGORITHM</a:t>
            </a:r>
            <a:endParaRPr lang="en-US" sz="1000" dirty="0"/>
          </a:p>
        </p:txBody>
      </p:sp>
      <p:sp>
        <p:nvSpPr>
          <p:cNvPr id="23" name="Shape 21"/>
          <p:cNvSpPr/>
          <p:nvPr/>
        </p:nvSpPr>
        <p:spPr>
          <a:xfrm>
            <a:off x="4937760" y="1645920"/>
            <a:ext cx="365760" cy="365760"/>
          </a:xfrm>
          <a:prstGeom prst="ellipse">
            <a:avLst/>
          </a:prstGeom>
          <a:solidFill>
            <a:schemeClr val="accent2"/>
          </a:solidFill>
          <a:ln w="12700">
            <a:solidFill>
              <a:schemeClr val="accent2"/>
            </a:solidFill>
            <a:prstDash val="solid"/>
          </a:ln>
        </p:spPr>
      </p:sp>
      <p:sp>
        <p:nvSpPr>
          <p:cNvPr id="24" name="Text 22"/>
          <p:cNvSpPr txBox="1"/>
          <p:nvPr/>
        </p:nvSpPr>
        <p:spPr>
          <a:xfrm>
            <a:off x="4937760" y="1645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23"/>
          <p:cNvSpPr txBox="1"/>
          <p:nvPr/>
        </p:nvSpPr>
        <p:spPr>
          <a:xfrm>
            <a:off x="5440680" y="1600200"/>
            <a:ext cx="3108960" cy="548640"/>
          </a:xfrm>
          <a:prstGeom prst="rect">
            <a:avLst/>
          </a:prstGeom>
          <a:noFill/>
          <a:ln/>
        </p:spPr>
        <p:txBody>
          <a:bodyPr wrap="square" lIns="0" tIns="0" rIns="0" bIns="0" rtlCol="0" anchor="ctr"/>
          <a:lstStyle/>
          <a:p>
            <a:pPr indent="0" marL="0">
              <a:buNone/>
            </a:pPr>
            <a:r>
              <a:rPr lang="en-US" sz="1250" dirty="0">
                <a:solidFill>
                  <a:schemeClr val="tx1"/>
                </a:solidFill>
              </a:rPr>
              <a:t>Project the new photo to get its 50 numbers z.</a:t>
            </a:r>
            <a:endParaRPr lang="en-US" sz="1250" dirty="0"/>
          </a:p>
        </p:txBody>
      </p:sp>
      <p:sp>
        <p:nvSpPr>
          <p:cNvPr id="26" name="Shape 24"/>
          <p:cNvSpPr/>
          <p:nvPr/>
        </p:nvSpPr>
        <p:spPr>
          <a:xfrm>
            <a:off x="4937760" y="2359152"/>
            <a:ext cx="365760" cy="365760"/>
          </a:xfrm>
          <a:prstGeom prst="ellipse">
            <a:avLst/>
          </a:prstGeom>
          <a:solidFill>
            <a:schemeClr val="accent2"/>
          </a:solidFill>
          <a:ln w="12700">
            <a:solidFill>
              <a:schemeClr val="accent2"/>
            </a:solidFill>
            <a:prstDash val="solid"/>
          </a:ln>
        </p:spPr>
      </p:sp>
      <p:sp>
        <p:nvSpPr>
          <p:cNvPr id="27" name="Text 25"/>
          <p:cNvSpPr txBox="1"/>
          <p:nvPr/>
        </p:nvSpPr>
        <p:spPr>
          <a:xfrm>
            <a:off x="4937760" y="23591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8" name="Text 26"/>
          <p:cNvSpPr txBox="1"/>
          <p:nvPr/>
        </p:nvSpPr>
        <p:spPr>
          <a:xfrm>
            <a:off x="5440680" y="2313432"/>
            <a:ext cx="3108960" cy="548640"/>
          </a:xfrm>
          <a:prstGeom prst="rect">
            <a:avLst/>
          </a:prstGeom>
          <a:noFill/>
          <a:ln/>
        </p:spPr>
        <p:txBody>
          <a:bodyPr wrap="square" lIns="0" tIns="0" rIns="0" bIns="0" rtlCol="0" anchor="ctr"/>
          <a:lstStyle/>
          <a:p>
            <a:pPr indent="0" marL="0">
              <a:buNone/>
            </a:pPr>
            <a:r>
              <a:rPr lang="en-US" sz="1250" dirty="0">
                <a:solidFill>
                  <a:schemeClr val="tx1"/>
                </a:solidFill>
              </a:rPr>
              <a:t>Measure the distance from z to every training face's 50 numbers.</a:t>
            </a:r>
            <a:endParaRPr lang="en-US" sz="1250" dirty="0"/>
          </a:p>
        </p:txBody>
      </p:sp>
      <p:sp>
        <p:nvSpPr>
          <p:cNvPr id="29" name="Shape 27"/>
          <p:cNvSpPr/>
          <p:nvPr/>
        </p:nvSpPr>
        <p:spPr>
          <a:xfrm>
            <a:off x="4937760" y="3072384"/>
            <a:ext cx="365760" cy="365760"/>
          </a:xfrm>
          <a:prstGeom prst="ellipse">
            <a:avLst/>
          </a:prstGeom>
          <a:solidFill>
            <a:schemeClr val="accent2"/>
          </a:solidFill>
          <a:ln w="12700">
            <a:solidFill>
              <a:schemeClr val="accent2"/>
            </a:solidFill>
            <a:prstDash val="solid"/>
          </a:ln>
        </p:spPr>
      </p:sp>
      <p:sp>
        <p:nvSpPr>
          <p:cNvPr id="30" name="Text 28"/>
          <p:cNvSpPr txBox="1"/>
          <p:nvPr/>
        </p:nvSpPr>
        <p:spPr>
          <a:xfrm>
            <a:off x="4937760" y="307238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1" name="Text 29"/>
          <p:cNvSpPr txBox="1"/>
          <p:nvPr/>
        </p:nvSpPr>
        <p:spPr>
          <a:xfrm>
            <a:off x="5440680" y="3026664"/>
            <a:ext cx="3108960" cy="548640"/>
          </a:xfrm>
          <a:prstGeom prst="rect">
            <a:avLst/>
          </a:prstGeom>
          <a:noFill/>
          <a:ln/>
        </p:spPr>
        <p:txBody>
          <a:bodyPr wrap="square" lIns="0" tIns="0" rIns="0" bIns="0" rtlCol="0" anchor="ctr"/>
          <a:lstStyle/>
          <a:p>
            <a:pPr indent="0" marL="0">
              <a:buNone/>
            </a:pPr>
            <a:r>
              <a:rPr lang="en-US" sz="1250" dirty="0">
                <a:solidFill>
                  <a:schemeClr val="tx1"/>
                </a:solidFill>
              </a:rPr>
              <a:t>The closest training face wins: its person is our answer.</a:t>
            </a:r>
            <a:endParaRPr lang="en-US" sz="1250" dirty="0"/>
          </a:p>
        </p:txBody>
      </p:sp>
      <p:sp>
        <p:nvSpPr>
          <p:cNvPr id="32" name="Shape 30"/>
          <p:cNvSpPr/>
          <p:nvPr/>
        </p:nvSpPr>
        <p:spPr>
          <a:xfrm>
            <a:off x="4937760" y="3785616"/>
            <a:ext cx="365760" cy="365760"/>
          </a:xfrm>
          <a:prstGeom prst="ellipse">
            <a:avLst/>
          </a:prstGeom>
          <a:solidFill>
            <a:schemeClr val="accent2"/>
          </a:solidFill>
          <a:ln w="12700">
            <a:solidFill>
              <a:schemeClr val="accent2"/>
            </a:solidFill>
            <a:prstDash val="solid"/>
          </a:ln>
        </p:spPr>
      </p:sp>
      <p:sp>
        <p:nvSpPr>
          <p:cNvPr id="33" name="Text 31"/>
          <p:cNvSpPr txBox="1"/>
          <p:nvPr/>
        </p:nvSpPr>
        <p:spPr>
          <a:xfrm>
            <a:off x="4937760" y="378561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4" name="Text 32"/>
          <p:cNvSpPr txBox="1"/>
          <p:nvPr/>
        </p:nvSpPr>
        <p:spPr>
          <a:xfrm>
            <a:off x="5440680" y="3739896"/>
            <a:ext cx="3108960" cy="548640"/>
          </a:xfrm>
          <a:prstGeom prst="rect">
            <a:avLst/>
          </a:prstGeom>
          <a:noFill/>
          <a:ln/>
        </p:spPr>
        <p:txBody>
          <a:bodyPr wrap="square" lIns="0" tIns="0" rIns="0" bIns="0" rtlCol="0" anchor="ctr"/>
          <a:lstStyle/>
          <a:p>
            <a:pPr indent="0" marL="0">
              <a:buNone/>
            </a:pPr>
            <a:r>
              <a:rPr lang="en-US" sz="1250" dirty="0">
                <a:solidFill>
                  <a:schemeClr val="tx1"/>
                </a:solidFill>
              </a:rPr>
              <a:t>Accuracy = % of the 80 test photos named correctly.</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Least squares</a:t>
            </a:r>
            <a:endParaRPr lang="en-US" sz="2600" dirty="0"/>
          </a:p>
        </p:txBody>
      </p:sp>
      <p:sp>
        <p:nvSpPr>
          <p:cNvPr id="3" name="badge"/>
          <p:cNvSpPr/>
          <p:nvPr/>
        </p:nvSpPr>
        <p:spPr>
          <a:xfrm>
            <a:off x="457200" y="338328"/>
            <a:ext cx="512064" cy="512064"/>
          </a:xfrm>
          <a:prstGeom prst="ellipse">
            <a:avLst/>
          </a:prstGeom>
          <a:solidFill>
            <a:schemeClr val="accent1"/>
          </a:solidFill>
          <a:ln w="12700">
            <a:solidFill>
              <a:schemeClr val="accent1"/>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10</a:t>
            </a:r>
            <a:endParaRPr lang="en-US" sz="2000" dirty="0"/>
          </a:p>
        </p:txBody>
      </p:sp>
      <p:sp>
        <p:nvSpPr>
          <p:cNvPr id="5" name="Text 3"/>
          <p:cNvSpPr txBox="1"/>
          <p:nvPr/>
        </p:nvSpPr>
        <p:spPr>
          <a:xfrm>
            <a:off x="457200" y="1143000"/>
            <a:ext cx="4297680" cy="178308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When AW = Y has no exact solution, least squares finds the W that makes the total error as small as possible.</a:t>
            </a:r>
            <a:endParaRPr lang="en-US" sz="1300" dirty="0"/>
          </a:p>
          <a:p>
            <a:pPr indent="0" marL="0">
              <a:spcAft>
                <a:spcPts val="800"/>
              </a:spcAft>
              <a:buNone/>
            </a:pPr>
            <a:r>
              <a:rPr lang="en-US" sz="1300" dirty="0">
                <a:solidFill>
                  <a:schemeClr val="tx1"/>
                </a:solidFill>
              </a:rPr>
              <a:t>Geometrically, AW is the projection of Y onto the column space of A: the closest point a linear model can reach.</a:t>
            </a:r>
            <a:endParaRPr lang="en-US" sz="1300" dirty="0"/>
          </a:p>
        </p:txBody>
      </p:sp>
      <p:sp>
        <p:nvSpPr>
          <p:cNvPr id="6" name="Shape 4"/>
          <p:cNvSpPr/>
          <p:nvPr/>
        </p:nvSpPr>
        <p:spPr>
          <a:xfrm flipV="1">
            <a:off x="804672" y="4423867"/>
            <a:ext cx="914" cy="84125"/>
          </a:xfrm>
          <a:prstGeom prst="line">
            <a:avLst/>
          </a:prstGeom>
          <a:noFill/>
          <a:ln w="15875">
            <a:solidFill>
              <a:srgbClr val="5A6075"/>
            </a:solidFill>
            <a:prstDash val="dash"/>
          </a:ln>
        </p:spPr>
      </p:sp>
      <p:sp>
        <p:nvSpPr>
          <p:cNvPr id="7" name="Shape 5"/>
          <p:cNvSpPr/>
          <p:nvPr/>
        </p:nvSpPr>
        <p:spPr>
          <a:xfrm>
            <a:off x="1261872" y="4142232"/>
            <a:ext cx="914" cy="98755"/>
          </a:xfrm>
          <a:prstGeom prst="line">
            <a:avLst/>
          </a:prstGeom>
          <a:noFill/>
          <a:ln w="15875">
            <a:solidFill>
              <a:srgbClr val="5A6075"/>
            </a:solidFill>
            <a:prstDash val="dash"/>
          </a:ln>
        </p:spPr>
      </p:sp>
      <p:sp>
        <p:nvSpPr>
          <p:cNvPr id="8" name="Shape 6"/>
          <p:cNvSpPr/>
          <p:nvPr/>
        </p:nvSpPr>
        <p:spPr>
          <a:xfrm flipV="1">
            <a:off x="1719072" y="4058107"/>
            <a:ext cx="914" cy="221285"/>
          </a:xfrm>
          <a:prstGeom prst="line">
            <a:avLst/>
          </a:prstGeom>
          <a:noFill/>
          <a:ln w="15875">
            <a:solidFill>
              <a:srgbClr val="5A6075"/>
            </a:solidFill>
            <a:prstDash val="dash"/>
          </a:ln>
        </p:spPr>
      </p:sp>
      <p:sp>
        <p:nvSpPr>
          <p:cNvPr id="9" name="Shape 7"/>
          <p:cNvSpPr/>
          <p:nvPr/>
        </p:nvSpPr>
        <p:spPr>
          <a:xfrm>
            <a:off x="2176272" y="3822192"/>
            <a:ext cx="914" cy="53035"/>
          </a:xfrm>
          <a:prstGeom prst="line">
            <a:avLst/>
          </a:prstGeom>
          <a:noFill/>
          <a:ln w="15875">
            <a:solidFill>
              <a:srgbClr val="5A6075"/>
            </a:solidFill>
            <a:prstDash val="dash"/>
          </a:ln>
        </p:spPr>
      </p:sp>
      <p:sp>
        <p:nvSpPr>
          <p:cNvPr id="10" name="Shape 8"/>
          <p:cNvSpPr/>
          <p:nvPr/>
        </p:nvSpPr>
        <p:spPr>
          <a:xfrm flipV="1">
            <a:off x="2633472" y="3692347"/>
            <a:ext cx="914" cy="221285"/>
          </a:xfrm>
          <a:prstGeom prst="line">
            <a:avLst/>
          </a:prstGeom>
          <a:noFill/>
          <a:ln w="15875">
            <a:solidFill>
              <a:srgbClr val="5A6075"/>
            </a:solidFill>
            <a:prstDash val="dash"/>
          </a:ln>
        </p:spPr>
      </p:sp>
      <p:sp>
        <p:nvSpPr>
          <p:cNvPr id="11" name="Shape 9"/>
          <p:cNvSpPr/>
          <p:nvPr/>
        </p:nvSpPr>
        <p:spPr>
          <a:xfrm>
            <a:off x="3090672" y="3502152"/>
            <a:ext cx="914" cy="7315"/>
          </a:xfrm>
          <a:prstGeom prst="line">
            <a:avLst/>
          </a:prstGeom>
          <a:noFill/>
          <a:ln w="15875">
            <a:solidFill>
              <a:srgbClr val="5A6075"/>
            </a:solidFill>
            <a:prstDash val="dash"/>
          </a:ln>
        </p:spPr>
      </p:sp>
      <p:sp>
        <p:nvSpPr>
          <p:cNvPr id="12" name="Shape 10"/>
          <p:cNvSpPr/>
          <p:nvPr/>
        </p:nvSpPr>
        <p:spPr>
          <a:xfrm flipV="1">
            <a:off x="3547872" y="3326587"/>
            <a:ext cx="914" cy="267005"/>
          </a:xfrm>
          <a:prstGeom prst="line">
            <a:avLst/>
          </a:prstGeom>
          <a:noFill/>
          <a:ln w="15875">
            <a:solidFill>
              <a:srgbClr val="5A6075"/>
            </a:solidFill>
            <a:prstDash val="dash"/>
          </a:ln>
        </p:spPr>
      </p:sp>
      <p:sp>
        <p:nvSpPr>
          <p:cNvPr id="13" name="Shape 11"/>
          <p:cNvSpPr/>
          <p:nvPr/>
        </p:nvSpPr>
        <p:spPr>
          <a:xfrm flipV="1">
            <a:off x="4005072" y="3143707"/>
            <a:ext cx="914" cy="38405"/>
          </a:xfrm>
          <a:prstGeom prst="line">
            <a:avLst/>
          </a:prstGeom>
          <a:noFill/>
          <a:ln w="15875">
            <a:solidFill>
              <a:srgbClr val="5A6075"/>
            </a:solidFill>
            <a:prstDash val="dash"/>
          </a:ln>
        </p:spPr>
      </p:sp>
      <p:sp>
        <p:nvSpPr>
          <p:cNvPr id="14" name="Shape 12"/>
          <p:cNvSpPr/>
          <p:nvPr/>
        </p:nvSpPr>
        <p:spPr>
          <a:xfrm flipV="1">
            <a:off x="548640" y="3026664"/>
            <a:ext cx="3749040" cy="1499616"/>
          </a:xfrm>
          <a:prstGeom prst="line">
            <a:avLst/>
          </a:prstGeom>
          <a:noFill/>
          <a:ln w="38100">
            <a:solidFill>
              <a:srgbClr val="E8833A"/>
            </a:solidFill>
            <a:prstDash val="solid"/>
          </a:ln>
        </p:spPr>
      </p:sp>
      <p:sp>
        <p:nvSpPr>
          <p:cNvPr id="15" name="Shape 13"/>
          <p:cNvSpPr/>
          <p:nvPr/>
        </p:nvSpPr>
        <p:spPr>
          <a:xfrm>
            <a:off x="731520" y="4434840"/>
            <a:ext cx="146304" cy="146304"/>
          </a:xfrm>
          <a:prstGeom prst="ellipse">
            <a:avLst/>
          </a:prstGeom>
          <a:solidFill>
            <a:schemeClr val="tx2"/>
          </a:solidFill>
          <a:ln w="12700">
            <a:solidFill>
              <a:schemeClr val="tx2"/>
            </a:solidFill>
            <a:prstDash val="solid"/>
          </a:ln>
        </p:spPr>
      </p:sp>
      <p:sp>
        <p:nvSpPr>
          <p:cNvPr id="16" name="Shape 14"/>
          <p:cNvSpPr/>
          <p:nvPr/>
        </p:nvSpPr>
        <p:spPr>
          <a:xfrm>
            <a:off x="1188720" y="4069080"/>
            <a:ext cx="146304" cy="146304"/>
          </a:xfrm>
          <a:prstGeom prst="ellipse">
            <a:avLst/>
          </a:prstGeom>
          <a:solidFill>
            <a:schemeClr val="tx2"/>
          </a:solidFill>
          <a:ln w="12700">
            <a:solidFill>
              <a:schemeClr val="tx2"/>
            </a:solidFill>
            <a:prstDash val="solid"/>
          </a:ln>
        </p:spPr>
      </p:sp>
      <p:sp>
        <p:nvSpPr>
          <p:cNvPr id="17" name="Shape 15"/>
          <p:cNvSpPr/>
          <p:nvPr/>
        </p:nvSpPr>
        <p:spPr>
          <a:xfrm>
            <a:off x="1645920" y="4206240"/>
            <a:ext cx="146304" cy="146304"/>
          </a:xfrm>
          <a:prstGeom prst="ellipse">
            <a:avLst/>
          </a:prstGeom>
          <a:solidFill>
            <a:schemeClr val="tx2"/>
          </a:solidFill>
          <a:ln w="12700">
            <a:solidFill>
              <a:schemeClr val="tx2"/>
            </a:solidFill>
            <a:prstDash val="solid"/>
          </a:ln>
        </p:spPr>
      </p:sp>
      <p:sp>
        <p:nvSpPr>
          <p:cNvPr id="18" name="Shape 16"/>
          <p:cNvSpPr/>
          <p:nvPr/>
        </p:nvSpPr>
        <p:spPr>
          <a:xfrm>
            <a:off x="2103120" y="3749040"/>
            <a:ext cx="146304" cy="146304"/>
          </a:xfrm>
          <a:prstGeom prst="ellipse">
            <a:avLst/>
          </a:prstGeom>
          <a:solidFill>
            <a:schemeClr val="tx2"/>
          </a:solidFill>
          <a:ln w="12700">
            <a:solidFill>
              <a:schemeClr val="tx2"/>
            </a:solidFill>
            <a:prstDash val="solid"/>
          </a:ln>
        </p:spPr>
      </p:sp>
      <p:sp>
        <p:nvSpPr>
          <p:cNvPr id="19" name="Shape 17"/>
          <p:cNvSpPr/>
          <p:nvPr/>
        </p:nvSpPr>
        <p:spPr>
          <a:xfrm>
            <a:off x="2560320" y="3840480"/>
            <a:ext cx="146304" cy="146304"/>
          </a:xfrm>
          <a:prstGeom prst="ellipse">
            <a:avLst/>
          </a:prstGeom>
          <a:solidFill>
            <a:schemeClr val="tx2"/>
          </a:solidFill>
          <a:ln w="12700">
            <a:solidFill>
              <a:schemeClr val="tx2"/>
            </a:solidFill>
            <a:prstDash val="solid"/>
          </a:ln>
        </p:spPr>
      </p:sp>
      <p:sp>
        <p:nvSpPr>
          <p:cNvPr id="20" name="Shape 18"/>
          <p:cNvSpPr/>
          <p:nvPr/>
        </p:nvSpPr>
        <p:spPr>
          <a:xfrm>
            <a:off x="3017520" y="3429000"/>
            <a:ext cx="146304" cy="146304"/>
          </a:xfrm>
          <a:prstGeom prst="ellipse">
            <a:avLst/>
          </a:prstGeom>
          <a:solidFill>
            <a:schemeClr val="tx2"/>
          </a:solidFill>
          <a:ln w="12700">
            <a:solidFill>
              <a:schemeClr val="tx2"/>
            </a:solidFill>
            <a:prstDash val="solid"/>
          </a:ln>
        </p:spPr>
      </p:sp>
      <p:sp>
        <p:nvSpPr>
          <p:cNvPr id="21" name="Shape 19"/>
          <p:cNvSpPr/>
          <p:nvPr/>
        </p:nvSpPr>
        <p:spPr>
          <a:xfrm>
            <a:off x="3474720" y="3520440"/>
            <a:ext cx="146304" cy="146304"/>
          </a:xfrm>
          <a:prstGeom prst="ellipse">
            <a:avLst/>
          </a:prstGeom>
          <a:solidFill>
            <a:schemeClr val="tx2"/>
          </a:solidFill>
          <a:ln w="12700">
            <a:solidFill>
              <a:schemeClr val="tx2"/>
            </a:solidFill>
            <a:prstDash val="solid"/>
          </a:ln>
        </p:spPr>
      </p:sp>
      <p:sp>
        <p:nvSpPr>
          <p:cNvPr id="22" name="Shape 20"/>
          <p:cNvSpPr/>
          <p:nvPr/>
        </p:nvSpPr>
        <p:spPr>
          <a:xfrm>
            <a:off x="3931920" y="3108960"/>
            <a:ext cx="146304" cy="146304"/>
          </a:xfrm>
          <a:prstGeom prst="ellipse">
            <a:avLst/>
          </a:prstGeom>
          <a:solidFill>
            <a:schemeClr val="tx2"/>
          </a:solidFill>
          <a:ln w="12700">
            <a:solidFill>
              <a:schemeClr val="tx2"/>
            </a:solidFill>
            <a:prstDash val="solid"/>
          </a:ln>
        </p:spPr>
      </p:sp>
      <p:sp>
        <p:nvSpPr>
          <p:cNvPr id="23" name="Text 21"/>
          <p:cNvSpPr txBox="1"/>
          <p:nvPr/>
        </p:nvSpPr>
        <p:spPr>
          <a:xfrm>
            <a:off x="457200" y="4617720"/>
            <a:ext cx="4297680" cy="201168"/>
          </a:xfrm>
          <a:prstGeom prst="rect">
            <a:avLst/>
          </a:prstGeom>
          <a:noFill/>
          <a:ln/>
        </p:spPr>
        <p:txBody>
          <a:bodyPr wrap="square" lIns="0" tIns="0" rIns="0" bIns="0" rtlCol="0" anchor="ctr"/>
          <a:lstStyle/>
          <a:p>
            <a:pPr algn="ctr" indent="0" marL="0">
              <a:buNone/>
            </a:pPr>
            <a:r>
              <a:rPr lang="en-US" sz="950" dirty="0">
                <a:solidFill>
                  <a:srgbClr val="5A6075"/>
                </a:solidFill>
              </a:rPr>
              <a:t>best-fit line: dashed gaps squared and added are as small as possible</a:t>
            </a:r>
            <a:endParaRPr lang="en-US" sz="950" dirty="0"/>
          </a:p>
        </p:txBody>
      </p:sp>
      <p:sp>
        <p:nvSpPr>
          <p:cNvPr id="24" name="Formula"/>
          <p:cNvSpPr/>
          <p:nvPr/>
        </p:nvSpPr>
        <p:spPr>
          <a:xfrm>
            <a:off x="5029200" y="1143000"/>
            <a:ext cx="3657600" cy="1371600"/>
          </a:xfrm>
          <a:prstGeom prst="roundRect">
            <a:avLst>
              <a:gd name="adj" fmla="val 6667"/>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25" name="Text 23"/>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26" name="Text 24"/>
          <p:cNvSpPr txBox="1"/>
          <p:nvPr/>
        </p:nvSpPr>
        <p:spPr>
          <a:xfrm>
            <a:off x="5212080" y="1554480"/>
            <a:ext cx="3291840" cy="868680"/>
          </a:xfrm>
          <a:prstGeom prst="rect">
            <a:avLst/>
          </a:prstGeom>
          <a:noFill/>
          <a:ln/>
        </p:spPr>
        <p:txBody>
          <a:bodyPr wrap="square" lIns="0" tIns="0" rIns="0" bIns="0" rtlCol="0" anchor="t"/>
          <a:lstStyle/>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minimise ‖AW − Y‖²</a:t>
            </a:r>
            <a:endParaRPr lang="en-US" sz="1500" dirty="0"/>
          </a:p>
          <a:p>
            <a:pPr indent="0" marL="0">
              <a:spcAft>
                <a:spcPts val="400"/>
              </a:spcAft>
              <a:buNone/>
            </a:pPr>
            <a:r>
              <a:rPr lang="en-US" sz="1500" dirty="0">
                <a:solidFill>
                  <a:schemeClr val="tx2"/>
                </a:solidFill>
                <a:latin typeface="Cambria" pitchFamily="34" charset="0"/>
                <a:ea typeface="Cambria" pitchFamily="34" charset="-122"/>
                <a:cs typeface="Cambria" pitchFamily="34" charset="-120"/>
              </a:rPr>
              <a:t>AᵀA W = AᵀY</a:t>
            </a:r>
            <a:endParaRPr lang="en-US" sz="1500" dirty="0"/>
          </a:p>
          <a:p>
            <a:pPr indent="0" marL="0">
              <a:spcAft>
                <a:spcPts val="400"/>
              </a:spcAft>
              <a:buNone/>
            </a:pPr>
            <a:r>
              <a:rPr lang="en-US" sz="1100" i="1" dirty="0">
                <a:solidFill>
                  <a:srgbClr val="5A6075"/>
                </a:solidFill>
                <a:latin typeface="Calibri" pitchFamily="34" charset="0"/>
                <a:ea typeface="Calibri" pitchFamily="34" charset="-122"/>
                <a:cs typeface="Calibri" pitchFamily="34" charset="-120"/>
              </a:rPr>
              <a:t>the normal equations</a:t>
            </a:r>
            <a:endParaRPr lang="en-US" sz="1500" dirty="0"/>
          </a:p>
        </p:txBody>
      </p:sp>
      <p:sp>
        <p:nvSpPr>
          <p:cNvPr id="27" name="In our project"/>
          <p:cNvSpPr/>
          <p:nvPr/>
        </p:nvSpPr>
        <p:spPr>
          <a:xfrm>
            <a:off x="5029200" y="2697480"/>
            <a:ext cx="3657600" cy="1920240"/>
          </a:xfrm>
          <a:prstGeom prst="roundRect">
            <a:avLst>
              <a:gd name="adj" fmla="val 4762"/>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28" name="Text 26"/>
          <p:cNvSpPr txBox="1"/>
          <p:nvPr/>
        </p:nvSpPr>
        <p:spPr>
          <a:xfrm>
            <a:off x="5212080" y="280720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29" name="Text 27"/>
          <p:cNvSpPr txBox="1"/>
          <p:nvPr/>
        </p:nvSpPr>
        <p:spPr>
          <a:xfrm>
            <a:off x="5212080" y="3108960"/>
            <a:ext cx="3291840" cy="141732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A = each training face's 50 projection numbers plus a 1 (320 × 51). Y = one-hot labels: a 1 in the column of the correct person (320 × 40). For a new face we get 40 scores and pick the highest. This is our second recognition method.</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097280" y="320040"/>
            <a:ext cx="758952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Bonus: the linear algebra inside the CNN</a:t>
            </a:r>
            <a:endParaRPr lang="en-US" sz="2600" dirty="0"/>
          </a:p>
        </p:txBody>
      </p:sp>
      <p:sp>
        <p:nvSpPr>
          <p:cNvPr id="3" name="Shape 1"/>
          <p:cNvSpPr/>
          <p:nvPr/>
        </p:nvSpPr>
        <p:spPr>
          <a:xfrm>
            <a:off x="457200" y="338328"/>
            <a:ext cx="512064" cy="512064"/>
          </a:xfrm>
          <a:prstGeom prst="ellipse">
            <a:avLst/>
          </a:prstGeom>
          <a:solidFill>
            <a:schemeClr val="accent3"/>
          </a:solidFill>
          <a:ln w="12700">
            <a:solidFill>
              <a:schemeClr val="accent3"/>
            </a:solidFill>
            <a:prstDash val="solid"/>
          </a:ln>
        </p:spPr>
      </p:sp>
      <p:sp>
        <p:nvSpPr>
          <p:cNvPr id="4" name="Text 2"/>
          <p:cNvSpPr txBox="1"/>
          <p:nvPr/>
        </p:nvSpPr>
        <p:spPr>
          <a:xfrm>
            <a:off x="457200" y="338328"/>
            <a:ext cx="512064" cy="512064"/>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5" name="Text 3"/>
          <p:cNvSpPr txBox="1"/>
          <p:nvPr/>
        </p:nvSpPr>
        <p:spPr>
          <a:xfrm>
            <a:off x="457200" y="1143000"/>
            <a:ext cx="4297680" cy="146304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A CNN slides small filters (3 × 3 grids of weights) over the photo. Each output pixel is a dot product between the filter and a patch of the photo, which is pure linear algebra.</a:t>
            </a:r>
            <a:endParaRPr lang="en-US" sz="1300" dirty="0"/>
          </a:p>
        </p:txBody>
      </p:sp>
      <p:sp>
        <p:nvSpPr>
          <p:cNvPr id="6" name="patch-0-0"/>
          <p:cNvSpPr/>
          <p:nvPr/>
        </p:nvSpPr>
        <p:spPr>
          <a:xfrm>
            <a:off x="548640" y="2651760"/>
            <a:ext cx="274320" cy="274320"/>
          </a:xfrm>
          <a:prstGeom prst="rect">
            <a:avLst/>
          </a:prstGeom>
          <a:solidFill>
            <a:srgbClr val="2B2F3F"/>
          </a:solidFill>
          <a:ln w="6350">
            <a:solidFill>
              <a:srgbClr val="FFFFFF"/>
            </a:solidFill>
            <a:prstDash val="solid"/>
          </a:ln>
        </p:spPr>
      </p:sp>
      <p:sp>
        <p:nvSpPr>
          <p:cNvPr id="7" name="patch-0-1"/>
          <p:cNvSpPr/>
          <p:nvPr/>
        </p:nvSpPr>
        <p:spPr>
          <a:xfrm>
            <a:off x="822960" y="2651760"/>
            <a:ext cx="274320" cy="274320"/>
          </a:xfrm>
          <a:prstGeom prst="rect">
            <a:avLst/>
          </a:prstGeom>
          <a:solidFill>
            <a:srgbClr val="6E7590"/>
          </a:solidFill>
          <a:ln w="6350">
            <a:solidFill>
              <a:srgbClr val="FFFFFF"/>
            </a:solidFill>
            <a:prstDash val="solid"/>
          </a:ln>
        </p:spPr>
      </p:sp>
      <p:sp>
        <p:nvSpPr>
          <p:cNvPr id="8" name="patch-0-2"/>
          <p:cNvSpPr/>
          <p:nvPr/>
        </p:nvSpPr>
        <p:spPr>
          <a:xfrm>
            <a:off x="1097280" y="2651760"/>
            <a:ext cx="274320" cy="274320"/>
          </a:xfrm>
          <a:prstGeom prst="rect">
            <a:avLst/>
          </a:prstGeom>
          <a:solidFill>
            <a:srgbClr val="C4C9D9"/>
          </a:solidFill>
          <a:ln w="6350">
            <a:solidFill>
              <a:srgbClr val="FFFFFF"/>
            </a:solidFill>
            <a:prstDash val="solid"/>
          </a:ln>
        </p:spPr>
      </p:sp>
      <p:sp>
        <p:nvSpPr>
          <p:cNvPr id="9" name="patch-1-0"/>
          <p:cNvSpPr/>
          <p:nvPr/>
        </p:nvSpPr>
        <p:spPr>
          <a:xfrm>
            <a:off x="548640" y="2926080"/>
            <a:ext cx="274320" cy="274320"/>
          </a:xfrm>
          <a:prstGeom prst="rect">
            <a:avLst/>
          </a:prstGeom>
          <a:solidFill>
            <a:srgbClr val="4A5068"/>
          </a:solidFill>
          <a:ln w="6350">
            <a:solidFill>
              <a:srgbClr val="FFFFFF"/>
            </a:solidFill>
            <a:prstDash val="solid"/>
          </a:ln>
        </p:spPr>
      </p:sp>
      <p:sp>
        <p:nvSpPr>
          <p:cNvPr id="10" name="patch-1-1"/>
          <p:cNvSpPr/>
          <p:nvPr/>
        </p:nvSpPr>
        <p:spPr>
          <a:xfrm>
            <a:off x="822960" y="2926080"/>
            <a:ext cx="274320" cy="274320"/>
          </a:xfrm>
          <a:prstGeom prst="rect">
            <a:avLst/>
          </a:prstGeom>
          <a:solidFill>
            <a:srgbClr val="9AA0B8"/>
          </a:solidFill>
          <a:ln w="6350">
            <a:solidFill>
              <a:srgbClr val="FFFFFF"/>
            </a:solidFill>
            <a:prstDash val="solid"/>
          </a:ln>
        </p:spPr>
      </p:sp>
      <p:sp>
        <p:nvSpPr>
          <p:cNvPr id="11" name="patch-1-2"/>
          <p:cNvSpPr/>
          <p:nvPr/>
        </p:nvSpPr>
        <p:spPr>
          <a:xfrm>
            <a:off x="1097280" y="2926080"/>
            <a:ext cx="274320" cy="274320"/>
          </a:xfrm>
          <a:prstGeom prst="rect">
            <a:avLst/>
          </a:prstGeom>
          <a:solidFill>
            <a:srgbClr val="2B2F3F"/>
          </a:solidFill>
          <a:ln w="6350">
            <a:solidFill>
              <a:srgbClr val="FFFFFF"/>
            </a:solidFill>
            <a:prstDash val="solid"/>
          </a:ln>
        </p:spPr>
      </p:sp>
      <p:sp>
        <p:nvSpPr>
          <p:cNvPr id="12" name="patch-2-0"/>
          <p:cNvSpPr/>
          <p:nvPr/>
        </p:nvSpPr>
        <p:spPr>
          <a:xfrm>
            <a:off x="548640" y="3200400"/>
            <a:ext cx="274320" cy="274320"/>
          </a:xfrm>
          <a:prstGeom prst="rect">
            <a:avLst/>
          </a:prstGeom>
          <a:solidFill>
            <a:srgbClr val="6E7590"/>
          </a:solidFill>
          <a:ln w="6350">
            <a:solidFill>
              <a:srgbClr val="FFFFFF"/>
            </a:solidFill>
            <a:prstDash val="solid"/>
          </a:ln>
        </p:spPr>
      </p:sp>
      <p:sp>
        <p:nvSpPr>
          <p:cNvPr id="13" name="patch-2-1"/>
          <p:cNvSpPr/>
          <p:nvPr/>
        </p:nvSpPr>
        <p:spPr>
          <a:xfrm>
            <a:off x="822960" y="3200400"/>
            <a:ext cx="274320" cy="274320"/>
          </a:xfrm>
          <a:prstGeom prst="rect">
            <a:avLst/>
          </a:prstGeom>
          <a:solidFill>
            <a:srgbClr val="C4C9D9"/>
          </a:solidFill>
          <a:ln w="6350">
            <a:solidFill>
              <a:srgbClr val="FFFFFF"/>
            </a:solidFill>
            <a:prstDash val="solid"/>
          </a:ln>
        </p:spPr>
      </p:sp>
      <p:sp>
        <p:nvSpPr>
          <p:cNvPr id="14" name="patch-2-2"/>
          <p:cNvSpPr/>
          <p:nvPr/>
        </p:nvSpPr>
        <p:spPr>
          <a:xfrm>
            <a:off x="1097280" y="3200400"/>
            <a:ext cx="274320" cy="274320"/>
          </a:xfrm>
          <a:prstGeom prst="rect">
            <a:avLst/>
          </a:prstGeom>
          <a:solidFill>
            <a:srgbClr val="4A5068"/>
          </a:solidFill>
          <a:ln w="6350">
            <a:solidFill>
              <a:srgbClr val="FFFFFF"/>
            </a:solidFill>
            <a:prstDash val="solid"/>
          </a:ln>
        </p:spPr>
      </p:sp>
      <p:sp>
        <p:nvSpPr>
          <p:cNvPr id="15" name="Text 13"/>
          <p:cNvSpPr txBox="1"/>
          <p:nvPr/>
        </p:nvSpPr>
        <p:spPr>
          <a:xfrm>
            <a:off x="548640" y="3520440"/>
            <a:ext cx="822960" cy="201168"/>
          </a:xfrm>
          <a:prstGeom prst="rect">
            <a:avLst/>
          </a:prstGeom>
          <a:noFill/>
          <a:ln/>
        </p:spPr>
        <p:txBody>
          <a:bodyPr wrap="square" lIns="0" tIns="0" rIns="0" bIns="0" rtlCol="0" anchor="ctr"/>
          <a:lstStyle/>
          <a:p>
            <a:pPr algn="ctr" indent="0" marL="0">
              <a:buNone/>
            </a:pPr>
            <a:r>
              <a:rPr lang="en-US" sz="1000" dirty="0">
                <a:solidFill>
                  <a:srgbClr val="5A6075"/>
                </a:solidFill>
              </a:rPr>
              <a:t>patch</a:t>
            </a:r>
            <a:endParaRPr lang="en-US" sz="1000" dirty="0"/>
          </a:p>
        </p:txBody>
      </p:sp>
      <p:sp>
        <p:nvSpPr>
          <p:cNvPr id="16" name="Text 14"/>
          <p:cNvSpPr txBox="1"/>
          <p:nvPr/>
        </p:nvSpPr>
        <p:spPr>
          <a:xfrm>
            <a:off x="1417320" y="2651760"/>
            <a:ext cx="365760" cy="82296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17" name="filter-0-0"/>
          <p:cNvSpPr/>
          <p:nvPr/>
        </p:nvSpPr>
        <p:spPr>
          <a:xfrm>
            <a:off x="1828800" y="2651760"/>
            <a:ext cx="274320" cy="274320"/>
          </a:xfrm>
          <a:prstGeom prst="rect">
            <a:avLst/>
          </a:prstGeom>
          <a:solidFill>
            <a:srgbClr val="9FCBCF"/>
          </a:solidFill>
          <a:ln w="6350">
            <a:solidFill>
              <a:srgbClr val="FFFFFF"/>
            </a:solidFill>
            <a:prstDash val="solid"/>
          </a:ln>
        </p:spPr>
      </p:sp>
      <p:sp>
        <p:nvSpPr>
          <p:cNvPr id="18" name="filter-0-1"/>
          <p:cNvSpPr/>
          <p:nvPr/>
        </p:nvSpPr>
        <p:spPr>
          <a:xfrm>
            <a:off x="2103120" y="2651760"/>
            <a:ext cx="274320" cy="274320"/>
          </a:xfrm>
          <a:prstGeom prst="rect">
            <a:avLst/>
          </a:prstGeom>
          <a:solidFill>
            <a:srgbClr val="F2F3F7"/>
          </a:solidFill>
          <a:ln w="6350">
            <a:solidFill>
              <a:srgbClr val="FFFFFF"/>
            </a:solidFill>
            <a:prstDash val="solid"/>
          </a:ln>
        </p:spPr>
      </p:sp>
      <p:sp>
        <p:nvSpPr>
          <p:cNvPr id="19" name="filter-0-2"/>
          <p:cNvSpPr/>
          <p:nvPr/>
        </p:nvSpPr>
        <p:spPr>
          <a:xfrm>
            <a:off x="2377440" y="2651760"/>
            <a:ext cx="274320" cy="274320"/>
          </a:xfrm>
          <a:prstGeom prst="rect">
            <a:avLst/>
          </a:prstGeom>
          <a:solidFill>
            <a:srgbClr val="E8833A"/>
          </a:solidFill>
          <a:ln w="6350">
            <a:solidFill>
              <a:srgbClr val="FFFFFF"/>
            </a:solidFill>
            <a:prstDash val="solid"/>
          </a:ln>
        </p:spPr>
      </p:sp>
      <p:sp>
        <p:nvSpPr>
          <p:cNvPr id="20" name="filter-1-0"/>
          <p:cNvSpPr/>
          <p:nvPr/>
        </p:nvSpPr>
        <p:spPr>
          <a:xfrm>
            <a:off x="1828800" y="2926080"/>
            <a:ext cx="274320" cy="274320"/>
          </a:xfrm>
          <a:prstGeom prst="rect">
            <a:avLst/>
          </a:prstGeom>
          <a:solidFill>
            <a:srgbClr val="9FCBCF"/>
          </a:solidFill>
          <a:ln w="6350">
            <a:solidFill>
              <a:srgbClr val="FFFFFF"/>
            </a:solidFill>
            <a:prstDash val="solid"/>
          </a:ln>
        </p:spPr>
      </p:sp>
      <p:sp>
        <p:nvSpPr>
          <p:cNvPr id="21" name="filter-1-1"/>
          <p:cNvSpPr/>
          <p:nvPr/>
        </p:nvSpPr>
        <p:spPr>
          <a:xfrm>
            <a:off x="2103120" y="2926080"/>
            <a:ext cx="274320" cy="274320"/>
          </a:xfrm>
          <a:prstGeom prst="rect">
            <a:avLst/>
          </a:prstGeom>
          <a:solidFill>
            <a:srgbClr val="F2F3F7"/>
          </a:solidFill>
          <a:ln w="6350">
            <a:solidFill>
              <a:srgbClr val="FFFFFF"/>
            </a:solidFill>
            <a:prstDash val="solid"/>
          </a:ln>
        </p:spPr>
      </p:sp>
      <p:sp>
        <p:nvSpPr>
          <p:cNvPr id="22" name="filter-1-2"/>
          <p:cNvSpPr/>
          <p:nvPr/>
        </p:nvSpPr>
        <p:spPr>
          <a:xfrm>
            <a:off x="2377440" y="2926080"/>
            <a:ext cx="274320" cy="274320"/>
          </a:xfrm>
          <a:prstGeom prst="rect">
            <a:avLst/>
          </a:prstGeom>
          <a:solidFill>
            <a:srgbClr val="E8833A"/>
          </a:solidFill>
          <a:ln w="6350">
            <a:solidFill>
              <a:srgbClr val="FFFFFF"/>
            </a:solidFill>
            <a:prstDash val="solid"/>
          </a:ln>
        </p:spPr>
      </p:sp>
      <p:sp>
        <p:nvSpPr>
          <p:cNvPr id="23" name="filter-2-0"/>
          <p:cNvSpPr/>
          <p:nvPr/>
        </p:nvSpPr>
        <p:spPr>
          <a:xfrm>
            <a:off x="1828800" y="3200400"/>
            <a:ext cx="274320" cy="274320"/>
          </a:xfrm>
          <a:prstGeom prst="rect">
            <a:avLst/>
          </a:prstGeom>
          <a:solidFill>
            <a:srgbClr val="9FCBCF"/>
          </a:solidFill>
          <a:ln w="6350">
            <a:solidFill>
              <a:srgbClr val="FFFFFF"/>
            </a:solidFill>
            <a:prstDash val="solid"/>
          </a:ln>
        </p:spPr>
      </p:sp>
      <p:sp>
        <p:nvSpPr>
          <p:cNvPr id="24" name="filter-2-1"/>
          <p:cNvSpPr/>
          <p:nvPr/>
        </p:nvSpPr>
        <p:spPr>
          <a:xfrm>
            <a:off x="2103120" y="3200400"/>
            <a:ext cx="274320" cy="274320"/>
          </a:xfrm>
          <a:prstGeom prst="rect">
            <a:avLst/>
          </a:prstGeom>
          <a:solidFill>
            <a:srgbClr val="F2F3F7"/>
          </a:solidFill>
          <a:ln w="6350">
            <a:solidFill>
              <a:srgbClr val="FFFFFF"/>
            </a:solidFill>
            <a:prstDash val="solid"/>
          </a:ln>
        </p:spPr>
      </p:sp>
      <p:sp>
        <p:nvSpPr>
          <p:cNvPr id="25" name="filter-2-2"/>
          <p:cNvSpPr/>
          <p:nvPr/>
        </p:nvSpPr>
        <p:spPr>
          <a:xfrm>
            <a:off x="2377440" y="3200400"/>
            <a:ext cx="274320" cy="274320"/>
          </a:xfrm>
          <a:prstGeom prst="rect">
            <a:avLst/>
          </a:prstGeom>
          <a:solidFill>
            <a:srgbClr val="E8833A"/>
          </a:solidFill>
          <a:ln w="6350">
            <a:solidFill>
              <a:srgbClr val="FFFFFF"/>
            </a:solidFill>
            <a:prstDash val="solid"/>
          </a:ln>
        </p:spPr>
      </p:sp>
      <p:sp>
        <p:nvSpPr>
          <p:cNvPr id="26" name="Text 24"/>
          <p:cNvSpPr txBox="1"/>
          <p:nvPr/>
        </p:nvSpPr>
        <p:spPr>
          <a:xfrm>
            <a:off x="1828800" y="3520440"/>
            <a:ext cx="822960" cy="201168"/>
          </a:xfrm>
          <a:prstGeom prst="rect">
            <a:avLst/>
          </a:prstGeom>
          <a:noFill/>
          <a:ln/>
        </p:spPr>
        <p:txBody>
          <a:bodyPr wrap="square" lIns="0" tIns="0" rIns="0" bIns="0" rtlCol="0" anchor="ctr"/>
          <a:lstStyle/>
          <a:p>
            <a:pPr algn="ctr" indent="0" marL="0">
              <a:buNone/>
            </a:pPr>
            <a:r>
              <a:rPr lang="en-US" sz="1000" dirty="0">
                <a:solidFill>
                  <a:srgbClr val="5A6075"/>
                </a:solidFill>
              </a:rPr>
              <a:t>filter</a:t>
            </a:r>
            <a:endParaRPr lang="en-US" sz="1000" dirty="0"/>
          </a:p>
        </p:txBody>
      </p:sp>
      <p:sp>
        <p:nvSpPr>
          <p:cNvPr id="27" name="Text 25"/>
          <p:cNvSpPr txBox="1"/>
          <p:nvPr/>
        </p:nvSpPr>
        <p:spPr>
          <a:xfrm>
            <a:off x="2697480" y="2651760"/>
            <a:ext cx="365760" cy="82296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28" name="Shape 26"/>
          <p:cNvSpPr/>
          <p:nvPr/>
        </p:nvSpPr>
        <p:spPr>
          <a:xfrm>
            <a:off x="3154680" y="2926080"/>
            <a:ext cx="274320" cy="274320"/>
          </a:xfrm>
          <a:prstGeom prst="rect">
            <a:avLst/>
          </a:prstGeom>
          <a:solidFill>
            <a:schemeClr val="tx2"/>
          </a:solidFill>
          <a:ln w="12700">
            <a:solidFill>
              <a:schemeClr val="tx2"/>
            </a:solidFill>
            <a:prstDash val="solid"/>
          </a:ln>
        </p:spPr>
      </p:sp>
      <p:sp>
        <p:nvSpPr>
          <p:cNvPr id="29" name="Text 27"/>
          <p:cNvSpPr txBox="1"/>
          <p:nvPr/>
        </p:nvSpPr>
        <p:spPr>
          <a:xfrm>
            <a:off x="2880360" y="3520440"/>
            <a:ext cx="914400" cy="201168"/>
          </a:xfrm>
          <a:prstGeom prst="rect">
            <a:avLst/>
          </a:prstGeom>
          <a:noFill/>
          <a:ln/>
        </p:spPr>
        <p:txBody>
          <a:bodyPr wrap="square" lIns="0" tIns="0" rIns="0" bIns="0" rtlCol="0" anchor="ctr"/>
          <a:lstStyle/>
          <a:p>
            <a:pPr algn="ctr" indent="0" marL="0">
              <a:buNone/>
            </a:pPr>
            <a:r>
              <a:rPr lang="en-US" sz="1000" dirty="0">
                <a:solidFill>
                  <a:srgbClr val="5A6075"/>
                </a:solidFill>
              </a:rPr>
              <a:t>1 output pixel</a:t>
            </a:r>
            <a:endParaRPr lang="en-US" sz="1000" dirty="0"/>
          </a:p>
        </p:txBody>
      </p:sp>
      <p:sp>
        <p:nvSpPr>
          <p:cNvPr id="30" name="Formula"/>
          <p:cNvSpPr/>
          <p:nvPr/>
        </p:nvSpPr>
        <p:spPr>
          <a:xfrm>
            <a:off x="457200" y="3840480"/>
            <a:ext cx="4297680" cy="868680"/>
          </a:xfrm>
          <a:prstGeom prst="roundRect">
            <a:avLst>
              <a:gd name="adj" fmla="val 10526"/>
            </a:avLst>
          </a:prstGeom>
          <a:solidFill>
            <a:schemeClr val="accent5"/>
          </a:solidFill>
          <a:ln w="12700">
            <a:solidFill>
              <a:schemeClr val="accent5"/>
            </a:solidFill>
            <a:prstDash val="solid"/>
          </a:ln>
          <a:effectLst>
            <a:outerShdw sx="100000" sy="100000" kx="0" ky="0" algn="bl" rotWithShape="0" blurRad="76200" dist="25400" dir="5400000">
              <a:srgbClr val="8A90A6">
                <a:alpha val="25000"/>
              </a:srgbClr>
            </a:outerShdw>
          </a:effectLst>
        </p:spPr>
      </p:sp>
      <p:sp>
        <p:nvSpPr>
          <p:cNvPr id="31" name="Text 29"/>
          <p:cNvSpPr txBox="1"/>
          <p:nvPr/>
        </p:nvSpPr>
        <p:spPr>
          <a:xfrm>
            <a:off x="640080" y="3950208"/>
            <a:ext cx="393192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FORMULA</a:t>
            </a:r>
            <a:endParaRPr lang="en-US" sz="1000" dirty="0"/>
          </a:p>
        </p:txBody>
      </p:sp>
      <p:sp>
        <p:nvSpPr>
          <p:cNvPr id="32" name="Text 30"/>
          <p:cNvSpPr txBox="1"/>
          <p:nvPr/>
        </p:nvSpPr>
        <p:spPr>
          <a:xfrm>
            <a:off x="640080" y="4251960"/>
            <a:ext cx="3931920" cy="365760"/>
          </a:xfrm>
          <a:prstGeom prst="rect">
            <a:avLst/>
          </a:prstGeom>
          <a:noFill/>
          <a:ln/>
        </p:spPr>
        <p:txBody>
          <a:bodyPr wrap="square" lIns="0" tIns="0" rIns="0" bIns="0" rtlCol="0" anchor="t"/>
          <a:lstStyle/>
          <a:p>
            <a:pPr indent="0" marL="0">
              <a:spcAft>
                <a:spcPts val="400"/>
              </a:spcAft>
              <a:buNone/>
            </a:pPr>
            <a:r>
              <a:rPr lang="en-US" sz="1400" dirty="0">
                <a:solidFill>
                  <a:schemeClr val="tx2"/>
                </a:solidFill>
                <a:latin typeface="Cambria" pitchFamily="34" charset="0"/>
                <a:ea typeface="Cambria" pitchFamily="34" charset="-122"/>
                <a:cs typeface="Cambria" pitchFamily="34" charset="-120"/>
              </a:rPr>
              <a:t>y(i, j) = Σ K(p, q) · x(i+p, j+q)</a:t>
            </a:r>
            <a:endParaRPr lang="en-US" sz="1400" dirty="0"/>
          </a:p>
        </p:txBody>
      </p:sp>
      <p:sp>
        <p:nvSpPr>
          <p:cNvPr id="33" name="Not linear algebra"/>
          <p:cNvSpPr/>
          <p:nvPr/>
        </p:nvSpPr>
        <p:spPr>
          <a:xfrm>
            <a:off x="5029200" y="1143000"/>
            <a:ext cx="3657600" cy="1737360"/>
          </a:xfrm>
          <a:prstGeom prst="roundRect">
            <a:avLst>
              <a:gd name="adj" fmla="val 5263"/>
            </a:avLst>
          </a:prstGeom>
          <a:solidFill>
            <a:schemeClr val="bg2"/>
          </a:solidFill>
          <a:ln w="12700">
            <a:solidFill>
              <a:schemeClr val="bg2"/>
            </a:solidFill>
            <a:prstDash val="solid"/>
          </a:ln>
          <a:effectLst>
            <a:outerShdw sx="100000" sy="100000" kx="0" ky="0" algn="bl" rotWithShape="0" blurRad="76200" dist="25400" dir="5400000">
              <a:srgbClr val="8A90A6">
                <a:alpha val="25000"/>
              </a:srgbClr>
            </a:outerShdw>
          </a:effectLst>
        </p:spPr>
      </p:sp>
      <p:sp>
        <p:nvSpPr>
          <p:cNvPr id="34" name="Text 32"/>
          <p:cNvSpPr txBox="1"/>
          <p:nvPr/>
        </p:nvSpPr>
        <p:spPr>
          <a:xfrm>
            <a:off x="5212080" y="1252728"/>
            <a:ext cx="3291840" cy="256032"/>
          </a:xfrm>
          <a:prstGeom prst="rect">
            <a:avLst/>
          </a:prstGeom>
          <a:noFill/>
          <a:ln/>
        </p:spPr>
        <p:txBody>
          <a:bodyPr wrap="square" lIns="0" tIns="0" rIns="0" bIns="0" rtlCol="0" anchor="ctr"/>
          <a:lstStyle/>
          <a:p>
            <a:pPr indent="0" marL="0">
              <a:buNone/>
            </a:pPr>
            <a:r>
              <a:rPr lang="en-US" sz="1000" b="1" spc="200" kern="0" dirty="0">
                <a:solidFill>
                  <a:schemeClr val="accent3"/>
                </a:solidFill>
              </a:rPr>
              <a:t>NOT LINEAR ALGEBRA</a:t>
            </a:r>
            <a:endParaRPr lang="en-US" sz="1000" dirty="0"/>
          </a:p>
        </p:txBody>
      </p:sp>
      <p:sp>
        <p:nvSpPr>
          <p:cNvPr id="35" name="Text 33"/>
          <p:cNvSpPr txBox="1"/>
          <p:nvPr/>
        </p:nvSpPr>
        <p:spPr>
          <a:xfrm>
            <a:off x="5212080" y="1554480"/>
            <a:ext cx="3291840" cy="123444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ReLU, f(x) = max(0, x), makes the network non-linear. Training uses gradient descent, which comes from calculus. Keep these to one line in the viva.</a:t>
            </a:r>
            <a:endParaRPr lang="en-US" sz="1250" dirty="0"/>
          </a:p>
        </p:txBody>
      </p:sp>
      <p:sp>
        <p:nvSpPr>
          <p:cNvPr id="36" name="In our project"/>
          <p:cNvSpPr/>
          <p:nvPr/>
        </p:nvSpPr>
        <p:spPr>
          <a:xfrm>
            <a:off x="5029200" y="3017520"/>
            <a:ext cx="3657600" cy="1691640"/>
          </a:xfrm>
          <a:prstGeom prst="roundRect">
            <a:avLst>
              <a:gd name="adj" fmla="val 5405"/>
            </a:avLst>
          </a:prstGeom>
          <a:solidFill>
            <a:schemeClr val="accent6"/>
          </a:solidFill>
          <a:ln w="12700">
            <a:solidFill>
              <a:schemeClr val="accent6"/>
            </a:solidFill>
            <a:prstDash val="solid"/>
          </a:ln>
          <a:effectLst>
            <a:outerShdw sx="100000" sy="100000" kx="0" ky="0" algn="bl" rotWithShape="0" blurRad="76200" dist="25400" dir="5400000">
              <a:srgbClr val="8A90A6">
                <a:alpha val="25000"/>
              </a:srgbClr>
            </a:outerShdw>
          </a:effectLst>
        </p:spPr>
      </p:sp>
      <p:sp>
        <p:nvSpPr>
          <p:cNvPr id="37" name="Text 35"/>
          <p:cNvSpPr txBox="1"/>
          <p:nvPr/>
        </p:nvSpPr>
        <p:spPr>
          <a:xfrm>
            <a:off x="5212080" y="3127248"/>
            <a:ext cx="329184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IN OUR PROJECT</a:t>
            </a:r>
            <a:endParaRPr lang="en-US" sz="1000" dirty="0"/>
          </a:p>
        </p:txBody>
      </p:sp>
      <p:sp>
        <p:nvSpPr>
          <p:cNvPr id="38" name="Text 36"/>
          <p:cNvSpPr txBox="1"/>
          <p:nvPr/>
        </p:nvSpPr>
        <p:spPr>
          <a:xfrm>
            <a:off x="5212080" y="3429000"/>
            <a:ext cx="3291840" cy="118872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The CNN is only a comparison at the end. The linear algebra (eigenfaces, projection, least squares) is the main work, and the results table compares all three methods.</a:t>
            </a:r>
            <a:endParaRPr lang="en-US" sz="12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0A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Eigenfaces Math">
  <a:themeElements>
    <a:clrScheme name="Eigenfaces Math">
      <a:dk1>
        <a:srgbClr val="1A1C2B"/>
      </a:dk1>
      <a:lt1>
        <a:srgbClr val="FFFFFF"/>
      </a:lt1>
      <a:dk2>
        <a:srgbClr val="1D2340"/>
      </a:dk2>
      <a:lt2>
        <a:srgbClr val="EEF1F7"/>
      </a:lt2>
      <a:accent1>
        <a:srgbClr val="E8833A"/>
      </a:accent1>
      <a:accent2>
        <a:srgbClr val="2F7F86"/>
      </a:accent2>
      <a:accent3>
        <a:srgbClr val="7A5195"/>
      </a:accent3>
      <a:accent4>
        <a:srgbClr val="C9D1E3"/>
      </a:accent4>
      <a:accent5>
        <a:srgbClr val="FCEBDD"/>
      </a:accent5>
      <a:accent6>
        <a:srgbClr val="DCEFF0"/>
      </a:accent6>
      <a:hlink>
        <a:srgbClr val="2F7F86"/>
      </a:hlink>
      <a:folHlink>
        <a:srgbClr val="7A5195"/>
      </a:folHlink>
    </a:clrScheme>
    <a:fontScheme name="Eigenfaces Mat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Math Behind Our Project</dc:title>
  <dc:subject>PptxGenJS Presentation</dc:subject>
  <dc:creator>PptxGenJS</dc:creator>
  <cp:lastModifiedBy>PptxGenJS</cp:lastModifiedBy>
  <cp:revision>1</cp:revision>
  <dcterms:created xsi:type="dcterms:W3CDTF">2026-10-02T11:21:02Z</dcterms:created>
  <dcterms:modified xsi:type="dcterms:W3CDTF">2026-10-02T11:21:02Z</dcterms:modified>
</cp:coreProperties>
</file>